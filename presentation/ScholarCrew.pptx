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090841c-199b-1c00-70cc-fd9ba6667f7d}">
          <p14:sldIdLst>
            <p14:sldId id="256"/>
            <p14:sldId id="261"/>
            <p14:sldId id="262"/>
            <p14:sldId id="263"/>
            <p14:sldId id="264"/>
            <p14:sldId id="265"/>
          </p14:sldIdLst>
        </p14:section>
        <p14:section name="Our story" id="{6d5f5d1a-7fb3-aa06-8c5a-11a2e365e6fb}">
          <p14:sldIdLst>
            <p14:sldId id="257"/>
            <p14:sldId id="258"/>
            <p14:sldId id="259"/>
            <p14:sldId id="260"/>
          </p14:sldIdLst>
        </p14:section>
        <p14:section name="Introduction" id="{ddc87199-39d5-1b6b-dffc-67a279245962}">
          <p14:sldIdLst/>
        </p14:section>
        <p14:section name="Workflows" id="{cf51eaa7-ab4b-17be-5bad-48e80564b894}">
          <p14:sldIdLst>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Trust and safety" id="{e63d08b7-8ce4-da76-ffd0-65e5c3580d5d}">
          <p14:sldIdLst>
            <p14:sldId id="288"/>
            <p14:sldId id="289"/>
            <p14:sldId id="290"/>
            <p14:sldId id="291"/>
            <p14:sldId id="292"/>
          </p14:sldIdLst>
        </p14:section>
        <p14:section name="Proof and plans" id="{181ad550-3c5b-3e82-c528-293bc1866799}">
          <p14:sldIdLst>
            <p14:sldId id="293"/>
            <p14:sldId id="294"/>
            <p14:sldId id="295"/>
            <p14:sldId id="296"/>
            <p14:sldId id="297"/>
            <p14:sldId id="298"/>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story, then show the product. ScholarCrew is a website where a high school student gets a crew of AI specialists that turns 'I want to go to college without drowning in debt' into one weekly plan, and lets their family follow along. This walkthrough starts with why we're building it, then covers how the AI crew works, every workflow with live screenshots, the safety and privacy guardrails, our promise to first-generation and low-income students, and what's left before launch. Every screenshot comes from the running app with fictional sample data: Jordan R., a junior at Maple High School in Maple County, Texas, and Dana, their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part in your own words; the slides only hold the main lines. Who you are, when you came, and what that first stretch here was like. Keep it short and real: the rest of the deck is the product, and this is the reason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story. Many students in immigrant families are the first in their family to go through the U.S. college process. Their parents care deeply, but the system is new to them, often in a new language, and the student ends up figuring it out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words matters, and every one has a deadline or a dollar amount attached. A family that has done this before knows which ones to worry about. A family doing it for the first time has to learn all of them at once, usually through the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from the story to the product. ScholarCrew gives every student the kind of guidance families who've done this before take for granted: what to do this week, which scholarships fit, what each school will really cost, and how to fill out the aid forms, with their family able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people we're building for are high school juniors and seniors at schools where one counselor covers hundreds of students, aiming at public and regional universities where merit aid, state grants and local scholarships actually change the price. Middle-income families, too much for Pell and not enough for sticker price, are the likely payers. Low-income and first-generation students get sponsored seats through schools, nonprofits and community foundations. The work is spread across dozens of sites and forms, and the most expensive mistakes are quiet ones: a missed priority date, an essay that never got written, or an award letter that counted a loan as 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come straight from the product vision. Every screen answers at least one of them, and the weekly plan answers all four at once. The gap, meaning cost to attend minus grants and scholarships, is the number the whole crew works to shrink: new scholarships, better essays, the right school, and a successful appeal all show up as a smaller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specialist has its own system prompt built on shared product rules, its own read-only tools, and a data scope. Specialists can't call each other; only Compass consults them, at most four times per request. Ledger is both a specialist and a set of calculator tools, so money answers always come from code. Prep and Impact are optional: a student switches them on from the Crew page, and the sidebar for both the student and their parent shows which ones are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student sends a message, the web app saves it and queues a crew.request job; the page follows the job over server-sent events and shows progress: queued, working, ready. A keyword crisis check runs before anything else and returns a reviewed reply with 988 Lifeline information without calling a model. Compass gets a snapshot of the student's profile and the last 10 messages, wrapped as untrusted data, and may make at most four model calls and four specialist consults within 120 seconds. Numbers come from calculator tools, each with an ID the receipt must cite. Before the reply is saved, guards check that every receipt item is something the run actually saw, that family replies use only shared categories, and that Quill didn't write essay prose. Writes only happen when the student clicks an action card, and applying the same card twice has no extra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split is the core design decision. Anything that must be exactly right, like money math, eligibility, word limits, permissions and deadlines, is plain code that the models call as tools. The models do what they're good at: coordinating, explaining, asking good questions, and reading messy documents. Every model call uses claude-opus-5-5 with server-side fallbacks, an explicit effort level per route, and a cached system prompt. Every call is recorded with its tokens, cache reads, stop reason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sixteen slides walk through the product screen by screen, starting the way a new student does. Each slide shows a live screenshot, the problem, how the AI is used (and where it deliberately isn't), why it matters to a family, and the full feature list for that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student signs in with a one-time email link, no password. Onboarding has five steps: about you (birth year, class year, school, county), grades and interests, matching opt-ins, starter uploads (transcript, past essays, resume, encrypted at rest), and colleges and family (up to 15 starter colleges and an optional parent invite). The opt-in step covers first-generation status, income range, heritage, disability, religion, military family, foster care, and a non-citizen filter. All start off, and the side panel explains they're used only by the matcher, never sent to AI, never shown to family or helpers, and encrypted. Anyone under 13 is stopped at step 1 with a plain explanation. When the student finishes, the This Week screen shows 'your crew is working' until the first sweep and plan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answers all four weekly questions on one screen. The top card is the highest-priority open task with who contributed, minutes, value and due date. The plan lists the week's open and done tasks; checking one marks it done and moves it to the bottom. The gap card shows the year-1 gap for the student's top school, what open applications could cut it to, and the effect of a shared family budget, all computed by Ledger. Coming up shows the next four deadlines across scholarships, applications and aid, with a warning badge inside 14 days. Scout's card summarizes the Sunday sweep: new matches, total value, how many reuse stories, and how many were hidden as scams. 'Plan my week' asks Compass for a fresh plan; it never duplicates a task the student already added from a crew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 have 2 hours this weekend.' Compass consults Atlas (an unstarted Early Action supplement), Scout (matches due within three weeks), and Quill (two prompts that fit a story already drafted), then returns a two-hour plan with an 'Add both to my weekend' card. Each reply names its contributors, gives one answer, and asks at most one question. Context rooms bind a conversation to a scholarship, college or essay so the crew sees that object first. Temporary chats load no memory, save nothing, and are deleted after 24 hours. A model refusal becomes a polite 'I can't help with that one' reply. The Free plan includes 20 crew requests a month and paid plans 300; at the limit, every manual feature keeps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has Matched, Working on, Submitted and Won columns, with Lost and Skipped as filters. The eligibility matcher compares profile facts, enabled sensitive facts, and the citizenship filter against each listing's rules and writes human-readable reasons. Matches using private details show only to the student, never in the family room. The scam shield flags listings with fees, guarantees, bank or card requests, or sweepstakes patterns; they stay visible with the reason but never enter the plan. Students can submit a local scholarship by URL; it stays private and labeled unverified until an admin publishes it. Marking an award Won records the amount and renewability, updates Ledger's gap, and adds a thank-you-note task. Renewable awards get yearly renewal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page shows amount and renewability, deadline and days left, estimated time, stage, what to send, each essay prompt with its word limit, and a two-column table: what the listing says and what's true for you. A badge confirms when the student meets every rule the code can check; custom rules say 'only you know this'. The source card links the page the listing was verified against and explains the four labels: Verified matches its source as of the date shown; Stale means it changed or is more than 30 days old and is being re-checked; Unverified means not reviewed yet; Flagged means fee or scam signs. Anyone can report a wrong deadline, dead link, wrong amount, or scam, which creates an admin task. 'Start essay' creates an essay already linked to this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Essay Studio puts the prompt, requirements and verified date on the left, the student's draft in the middle, and Quill's comments on the right. Every save creates a version with the author and word count, and only the student's own saves create versions. Limits warn at 90 percent and over 100 percent. A Quill review runs as a background job at high effort and returns one to five comments; each must quote the student's text exactly, be a question or observation, and be 60 words or fewer. The integrity guard measures the longest run of words that don't appear in the student's own writing. Anything over 25 words gets one corrective turn, then is dropped and logged without the essay text. The story match card suggests the best story from the Story Bank for this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story is one moment the student lived, written in their own words, with themes, evidence and an optional one-line summary. The Story Bank shows where each story has already been used. For a new prompt, Quill suggests up to three stories with reasons and prior uses. To capture a new story, the student can start a story interview: Quill asks up to five questions in chat, and the student's answers, not Quill's text, become the story's moment. Students can paste a past essay so Quill asks better questions; it isn't saved as a story. Linking a story to an essay records the use, and the app warns before the same story goes to the same school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college list holds up to 25 schools from a catalog seeded with College Scorecard data, each with a fit (reach, target, likely) and plan (Early Decision, Early Action, Restrictive Early Action, Regular, Rolling). Each listed college gets application items from the catalog's requirements: form, transcript, recommendations, supplements, tests, fee or waiver. The table shows deadline, checklist progress, test policy, yearly gap, and the outside-scholarship policy: added on top, reduces loans first, may lower the school's grant, or unconfirmed. The side panel shows the next-deadline school's checklist, money and testing at a glance. Each school's page adds merit tiers with whether the student qualifies, recommender tracking with scoped brag-sheet links, and a crew room bound to that college.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listed college, Ledger estimates year-1 net price from College Scorecard net price for the student's income range, or the overall average when no range is shared, and labels it as an estimate. When the student runs a school's own net price calculator, they enter the result and it replaces the estimate, labeled with its source. The gap is cost to attend minus free money, including any outside scholarships the student has won. Each card shows what pending applications are worth and what the gap would be if they come through, and, when a parent shares a yearly budget, what's left after it. The same page holds the FAFSA and CSS Profile checklists.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March the student uploads each award letter as a PDF. An offer.parse job has Aid extract every line with its category, amount, renewability, page number and the exact text it came from, at high effort; code drops zero-dollar lines. The student confirms or corrects each line's category before the offer counts. Ledger's comparison separates free money from work-study and loans and shows the difference between what the letter says you owe and what really costs you, for year 1 and over four years. Warnings flag things like a $4,000 grant that's year 1 only. Every number links back to its page. Ledger estimates monthly payments for federal loans on a 10-year plan at the stored rate. 'Draft an appeal outline' gives points, documents to gather, and who to contact; the student writes the letter. In this example State U costs least over four years even though Northgate's aid package is the largest.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FAFSA checklist covers the current award year: creating a StudentAid.gov account, adding contributors, consent to share federal tax information, submission, reviewing the Submission Summary, and the school list. Parent steps appear as family tasks assigned to that parent. The CSS Profile checklist shows only when a listed college requires it, with that college's priority date. State grant deadlines for the student's state come from aid rules maintained by admins. 'Family finances changed?' explains how to request a professional judgment review and what to gather. 'Selected for verification?' lists the usual documents. Product rule: nothing is ever submitted for the student, and the crew never asks for an FSA ID or any other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record official and practice ACT, SAT and PSAT scores with sections and dates. Superscores are computed per test from official sections only; practice tests never count. 'Is a retake worth it?' takes a target score and runs a retake analysis job: code checks each listed college's automatic merit tiers and computes the four-year dollar difference the target would unlock. Prep then explains those numbers in 120 words or fewer with up to three study-session cards. If any dollar figure doesn't match the analysis, Prep gets one corrective turn and then a template is used instead. The study plan proposes short weekly sessions until the next test date, and accepting adds them to the weekly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log hours with organization, date, activity, supervisor and a short reflection. Asking a supervisor to confirm sends an email link that expires in 14 days; the supervisor confirms or declines without an account and can leave a note. Scholarships that require service hours show confirmed and total hours against the requirement, like 40 hours for the Lone Star Credit Union Award. The activities list holds up to 10 activities with role, organization, hours per week, weeks per year, grades, and a description counted exactly to 150 characters, including emoji. A reflection can start a Story Bank draft the student edits and saves. Impact's service ideas never claim an external listing is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fact shows its value, source, date, and visibility: crew, crew and family, Scout only (used for matching only), or private. Editing supersedes the old fact; forgetting deletes it and anything derived from it. Facts the crew infers are saved as candidates: 'Remember possible major: nursing?' with Remember and No buttons. Candidates are never used as facts and expire after 30 days. The decisions log records choices the student made in chat, like 'Skip Early Decision at Northgate', so the crew doesn't re-argue them. Sensitive opt-ins are encrypted with AES-256-GCM and read only by the matcher and the cost estimate. Start fresh offers a new chat, a temporary chat, a new season that archives admissions and keeps stories and essays, and account deletion. Export produces JSON and Markdown within about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invites a parent by email; the link works once and expires in 7 days, and a family has one student and up to four parents. Sharing has nine categories: deadlines, colleges, costs, scholarships, activities, essays, chats, stories, and sensitive match reasons. The first five are on by default, and turning one off hides it on the parent's next request. A parent's own facts, like exact income and tax documents, stay in their private space. A parent can share an income range to the student's matching, but it arrives switched off until the student turns it on, and it never overwrites the student's own value. The family room is a shared crew chat that answers 'using shared numbers only'. FAFSA and CSS contributor steps and budget input appear as tasks assigned to a person. A member can leave, and a student can remove a parent; access ends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Family page or a college's recommender section, a student creates a read-only link for a recommender, counselor or mentor. They choose categories from deadlines, colleges, activities, stories and scholarships; essays, chats, costs and sensitive facts are never available to helpers. A recommender link shows the student's activities in their own words, the titles and summaries of non-archived stories, and the request: Jordan's note to Ms. Patel and when the letter would help, taken from the earliest related deadline. A counselor link shows deadlines, the college list and application item status. Links expire within 90 days, revoking makes them return 404 immediately, and every use is recorded in the audit log. Supervisors confirm service hours through the same kind of no-account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that shouldn't block a page runs as a pg-boss job in Postgres. The web app only sends jobs; the worker runs the handlers and cron schedules. Sunday at 14:00 UTC, the sweep fans out one job per active student. Every hour, reminders go out 7, 3 and 1 day before deadlines the student is working on, deduplicated per item and offset, and the digest goes to students whose chosen day and hour match their time zone. Every night, listings verified more than 30 days ago, or with a deadline within 45 days, are re-fetched through the Batch API; changed content creates a review task and marks the listing stale. Job payloads carry IDs only, so essay text, sensitive facts and documents never sit in the job table. Notifications never include sensitive facts or essay text, and quiet hours hold texts until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live on their phones, so the whole app is responsive. At phone width the sidebar becomes a bottom tab bar with This week, Crew, Scholarships, Essays and a More menu for everything else, and the top bar shrinks to search and notifications. Every page was checked at 320, 390, 768 and 1024 pixels wide for sideways scrolling and clipped content. Tables scroll inside their own regions, and long chips and badges wrap.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Signed-out visitors get real value. The landing page explains the crew, the trust rules and test pricing. The scholarship directory has server-rendered pages per state and per scholarship, each showing when it was verified, with filters for deadline, amount and renewability; listings that charge a fee or look like scams never appear. The public offer tool lets anyone type award-letter lines and see year-1 and four-year cost with warnings like 'year 1 only'. It stores nothing and uses no AI. Sign-in uses a one-time email link and accounts require age 13 or 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is shared, non-personal data, and its rule is 'no fact without a source'. Research runs a model loop with web search and web fetch, limited to allowed domains, and looks for local foundations, civic clubs, credit unions, employers and school districts while skipping sweepstakes and paid matching services. Each candidate page is fetched safely (public hosts only, 2 MB cap) and extracted at low effort into a structured draft where every filled field needs the exact sentence that supports it. Verification rules then check that quotes appear on the page, deadlines aren't past, amounts are sane, and no scam rules match. Admins compare fields with quotes in the review queue and publish or reject. Student submissions and reports land in the same queue, and report titles name the listing. Admins also import College Scorecard data, maintain loan rates and aid deadlines, and search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Chrome extension detects standard form fields on a scholarship application, proposes values from the student's profile and activities, and fills only what the student approves. It skips parent fields, essay prompts and disabled fields, preserves anything edited since the review opened, and never submits. It can also save the current page to Scout as a local scholarship. Settings covers notification preferences, plan and crew-request usage, browser connections, documents, export and account deletion. Deleting an account signs out every device and hides data immediately, with permanent deletion within 7 days. Billing runs through Stripe Checkout and the customer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Families are trusting the product with a teenager's data, essays and money decisions. This section explains exactly where the models are involved, the code that decides everything that has to be exact, and the checks that run on every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product rule 4, 'money math is code', generalized. When the crew mentions a number, it comes from a calculator tool call with an ID that the receipt must cite, and the sources guard rejects receipts that point at anything the run didn't actually see. Sensitive facts never reach a model at all: the matcher and the income-based cost estimate are the only readers. Models only get read-only tools, so even a successful prompt injection inside a scholarship page or a PDF can't change data. Every write goes through an action card the student clicks.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crisis check runs on the student's message before rate limits or model calls, and avoids hyperbole like 'this essay is killing me'. The integrity guard compares Quill's text against the student's own stories and drafts using word trigrams. The sources guard requires catalog items to copy the exact source URL and verified date. When a guard fails, the model gets one corrective turn; anything still failing is stripped and the reply is marked partial. Every model call has explicit effort, a cached system prompt, server-side fallbacks, a 120-second timeout and one retry. Refusals are handled before content is read. A scripted evaluation suite checks for ghostwriting, missing sources, cross-family leakage and wrong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rules come from the feature spec, and every feature inherits them. They're also the core of the trust message on the landing page: we never sell your data, we take no lender referral fees, we run no sweepstakes, and your essays are yours. Each rule maps to concrete code: the integrity guard, the absence of any submit path, the sources guard and verified dates, calculator tools, encrypted sensitive facts read only by the matcher, per-category share grants checked by every service, and the age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service function takes an actor and checks ownership or a share grant before reading or writing, and isolation tests verify that one student can't reach another's essays, documents, offers, jobs, conversations, action cards or helper links. Every cookie-authenticated change checks the Origin header. Sessions are httpOnly, Secure and SameSite=Lax cookies. Sign-in links work once and expire in 15 minutes. Helper and invite links are never sent to other sites because of a same-origin referrer policy. Exports expire after 24 hours, and magic links are purged after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section covers why families will use it, how it's priced, how it was tested, and what's left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is weekly active students who submit at least one matched application on time with their own writing. The lagging outcome is verified aid won per student, from award letters and the Won outcomes students record. The product is designed so every saved hour and every dollar can be traced back: matches ranked by value per hour, story reuse, offer comparisons that catch year-1-only grants, and appeals that start from the actual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parent's view, shown with the sample parent Dana. A parent doesn't need to learn the whole process: the FAFSA and CSS Profile contributor steps show up as their own tasks, they can share an income range without sharing documents, and the family room lets them ask the crew questions using only what the student shared. For a parent like my mom, that's the difference between watching from the side and being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commitment, not a discount code: first-generation and low-income students get everything in the Family plan for free. Everyone else can start free, and families who can pay choose the Family plan or the Season pass. Sponsor codes already in the product let schools, nonprofits, and community foundations help cover the cost. Paying never grants access to anyone's private data. How students qualify is still being designed; see the next steps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monorepo has a Next.js web app, a background worker, a Chrome Manifest V3 extension and shared TypeScript packages for the domain, database, engines, jobs, core services, agents and catalog. Verification covered unit and integration tests against a real Postgres database, Playwright browser flows including security isolation and CSRF checks, a production audit mode, and scripted model evaluations. For this walkthrough every screen was compared with the 19 design mockups and exercised live in 49 flows, and every page was checked at four widths.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the crew runs on a scripted model so development and CI need no API key and cost nothing. The real safety evaluations, covering ghostwriting, sources, cross-family leakage and math, need an Anthropic key and are the first release gate. Payments, email and SMS adapters are built and tested with fakes and need their provider accounts. No production deployment has been done yet; streaming must be checked behind the production proxy, and autofill on account-gated application portals needs a live check. Free access for first-generation and low-income students needs a way to qualify. It shouldn't reuse the matching opt-ins, because those sensitive facts are read only by the matcher and the cost estimate; a sponsor code or a separate, simple self-declaration would keep that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coming back to the story: this started with my mom and me, and it's for every family like ours. The product is ready to try locally with the seeded accounts for Jordan, Dana and the admin. The next steps are the live safety evaluations, provider setup for payments, email and texts, and a production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tory-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torySplit-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685800"/>
            <a:ext cx="10972800" cy="590520"/>
          </a:xfrm>
          <a:prstGeom prst="rect">
            <a:avLst/>
          </a:prstGeom>
          <a:noFill/>
          <a:ln/>
        </p:spPr>
        <p:txBody>
          <a:bodyPr wrap="square" rtlCol="0"/>
          <a:lstStyle>
            <a:lvl1pPr algn="l" indent="0" marL="0">
              <a:buNone/>
              <a:defRPr lang="en-US" sz="3600" b="1" dirty="0">
                <a:solidFill>
                  <a:srgbClr val="14202F"/>
                </a:solidFill>
                <a:latin typeface="Arial" pitchFamily="34" charset="0"/>
                <a:ea typeface="Arial" pitchFamily="34" charset="-122"/>
                <a:cs typeface="Arial"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609880"/>
            <a:ext cx="10972800" cy="952530"/>
          </a:xfrm>
          <a:prstGeom prst="rect">
            <a:avLst/>
          </a:prstGeom>
          <a:noFill/>
          <a:ln/>
        </p:spPr>
        <p:txBody>
          <a:bodyPr wrap="square" rtlCol="0"/>
          <a:lstStyle>
            <a:lvl1pPr algn="l" indent="0" marL="0">
              <a:buNone/>
              <a:defRPr lang="en-US" sz="6000" b="1" dirty="0">
                <a:solidFill>
                  <a:srgbClr val="FFFFFF"/>
                </a:solidFill>
                <a:latin typeface="Arial" pitchFamily="34" charset="0"/>
                <a:ea typeface="Arial" pitchFamily="34" charset="-122"/>
                <a:cs typeface="Arial" pitchFamily="34" charset="-120"/>
              </a:defRPr>
            </a:lvl1pPr>
          </a:lstStyle>
          <a:p>
            <a:pPr algn="l" indent="0" marL="0">
              <a:buNone/>
            </a:pPr>
            <a:endParaRPr lang="en-US" sz="60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228850"/>
            <a:ext cx="5333970" cy="1066830"/>
          </a:xfrm>
          <a:prstGeom prst="rect">
            <a:avLst/>
          </a:prstGeom>
          <a:noFill/>
          <a:ln/>
        </p:spPr>
        <p:txBody>
          <a:bodyPr wrap="square" rtlCol="0"/>
          <a:lstStyle>
            <a:lvl1pPr algn="l" indent="0" marL="0">
              <a:buNone/>
              <a:defRPr lang="en-US" sz="6900" b="1" dirty="0">
                <a:solidFill>
                  <a:srgbClr val="FFFFFF"/>
                </a:solidFill>
                <a:latin typeface="Arial" pitchFamily="34" charset="0"/>
                <a:ea typeface="Arial" pitchFamily="34" charset="-122"/>
                <a:cs typeface="Arial" pitchFamily="34" charset="-120"/>
              </a:defRPr>
            </a:lvl1pPr>
          </a:lstStyle>
          <a:p>
            <a:pPr algn="l" indent="0" marL="0">
              <a:buNone/>
            </a:pPr>
            <a:endParaRPr lang="en-US" sz="69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ory">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038380"/>
            <a:ext cx="10972800" cy="2000250"/>
          </a:xfrm>
          <a:prstGeom prst="rect">
            <a:avLst/>
          </a:prstGeom>
          <a:noFill/>
          <a:ln/>
        </p:spPr>
        <p:txBody>
          <a:bodyPr wrap="square" rtlCol="0"/>
          <a:lstStyle>
            <a:lvl1pPr algn="l" indent="0" marL="0">
              <a:buNone/>
              <a:defRPr lang="en-US" sz="4200" dirty="0">
                <a:solidFill>
                  <a:srgbClr val="FFFFFF"/>
                </a:solidFill>
                <a:latin typeface="Georgia" pitchFamily="34" charset="0"/>
                <a:ea typeface="Georgia" pitchFamily="34" charset="-122"/>
                <a:cs typeface="Georgia" pitchFamily="34" charset="-120"/>
              </a:defRPr>
            </a:lvl1pPr>
          </a:lstStyle>
          <a:p>
            <a:pPr algn="l" indent="0" marL="0">
              <a:buNone/>
            </a:pPr>
            <a:endParaRPr lang="en-US" sz="42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orySpli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038380"/>
            <a:ext cx="5143500" cy="2190720"/>
          </a:xfrm>
          <a:prstGeom prst="rect">
            <a:avLst/>
          </a:prstGeom>
          <a:noFill/>
          <a:ln/>
        </p:spPr>
        <p:txBody>
          <a:bodyPr wrap="square" rtlCol="0"/>
          <a:lstStyle>
            <a:lvl1pPr algn="l" indent="0" marL="0">
              <a:buNone/>
              <a:defRPr lang="en-US" sz="3000" dirty="0">
                <a:solidFill>
                  <a:srgbClr val="FFFFFF"/>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09630" y="2057400"/>
            <a:ext cx="10972800" cy="1352580"/>
          </a:xfrm>
          <a:prstGeom prst="rect">
            <a:avLst/>
          </a:prstGeom>
          <a:noFill/>
          <a:ln/>
        </p:spPr>
        <p:txBody>
          <a:bodyPr wrap="square" rtlCol="0"/>
          <a:lstStyle>
            <a:lvl1pPr algn="l" indent="0" marL="0">
              <a:buNone/>
              <a:defRPr lang="en-US" sz="9000" spc="-180" kern="0" dirty="0">
                <a:solidFill>
                  <a:srgbClr val="FFFFFF"/>
                </a:solidFill>
                <a:latin typeface="Georgia" pitchFamily="34" charset="0"/>
                <a:ea typeface="Georgia" pitchFamily="34" charset="-122"/>
                <a:cs typeface="Georgia" pitchFamily="34" charset="-120"/>
              </a:defRPr>
            </a:lvl1pPr>
          </a:lstStyle>
          <a:p>
            <a:pPr algn="l" indent="0" marL="0">
              <a:buNone/>
            </a:pPr>
            <a:endParaRPr lang="en-US" sz="900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image" Target="../media/image-29-2.jpg"/><Relationship Id="rId3" Type="http://schemas.openxmlformats.org/officeDocument/2006/relationships/image" Target="../media/image-29-3.jp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4" Type="http://schemas.openxmlformats.org/officeDocument/2006/relationships/slideLayout" Target="../slideLayouts/slideLayout2.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6.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09630" y="1962120"/>
            <a:ext cx="495303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9FB0C6"/>
                </a:solidFill>
                <a:latin typeface="Arial" pitchFamily="34" charset="0"/>
                <a:ea typeface="Arial" pitchFamily="34" charset="-122"/>
                <a:cs typeface="Arial" pitchFamily="34" charset="-120"/>
              </a:rPr>
              <a:t>OUR STORY, AND THE PRODUCT IT BECAME · OCTOBER 2026</a:t>
            </a:r>
            <a:endParaRPr lang="en-US" sz="1013" dirty="0"/>
          </a:p>
        </p:txBody>
      </p:sp>
      <p:sp>
        <p:nvSpPr>
          <p:cNvPr id="3" name="Text 0"/>
          <p:cNvSpPr/>
          <p:nvPr>
            <p:ph idx="100" type="title" hasCustomPrompt="1"/>
          </p:nvPr>
        </p:nvSpPr>
        <p:spPr>
          <a:xfrm>
            <a:off x="609630" y="2228850"/>
            <a:ext cx="5333970" cy="1066830"/>
          </a:xfrm>
          <a:prstGeom prst="rect">
            <a:avLst/>
          </a:prstGeom>
          <a:noFill/>
          <a:ln/>
        </p:spPr>
        <p:txBody>
          <a:bodyPr wrap="square" lIns="0" tIns="0" rIns="0" bIns="0" rtlCol="0" anchor="t"/>
          <a:lstStyle/>
          <a:p>
            <a:pPr algn="l" indent="0" marL="0">
              <a:buNone/>
            </a:pPr>
            <a:r>
              <a:rPr lang="en-US" sz="6900" b="1" dirty="0">
                <a:solidFill>
                  <a:srgbClr val="FFFFFF"/>
                </a:solidFill>
                <a:latin typeface="Arial" pitchFamily="34" charset="0"/>
                <a:ea typeface="Arial" pitchFamily="34" charset="-122"/>
                <a:cs typeface="Arial" pitchFamily="34" charset="-120"/>
              </a:rPr>
              <a:t>ScholarCrew</a:t>
            </a:r>
            <a:endParaRPr lang="en-US" sz="6900" dirty="0"/>
          </a:p>
        </p:txBody>
      </p:sp>
      <p:sp>
        <p:nvSpPr>
          <p:cNvPr id="4" name="text-3"/>
          <p:cNvSpPr txBox="1"/>
          <p:nvPr/>
        </p:nvSpPr>
        <p:spPr>
          <a:xfrm>
            <a:off x="609630" y="3429000"/>
            <a:ext cx="4762470" cy="761970"/>
          </a:xfrm>
          <a:prstGeom prst="rect">
            <a:avLst/>
          </a:prstGeom>
          <a:noFill/>
          <a:ln/>
        </p:spPr>
        <p:txBody>
          <a:bodyPr wrap="square" lIns="0" tIns="0" rIns="0" bIns="0" rtlCol="0" anchor="t"/>
          <a:lstStyle/>
          <a:p>
            <a:pPr algn="l" indent="0" marL="0">
              <a:lnSpc>
                <a:spcPct val="130000"/>
              </a:lnSpc>
              <a:buNone/>
            </a:pPr>
            <a:r>
              <a:rPr lang="en-US" sz="2100" dirty="0">
                <a:solidFill>
                  <a:srgbClr val="FFFFFF"/>
                </a:solidFill>
                <a:latin typeface="Arial" pitchFamily="34" charset="0"/>
                <a:ea typeface="Arial" pitchFamily="34" charset="-122"/>
                <a:cs typeface="Arial" pitchFamily="34" charset="-120"/>
              </a:rPr>
              <a:t>No family should have to figure out college alone.</a:t>
            </a:r>
            <a:endParaRPr lang="en-US" sz="2100" dirty="0"/>
          </a:p>
        </p:txBody>
      </p:sp>
      <p:sp>
        <p:nvSpPr>
          <p:cNvPr id="5" name="text-4"/>
          <p:cNvSpPr txBox="1"/>
          <p:nvPr/>
        </p:nvSpPr>
        <p:spPr>
          <a:xfrm>
            <a:off x="609630" y="4343400"/>
            <a:ext cx="4572000" cy="495330"/>
          </a:xfrm>
          <a:prstGeom prst="rect">
            <a:avLst/>
          </a:prstGeom>
          <a:noFill/>
          <a:ln/>
        </p:spPr>
        <p:txBody>
          <a:bodyPr wrap="square" lIns="0" tIns="0" rIns="0" bIns="0" rtlCol="0" anchor="t"/>
          <a:lstStyle/>
          <a:p>
            <a:pPr algn="l" indent="0" marL="0">
              <a:lnSpc>
                <a:spcPct val="140000"/>
              </a:lnSpc>
              <a:buNone/>
            </a:pPr>
            <a:r>
              <a:rPr lang="en-US" sz="1388" dirty="0">
                <a:solidFill>
                  <a:srgbClr val="C9D3E0"/>
                </a:solidFill>
                <a:latin typeface="Arial" pitchFamily="34" charset="0"/>
                <a:ea typeface="Arial" pitchFamily="34" charset="-122"/>
                <a:cs typeface="Arial" pitchFamily="34" charset="-120"/>
              </a:rPr>
              <a:t>A crew of AI specialists for first-generation students and the families who want to help</a:t>
            </a:r>
            <a:endParaRPr lang="en-US" sz="1388" dirty="0"/>
          </a:p>
        </p:txBody>
      </p:sp>
      <p:sp>
        <p:nvSpPr>
          <p:cNvPr id="6" name="oval-5"/>
          <p:cNvSpPr/>
          <p:nvPr/>
        </p:nvSpPr>
        <p:spPr>
          <a:xfrm>
            <a:off x="609630" y="5391120"/>
            <a:ext cx="133320" cy="133320"/>
          </a:xfrm>
          <a:prstGeom prst="ellipse">
            <a:avLst/>
          </a:prstGeom>
          <a:solidFill>
            <a:srgbClr val="2A78D6"/>
          </a:solidFill>
          <a:ln/>
        </p:spPr>
      </p:sp>
      <p:sp>
        <p:nvSpPr>
          <p:cNvPr id="7" name="oval-6"/>
          <p:cNvSpPr/>
          <p:nvPr/>
        </p:nvSpPr>
        <p:spPr>
          <a:xfrm>
            <a:off x="857250" y="5391120"/>
            <a:ext cx="133320" cy="133320"/>
          </a:xfrm>
          <a:prstGeom prst="ellipse">
            <a:avLst/>
          </a:prstGeom>
          <a:solidFill>
            <a:srgbClr val="EB6834"/>
          </a:solidFill>
          <a:ln/>
        </p:spPr>
      </p:sp>
      <p:sp>
        <p:nvSpPr>
          <p:cNvPr id="8" name="oval-7"/>
          <p:cNvSpPr/>
          <p:nvPr/>
        </p:nvSpPr>
        <p:spPr>
          <a:xfrm>
            <a:off x="1104870" y="5391120"/>
            <a:ext cx="133320" cy="133320"/>
          </a:xfrm>
          <a:prstGeom prst="ellipse">
            <a:avLst/>
          </a:prstGeom>
          <a:solidFill>
            <a:srgbClr val="1BAF7A"/>
          </a:solidFill>
          <a:ln/>
        </p:spPr>
      </p:sp>
      <p:sp>
        <p:nvSpPr>
          <p:cNvPr id="9" name="oval-8"/>
          <p:cNvSpPr/>
          <p:nvPr/>
        </p:nvSpPr>
        <p:spPr>
          <a:xfrm>
            <a:off x="1352580" y="5391120"/>
            <a:ext cx="133320" cy="133320"/>
          </a:xfrm>
          <a:prstGeom prst="ellipse">
            <a:avLst/>
          </a:prstGeom>
          <a:solidFill>
            <a:srgbClr val="EDA100"/>
          </a:solidFill>
          <a:ln/>
        </p:spPr>
      </p:sp>
      <p:sp>
        <p:nvSpPr>
          <p:cNvPr id="10" name="oval-9"/>
          <p:cNvSpPr/>
          <p:nvPr/>
        </p:nvSpPr>
        <p:spPr>
          <a:xfrm>
            <a:off x="1600200" y="5391120"/>
            <a:ext cx="133320" cy="133320"/>
          </a:xfrm>
          <a:prstGeom prst="ellipse">
            <a:avLst/>
          </a:prstGeom>
          <a:solidFill>
            <a:srgbClr val="E87BA4"/>
          </a:solidFill>
          <a:ln/>
        </p:spPr>
      </p:sp>
      <p:sp>
        <p:nvSpPr>
          <p:cNvPr id="11" name="oval-10"/>
          <p:cNvSpPr/>
          <p:nvPr/>
        </p:nvSpPr>
        <p:spPr>
          <a:xfrm>
            <a:off x="1847820" y="5391120"/>
            <a:ext cx="133320" cy="133320"/>
          </a:xfrm>
          <a:prstGeom prst="ellipse">
            <a:avLst/>
          </a:prstGeom>
          <a:solidFill>
            <a:srgbClr val="008300"/>
          </a:solidFill>
          <a:ln/>
        </p:spPr>
      </p:sp>
      <p:sp>
        <p:nvSpPr>
          <p:cNvPr id="12" name="oval-11"/>
          <p:cNvSpPr/>
          <p:nvPr/>
        </p:nvSpPr>
        <p:spPr>
          <a:xfrm>
            <a:off x="2095530" y="5391120"/>
            <a:ext cx="133320" cy="133320"/>
          </a:xfrm>
          <a:prstGeom prst="ellipse">
            <a:avLst/>
          </a:prstGeom>
          <a:solidFill>
            <a:srgbClr val="4A3AA7"/>
          </a:solidFill>
          <a:ln/>
        </p:spPr>
      </p:sp>
      <p:sp>
        <p:nvSpPr>
          <p:cNvPr id="13" name="oval-12"/>
          <p:cNvSpPr/>
          <p:nvPr/>
        </p:nvSpPr>
        <p:spPr>
          <a:xfrm>
            <a:off x="2343150" y="5391120"/>
            <a:ext cx="133320" cy="133320"/>
          </a:xfrm>
          <a:prstGeom prst="ellipse">
            <a:avLst/>
          </a:prstGeom>
          <a:solidFill>
            <a:srgbClr val="E34948"/>
          </a:solidFill>
          <a:ln/>
        </p:spPr>
      </p:sp>
      <p:sp>
        <p:nvSpPr>
          <p:cNvPr id="14" name="rect-13"/>
          <p:cNvSpPr/>
          <p:nvPr/>
        </p:nvSpPr>
        <p:spPr>
          <a:xfrm>
            <a:off x="6019770" y="1524030"/>
            <a:ext cx="5562570" cy="3724260"/>
          </a:xfrm>
          <a:prstGeom prst="roundRect">
            <a:avLst>
              <a:gd name="adj" fmla="val 3580"/>
            </a:avLst>
          </a:prstGeom>
          <a:solidFill>
            <a:srgbClr val="FFFFFF"/>
          </a:solidFill>
          <a:ln/>
          <a:effectLst>
            <a:outerShdw sx="100000" sy="100000" kx="0" ky="0" algn="bl" rotWithShape="0" blurRad="228600" dist="76200" dir="5400000">
              <a:srgbClr val="14202F">
                <a:alpha val="20000"/>
              </a:srgbClr>
            </a:outerShdw>
          </a:effectLst>
        </p:spPr>
      </p:sp>
      <p:sp>
        <p:nvSpPr>
          <p:cNvPr id="15" name="oval-14"/>
          <p:cNvSpPr/>
          <p:nvPr/>
        </p:nvSpPr>
        <p:spPr>
          <a:xfrm>
            <a:off x="6153180" y="1619220"/>
            <a:ext cx="85771" cy="85771"/>
          </a:xfrm>
          <a:prstGeom prst="ellipse">
            <a:avLst/>
          </a:prstGeom>
          <a:solidFill>
            <a:srgbClr val="FF5F57"/>
          </a:solidFill>
          <a:ln/>
        </p:spPr>
      </p:sp>
      <p:sp>
        <p:nvSpPr>
          <p:cNvPr id="16" name="oval-15"/>
          <p:cNvSpPr/>
          <p:nvPr/>
        </p:nvSpPr>
        <p:spPr>
          <a:xfrm>
            <a:off x="6286500" y="1619220"/>
            <a:ext cx="85771" cy="85771"/>
          </a:xfrm>
          <a:prstGeom prst="ellipse">
            <a:avLst/>
          </a:prstGeom>
          <a:solidFill>
            <a:srgbClr val="FEBC2E"/>
          </a:solidFill>
          <a:ln/>
        </p:spPr>
      </p:sp>
      <p:sp>
        <p:nvSpPr>
          <p:cNvPr id="17" name="oval-16"/>
          <p:cNvSpPr/>
          <p:nvPr/>
        </p:nvSpPr>
        <p:spPr>
          <a:xfrm>
            <a:off x="6419820" y="1619220"/>
            <a:ext cx="85771" cy="85771"/>
          </a:xfrm>
          <a:prstGeom prst="ellipse">
            <a:avLst/>
          </a:prstGeom>
          <a:solidFill>
            <a:srgbClr val="28C840"/>
          </a:solidFill>
          <a:ln/>
        </p:spPr>
      </p:sp>
      <p:sp>
        <p:nvSpPr>
          <p:cNvPr id="18" name="text-17"/>
          <p:cNvSpPr txBox="1"/>
          <p:nvPr/>
        </p:nvSpPr>
        <p:spPr>
          <a:xfrm>
            <a:off x="6610380" y="1581180"/>
            <a:ext cx="480060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/week</a:t>
            </a:r>
            <a:endParaRPr lang="en-US" sz="900" dirty="0"/>
          </a:p>
        </p:txBody>
      </p:sp>
      <p:pic>
        <p:nvPicPr>
          <p:cNvPr id="19" name="image-18" descr="Screenshot: ScholarCrew">    </p:cNvPr>
          <p:cNvPicPr>
            <a:picLocks noChangeAspect="1"/>
          </p:cNvPicPr>
          <p:nvPr/>
        </p:nvPicPr>
        <p:blipFill>
          <a:blip r:embed="rId1"/>
          <a:stretch>
            <a:fillRect/>
          </a:stretch>
        </p:blipFill>
        <p:spPr>
          <a:xfrm>
            <a:off x="6096030" y="1790670"/>
            <a:ext cx="5410230" cy="3381360"/>
          </a:xfrm>
          <a:prstGeom prst="rect">
            <a:avLst/>
          </a:prstGeom>
        </p:spPr>
      </p:pic>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19"/>
          <p:cNvSpPr txBox="1"/>
          <p:nvPr/>
        </p:nvSpPr>
        <p:spPr>
          <a:xfrm>
            <a:off x="609630" y="1771650"/>
            <a:ext cx="85725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WHERE THIS STARTED</a:t>
            </a:r>
            <a:endParaRPr lang="en-US" sz="1013" dirty="0"/>
          </a:p>
        </p:txBody>
      </p:sp>
      <p:sp>
        <p:nvSpPr>
          <p:cNvPr id="3" name="Text 0"/>
          <p:cNvSpPr/>
          <p:nvPr>
            <p:ph idx="100" type="title" hasCustomPrompt="1"/>
          </p:nvPr>
        </p:nvSpPr>
        <p:spPr>
          <a:xfrm>
            <a:off x="609630" y="2038380"/>
            <a:ext cx="10972800" cy="2000250"/>
          </a:xfrm>
          <a:prstGeom prst="rect">
            <a:avLst/>
          </a:prstGeom>
          <a:noFill/>
          <a:ln/>
        </p:spPr>
        <p:txBody>
          <a:bodyPr wrap="square" lIns="0" tIns="0" rIns="0" bIns="0" rtlCol="0" anchor="t"/>
          <a:lstStyle/>
          <a:p>
            <a:pPr algn="l" indent="0" marL="0">
              <a:buNone/>
            </a:pPr>
            <a:r>
              <a:rPr lang="en-US" sz="4200" dirty="0">
                <a:solidFill>
                  <a:srgbClr val="FFFFFF"/>
                </a:solidFill>
                <a:latin typeface="Georgia" pitchFamily="34" charset="0"/>
                <a:ea typeface="Georgia" pitchFamily="34" charset="-122"/>
                <a:cs typeface="Georgia" pitchFamily="34" charset="-120"/>
              </a:rPr>
              <a:t>My mom and I came to the United States from Mexico.</a:t>
            </a:r>
            <a:endParaRPr lang="en-US" sz="4200" dirty="0"/>
          </a:p>
        </p:txBody>
      </p:sp>
      <p:sp>
        <p:nvSpPr>
          <p:cNvPr id="4" name="text-21"/>
          <p:cNvSpPr txBox="1"/>
          <p:nvPr/>
        </p:nvSpPr>
        <p:spPr>
          <a:xfrm>
            <a:off x="609630" y="3600450"/>
            <a:ext cx="8572500" cy="457200"/>
          </a:xfrm>
          <a:prstGeom prst="rect">
            <a:avLst/>
          </a:prstGeom>
          <a:noFill/>
          <a:ln/>
        </p:spPr>
        <p:txBody>
          <a:bodyPr wrap="square" lIns="0" tIns="0" rIns="0" bIns="0" rtlCol="0" anchor="t"/>
          <a:lstStyle/>
          <a:p>
            <a:pPr algn="l" indent="0" marL="0">
              <a:lnSpc>
                <a:spcPct val="145000"/>
              </a:lnSpc>
              <a:buNone/>
            </a:pPr>
            <a:r>
              <a:rPr lang="en-US" sz="1950" dirty="0">
                <a:solidFill>
                  <a:srgbClr val="F6E3D3"/>
                </a:solidFill>
                <a:latin typeface="Arial" pitchFamily="34" charset="0"/>
                <a:ea typeface="Arial" pitchFamily="34" charset="-122"/>
                <a:cs typeface="Arial" pitchFamily="34" charset="-120"/>
              </a:rPr>
              <a:t>A new country, a new school, and a whole new system to figure out.</a:t>
            </a:r>
            <a:endParaRPr lang="en-US" sz="1950" dirty="0"/>
          </a:p>
        </p:txBody>
      </p:sp>
      <p:sp>
        <p:nvSpPr>
          <p:cNvPr id="5" name="oval-22"/>
          <p:cNvSpPr/>
          <p:nvPr/>
        </p:nvSpPr>
        <p:spPr>
          <a:xfrm>
            <a:off x="609630" y="5753130"/>
            <a:ext cx="57150" cy="57150"/>
          </a:xfrm>
          <a:prstGeom prst="ellipse">
            <a:avLst/>
          </a:prstGeom>
          <a:solidFill>
            <a:srgbClr val="F2B48A">
              <a:alpha val="35000"/>
            </a:srgbClr>
          </a:solidFill>
          <a:ln/>
        </p:spPr>
      </p:sp>
      <p:sp>
        <p:nvSpPr>
          <p:cNvPr id="6" name="oval-23"/>
          <p:cNvSpPr/>
          <p:nvPr/>
        </p:nvSpPr>
        <p:spPr>
          <a:xfrm>
            <a:off x="781080" y="5753130"/>
            <a:ext cx="57150" cy="57150"/>
          </a:xfrm>
          <a:prstGeom prst="ellipse">
            <a:avLst/>
          </a:prstGeom>
          <a:solidFill>
            <a:srgbClr val="F2B48A">
              <a:alpha val="37000"/>
            </a:srgbClr>
          </a:solidFill>
          <a:ln/>
        </p:spPr>
      </p:sp>
      <p:sp>
        <p:nvSpPr>
          <p:cNvPr id="7" name="oval-24"/>
          <p:cNvSpPr/>
          <p:nvPr/>
        </p:nvSpPr>
        <p:spPr>
          <a:xfrm>
            <a:off x="952530" y="5753130"/>
            <a:ext cx="57150" cy="57150"/>
          </a:xfrm>
          <a:prstGeom prst="ellipse">
            <a:avLst/>
          </a:prstGeom>
          <a:solidFill>
            <a:srgbClr val="F2B48A">
              <a:alpha val="40000"/>
            </a:srgbClr>
          </a:solidFill>
          <a:ln/>
        </p:spPr>
      </p:sp>
      <p:sp>
        <p:nvSpPr>
          <p:cNvPr id="8" name="oval-25"/>
          <p:cNvSpPr/>
          <p:nvPr/>
        </p:nvSpPr>
        <p:spPr>
          <a:xfrm>
            <a:off x="1123980" y="5753130"/>
            <a:ext cx="57150" cy="57150"/>
          </a:xfrm>
          <a:prstGeom prst="ellipse">
            <a:avLst/>
          </a:prstGeom>
          <a:solidFill>
            <a:srgbClr val="F2B48A">
              <a:alpha val="43000"/>
            </a:srgbClr>
          </a:solidFill>
          <a:ln/>
        </p:spPr>
      </p:sp>
      <p:sp>
        <p:nvSpPr>
          <p:cNvPr id="9" name="oval-26"/>
          <p:cNvSpPr/>
          <p:nvPr/>
        </p:nvSpPr>
        <p:spPr>
          <a:xfrm>
            <a:off x="1295430" y="5753130"/>
            <a:ext cx="57150" cy="57150"/>
          </a:xfrm>
          <a:prstGeom prst="ellipse">
            <a:avLst/>
          </a:prstGeom>
          <a:solidFill>
            <a:srgbClr val="F2B48A">
              <a:alpha val="45000"/>
            </a:srgbClr>
          </a:solidFill>
          <a:ln/>
        </p:spPr>
      </p:sp>
      <p:sp>
        <p:nvSpPr>
          <p:cNvPr id="10" name="oval-27"/>
          <p:cNvSpPr/>
          <p:nvPr/>
        </p:nvSpPr>
        <p:spPr>
          <a:xfrm>
            <a:off x="1466880" y="5753130"/>
            <a:ext cx="57150" cy="57150"/>
          </a:xfrm>
          <a:prstGeom prst="ellipse">
            <a:avLst/>
          </a:prstGeom>
          <a:solidFill>
            <a:srgbClr val="F2B48A">
              <a:alpha val="47000"/>
            </a:srgbClr>
          </a:solidFill>
          <a:ln/>
        </p:spPr>
      </p:sp>
      <p:sp>
        <p:nvSpPr>
          <p:cNvPr id="11" name="oval-28"/>
          <p:cNvSpPr/>
          <p:nvPr/>
        </p:nvSpPr>
        <p:spPr>
          <a:xfrm>
            <a:off x="1638330" y="5753130"/>
            <a:ext cx="57150" cy="57150"/>
          </a:xfrm>
          <a:prstGeom prst="ellipse">
            <a:avLst/>
          </a:prstGeom>
          <a:solidFill>
            <a:srgbClr val="F2B48A">
              <a:alpha val="50000"/>
            </a:srgbClr>
          </a:solidFill>
          <a:ln/>
        </p:spPr>
      </p:sp>
      <p:sp>
        <p:nvSpPr>
          <p:cNvPr id="12" name="oval-29"/>
          <p:cNvSpPr/>
          <p:nvPr/>
        </p:nvSpPr>
        <p:spPr>
          <a:xfrm>
            <a:off x="1809780" y="5753130"/>
            <a:ext cx="57150" cy="57150"/>
          </a:xfrm>
          <a:prstGeom prst="ellipse">
            <a:avLst/>
          </a:prstGeom>
          <a:solidFill>
            <a:srgbClr val="F2B48A">
              <a:alpha val="52000"/>
            </a:srgbClr>
          </a:solidFill>
          <a:ln/>
        </p:spPr>
      </p:sp>
      <p:sp>
        <p:nvSpPr>
          <p:cNvPr id="13" name="oval-30"/>
          <p:cNvSpPr/>
          <p:nvPr/>
        </p:nvSpPr>
        <p:spPr>
          <a:xfrm>
            <a:off x="1981230" y="5753130"/>
            <a:ext cx="57150" cy="57150"/>
          </a:xfrm>
          <a:prstGeom prst="ellipse">
            <a:avLst/>
          </a:prstGeom>
          <a:solidFill>
            <a:srgbClr val="F2B48A">
              <a:alpha val="55000"/>
            </a:srgbClr>
          </a:solidFill>
          <a:ln/>
        </p:spPr>
      </p:sp>
      <p:sp>
        <p:nvSpPr>
          <p:cNvPr id="14" name="oval-31"/>
          <p:cNvSpPr/>
          <p:nvPr/>
        </p:nvSpPr>
        <p:spPr>
          <a:xfrm>
            <a:off x="2152680" y="5753130"/>
            <a:ext cx="57150" cy="57150"/>
          </a:xfrm>
          <a:prstGeom prst="ellipse">
            <a:avLst/>
          </a:prstGeom>
          <a:solidFill>
            <a:srgbClr val="F2B48A">
              <a:alpha val="57000"/>
            </a:srgbClr>
          </a:solidFill>
          <a:ln/>
        </p:spPr>
      </p:sp>
      <p:sp>
        <p:nvSpPr>
          <p:cNvPr id="15" name="oval-32"/>
          <p:cNvSpPr/>
          <p:nvPr/>
        </p:nvSpPr>
        <p:spPr>
          <a:xfrm>
            <a:off x="2324130" y="5753130"/>
            <a:ext cx="57150" cy="57150"/>
          </a:xfrm>
          <a:prstGeom prst="ellipse">
            <a:avLst/>
          </a:prstGeom>
          <a:solidFill>
            <a:srgbClr val="F2B48A">
              <a:alpha val="60000"/>
            </a:srgbClr>
          </a:solidFill>
          <a:ln/>
        </p:spPr>
      </p:sp>
      <p:sp>
        <p:nvSpPr>
          <p:cNvPr id="16" name="oval-33"/>
          <p:cNvSpPr/>
          <p:nvPr/>
        </p:nvSpPr>
        <p:spPr>
          <a:xfrm>
            <a:off x="2495580" y="5753130"/>
            <a:ext cx="57150" cy="57150"/>
          </a:xfrm>
          <a:prstGeom prst="ellipse">
            <a:avLst/>
          </a:prstGeom>
          <a:solidFill>
            <a:srgbClr val="F2B48A">
              <a:alpha val="62000"/>
            </a:srgbClr>
          </a:solidFill>
          <a:ln/>
        </p:spPr>
      </p:sp>
      <p:sp>
        <p:nvSpPr>
          <p:cNvPr id="17" name="oval-34"/>
          <p:cNvSpPr/>
          <p:nvPr/>
        </p:nvSpPr>
        <p:spPr>
          <a:xfrm>
            <a:off x="2667030" y="5753130"/>
            <a:ext cx="57150" cy="57150"/>
          </a:xfrm>
          <a:prstGeom prst="ellipse">
            <a:avLst/>
          </a:prstGeom>
          <a:solidFill>
            <a:srgbClr val="F2B48A">
              <a:alpha val="65000"/>
            </a:srgbClr>
          </a:solidFill>
          <a:ln/>
        </p:spPr>
      </p:sp>
      <p:sp>
        <p:nvSpPr>
          <p:cNvPr id="18" name="oval-35"/>
          <p:cNvSpPr/>
          <p:nvPr/>
        </p:nvSpPr>
        <p:spPr>
          <a:xfrm>
            <a:off x="2838480" y="5753130"/>
            <a:ext cx="57150" cy="57150"/>
          </a:xfrm>
          <a:prstGeom prst="ellipse">
            <a:avLst/>
          </a:prstGeom>
          <a:solidFill>
            <a:srgbClr val="F2B48A">
              <a:alpha val="68000"/>
            </a:srgbClr>
          </a:solidFill>
          <a:ln/>
        </p:spPr>
      </p:sp>
      <p:sp>
        <p:nvSpPr>
          <p:cNvPr id="19" name="oval-36"/>
          <p:cNvSpPr/>
          <p:nvPr/>
        </p:nvSpPr>
        <p:spPr>
          <a:xfrm>
            <a:off x="3009930" y="5753130"/>
            <a:ext cx="57150" cy="57150"/>
          </a:xfrm>
          <a:prstGeom prst="ellipse">
            <a:avLst/>
          </a:prstGeom>
          <a:solidFill>
            <a:srgbClr val="F2B48A">
              <a:alpha val="70000"/>
            </a:srgbClr>
          </a:solidFill>
          <a:ln/>
        </p:spPr>
      </p:sp>
      <p:sp>
        <p:nvSpPr>
          <p:cNvPr id="20" name="oval-37"/>
          <p:cNvSpPr/>
          <p:nvPr/>
        </p:nvSpPr>
        <p:spPr>
          <a:xfrm>
            <a:off x="3181380" y="5753130"/>
            <a:ext cx="57150" cy="57150"/>
          </a:xfrm>
          <a:prstGeom prst="ellipse">
            <a:avLst/>
          </a:prstGeom>
          <a:solidFill>
            <a:srgbClr val="F2B48A">
              <a:alpha val="72000"/>
            </a:srgbClr>
          </a:solidFill>
          <a:ln/>
        </p:spPr>
      </p:sp>
      <p:sp>
        <p:nvSpPr>
          <p:cNvPr id="21" name="oval-38"/>
          <p:cNvSpPr/>
          <p:nvPr/>
        </p:nvSpPr>
        <p:spPr>
          <a:xfrm>
            <a:off x="3352830" y="5753130"/>
            <a:ext cx="57150" cy="57150"/>
          </a:xfrm>
          <a:prstGeom prst="ellipse">
            <a:avLst/>
          </a:prstGeom>
          <a:solidFill>
            <a:srgbClr val="F2B48A">
              <a:alpha val="75000"/>
            </a:srgbClr>
          </a:solidFill>
          <a:ln/>
        </p:spPr>
      </p:sp>
      <p:sp>
        <p:nvSpPr>
          <p:cNvPr id="22" name="oval-39"/>
          <p:cNvSpPr/>
          <p:nvPr/>
        </p:nvSpPr>
        <p:spPr>
          <a:xfrm>
            <a:off x="3524280" y="5753130"/>
            <a:ext cx="57150" cy="57150"/>
          </a:xfrm>
          <a:prstGeom prst="ellipse">
            <a:avLst/>
          </a:prstGeom>
          <a:solidFill>
            <a:srgbClr val="F2B48A">
              <a:alpha val="78000"/>
            </a:srgbClr>
          </a:solidFill>
          <a:ln/>
        </p:spPr>
      </p:sp>
      <p:sp>
        <p:nvSpPr>
          <p:cNvPr id="23" name="oval-40"/>
          <p:cNvSpPr/>
          <p:nvPr/>
        </p:nvSpPr>
        <p:spPr>
          <a:xfrm>
            <a:off x="3695730" y="5753130"/>
            <a:ext cx="57150" cy="57150"/>
          </a:xfrm>
          <a:prstGeom prst="ellipse">
            <a:avLst/>
          </a:prstGeom>
          <a:solidFill>
            <a:srgbClr val="F2B48A">
              <a:alpha val="80000"/>
            </a:srgbClr>
          </a:solidFill>
          <a:ln/>
        </p:spPr>
      </p:sp>
      <p:sp>
        <p:nvSpPr>
          <p:cNvPr id="24" name="oval-41"/>
          <p:cNvSpPr/>
          <p:nvPr/>
        </p:nvSpPr>
        <p:spPr>
          <a:xfrm>
            <a:off x="3867180" y="5753130"/>
            <a:ext cx="57150" cy="57150"/>
          </a:xfrm>
          <a:prstGeom prst="ellipse">
            <a:avLst/>
          </a:prstGeom>
          <a:solidFill>
            <a:srgbClr val="F2B48A">
              <a:alpha val="82000"/>
            </a:srgbClr>
          </a:solidFill>
          <a:ln/>
        </p:spPr>
      </p:sp>
      <p:sp>
        <p:nvSpPr>
          <p:cNvPr id="25" name="oval-42"/>
          <p:cNvSpPr/>
          <p:nvPr/>
        </p:nvSpPr>
        <p:spPr>
          <a:xfrm>
            <a:off x="4038630" y="5753130"/>
            <a:ext cx="57150" cy="57150"/>
          </a:xfrm>
          <a:prstGeom prst="ellipse">
            <a:avLst/>
          </a:prstGeom>
          <a:solidFill>
            <a:srgbClr val="F2B48A">
              <a:alpha val="85000"/>
            </a:srgbClr>
          </a:solidFill>
          <a:ln/>
        </p:spPr>
      </p:sp>
      <p:sp>
        <p:nvSpPr>
          <p:cNvPr id="26" name="oval-43"/>
          <p:cNvSpPr/>
          <p:nvPr/>
        </p:nvSpPr>
        <p:spPr>
          <a:xfrm>
            <a:off x="4210080" y="5753130"/>
            <a:ext cx="57150" cy="57150"/>
          </a:xfrm>
          <a:prstGeom prst="ellipse">
            <a:avLst/>
          </a:prstGeom>
          <a:solidFill>
            <a:srgbClr val="F2B48A">
              <a:alpha val="87000"/>
            </a:srgbClr>
          </a:solidFill>
          <a:ln/>
        </p:spPr>
      </p:sp>
      <p:sp>
        <p:nvSpPr>
          <p:cNvPr id="27" name="oval-44"/>
          <p:cNvSpPr/>
          <p:nvPr/>
        </p:nvSpPr>
        <p:spPr>
          <a:xfrm>
            <a:off x="4381530" y="5686471"/>
            <a:ext cx="190470" cy="190470"/>
          </a:xfrm>
          <a:prstGeom prst="ellipse">
            <a:avLst/>
          </a:prstGeom>
          <a:solidFill>
            <a:srgbClr val="F0A35E"/>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45"/>
          <p:cNvSpPr txBox="1"/>
          <p:nvPr/>
        </p:nvSpPr>
        <p:spPr>
          <a:xfrm>
            <a:off x="609630" y="1771650"/>
            <a:ext cx="85725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THE PART NOBODY TALKS ABOUT</a:t>
            </a:r>
            <a:endParaRPr lang="en-US" sz="1013" dirty="0"/>
          </a:p>
        </p:txBody>
      </p:sp>
      <p:sp>
        <p:nvSpPr>
          <p:cNvPr id="3" name="Text 0"/>
          <p:cNvSpPr/>
          <p:nvPr>
            <p:ph idx="100" type="title" hasCustomPrompt="1"/>
          </p:nvPr>
        </p:nvSpPr>
        <p:spPr>
          <a:xfrm>
            <a:off x="609630" y="2038380"/>
            <a:ext cx="10972800" cy="2000250"/>
          </a:xfrm>
          <a:prstGeom prst="rect">
            <a:avLst/>
          </a:prstGeom>
          <a:noFill/>
          <a:ln/>
        </p:spPr>
        <p:txBody>
          <a:bodyPr wrap="square" lIns="0" tIns="0" rIns="0" bIns="0" rtlCol="0" anchor="t"/>
          <a:lstStyle/>
          <a:p>
            <a:pPr algn="l" indent="0" marL="0">
              <a:buNone/>
            </a:pPr>
            <a:r>
              <a:rPr lang="en-US" sz="4200" dirty="0">
                <a:solidFill>
                  <a:srgbClr val="FFFFFF"/>
                </a:solidFill>
                <a:latin typeface="Georgia" pitchFamily="34" charset="0"/>
                <a:ea typeface="Georgia" pitchFamily="34" charset="-122"/>
                <a:cs typeface="Georgia" pitchFamily="34" charset="-120"/>
              </a:rPr>
              <a:t>My mom doesn't know how college works here.</a:t>
            </a:r>
            <a:endParaRPr lang="en-US" sz="4200" dirty="0"/>
          </a:p>
        </p:txBody>
      </p:sp>
      <p:sp>
        <p:nvSpPr>
          <p:cNvPr id="4" name="text-47"/>
          <p:cNvSpPr txBox="1"/>
          <p:nvPr/>
        </p:nvSpPr>
        <p:spPr>
          <a:xfrm>
            <a:off x="609630" y="3600450"/>
            <a:ext cx="8572500" cy="809610"/>
          </a:xfrm>
          <a:prstGeom prst="rect">
            <a:avLst/>
          </a:prstGeom>
          <a:noFill/>
          <a:ln/>
        </p:spPr>
        <p:txBody>
          <a:bodyPr wrap="square" lIns="0" tIns="0" rIns="0" bIns="0" rtlCol="0" anchor="t"/>
          <a:lstStyle/>
          <a:p>
            <a:pPr algn="l" indent="0" marL="0">
              <a:lnSpc>
                <a:spcPct val="145000"/>
              </a:lnSpc>
              <a:buNone/>
            </a:pPr>
            <a:r>
              <a:rPr lang="en-US" sz="1950" dirty="0">
                <a:solidFill>
                  <a:srgbClr val="F6E3D3"/>
                </a:solidFill>
                <a:latin typeface="Arial" pitchFamily="34" charset="0"/>
                <a:ea typeface="Arial" pitchFamily="34" charset="-122"/>
                <a:cs typeface="Arial" pitchFamily="34" charset="-120"/>
              </a:rPr>
              <a:t>Neither do the parents of a lot of kids like me. Not because they don't care. Because nobody ever showed them.</a:t>
            </a:r>
            <a:endParaRPr lang="en-US" sz="1950" dirty="0"/>
          </a:p>
        </p:txBody>
      </p:sp>
      <p:sp>
        <p:nvSpPr>
          <p:cNvPr id="5" name="oval-48"/>
          <p:cNvSpPr/>
          <p:nvPr/>
        </p:nvSpPr>
        <p:spPr>
          <a:xfrm>
            <a:off x="609630" y="5753130"/>
            <a:ext cx="57150" cy="57150"/>
          </a:xfrm>
          <a:prstGeom prst="ellipse">
            <a:avLst/>
          </a:prstGeom>
          <a:solidFill>
            <a:srgbClr val="F2B48A">
              <a:alpha val="35000"/>
            </a:srgbClr>
          </a:solidFill>
          <a:ln/>
        </p:spPr>
      </p:sp>
      <p:sp>
        <p:nvSpPr>
          <p:cNvPr id="6" name="oval-49"/>
          <p:cNvSpPr/>
          <p:nvPr/>
        </p:nvSpPr>
        <p:spPr>
          <a:xfrm>
            <a:off x="781080" y="5753130"/>
            <a:ext cx="57150" cy="57150"/>
          </a:xfrm>
          <a:prstGeom prst="ellipse">
            <a:avLst/>
          </a:prstGeom>
          <a:solidFill>
            <a:srgbClr val="F2B48A">
              <a:alpha val="37000"/>
            </a:srgbClr>
          </a:solidFill>
          <a:ln/>
        </p:spPr>
      </p:sp>
      <p:sp>
        <p:nvSpPr>
          <p:cNvPr id="7" name="oval-50"/>
          <p:cNvSpPr/>
          <p:nvPr/>
        </p:nvSpPr>
        <p:spPr>
          <a:xfrm>
            <a:off x="952530" y="5753130"/>
            <a:ext cx="57150" cy="57150"/>
          </a:xfrm>
          <a:prstGeom prst="ellipse">
            <a:avLst/>
          </a:prstGeom>
          <a:solidFill>
            <a:srgbClr val="F2B48A">
              <a:alpha val="40000"/>
            </a:srgbClr>
          </a:solidFill>
          <a:ln/>
        </p:spPr>
      </p:sp>
      <p:sp>
        <p:nvSpPr>
          <p:cNvPr id="8" name="oval-51"/>
          <p:cNvSpPr/>
          <p:nvPr/>
        </p:nvSpPr>
        <p:spPr>
          <a:xfrm>
            <a:off x="1123980" y="5753130"/>
            <a:ext cx="57150" cy="57150"/>
          </a:xfrm>
          <a:prstGeom prst="ellipse">
            <a:avLst/>
          </a:prstGeom>
          <a:solidFill>
            <a:srgbClr val="F2B48A">
              <a:alpha val="43000"/>
            </a:srgbClr>
          </a:solidFill>
          <a:ln/>
        </p:spPr>
      </p:sp>
      <p:sp>
        <p:nvSpPr>
          <p:cNvPr id="9" name="oval-52"/>
          <p:cNvSpPr/>
          <p:nvPr/>
        </p:nvSpPr>
        <p:spPr>
          <a:xfrm>
            <a:off x="1295430" y="5753130"/>
            <a:ext cx="57150" cy="57150"/>
          </a:xfrm>
          <a:prstGeom prst="ellipse">
            <a:avLst/>
          </a:prstGeom>
          <a:solidFill>
            <a:srgbClr val="F2B48A">
              <a:alpha val="45000"/>
            </a:srgbClr>
          </a:solidFill>
          <a:ln/>
        </p:spPr>
      </p:sp>
      <p:sp>
        <p:nvSpPr>
          <p:cNvPr id="10" name="oval-53"/>
          <p:cNvSpPr/>
          <p:nvPr/>
        </p:nvSpPr>
        <p:spPr>
          <a:xfrm>
            <a:off x="1466880" y="5753130"/>
            <a:ext cx="57150" cy="57150"/>
          </a:xfrm>
          <a:prstGeom prst="ellipse">
            <a:avLst/>
          </a:prstGeom>
          <a:solidFill>
            <a:srgbClr val="F2B48A">
              <a:alpha val="47000"/>
            </a:srgbClr>
          </a:solidFill>
          <a:ln/>
        </p:spPr>
      </p:sp>
      <p:sp>
        <p:nvSpPr>
          <p:cNvPr id="11" name="oval-54"/>
          <p:cNvSpPr/>
          <p:nvPr/>
        </p:nvSpPr>
        <p:spPr>
          <a:xfrm>
            <a:off x="1638330" y="5753130"/>
            <a:ext cx="57150" cy="57150"/>
          </a:xfrm>
          <a:prstGeom prst="ellipse">
            <a:avLst/>
          </a:prstGeom>
          <a:solidFill>
            <a:srgbClr val="F2B48A">
              <a:alpha val="50000"/>
            </a:srgbClr>
          </a:solidFill>
          <a:ln/>
        </p:spPr>
      </p:sp>
      <p:sp>
        <p:nvSpPr>
          <p:cNvPr id="12" name="oval-55"/>
          <p:cNvSpPr/>
          <p:nvPr/>
        </p:nvSpPr>
        <p:spPr>
          <a:xfrm>
            <a:off x="1809780" y="5753130"/>
            <a:ext cx="57150" cy="57150"/>
          </a:xfrm>
          <a:prstGeom prst="ellipse">
            <a:avLst/>
          </a:prstGeom>
          <a:solidFill>
            <a:srgbClr val="F2B48A">
              <a:alpha val="52000"/>
            </a:srgbClr>
          </a:solidFill>
          <a:ln/>
        </p:spPr>
      </p:sp>
      <p:sp>
        <p:nvSpPr>
          <p:cNvPr id="13" name="oval-56"/>
          <p:cNvSpPr/>
          <p:nvPr/>
        </p:nvSpPr>
        <p:spPr>
          <a:xfrm>
            <a:off x="1981230" y="5753130"/>
            <a:ext cx="57150" cy="57150"/>
          </a:xfrm>
          <a:prstGeom prst="ellipse">
            <a:avLst/>
          </a:prstGeom>
          <a:solidFill>
            <a:srgbClr val="F2B48A">
              <a:alpha val="55000"/>
            </a:srgbClr>
          </a:solidFill>
          <a:ln/>
        </p:spPr>
      </p:sp>
      <p:sp>
        <p:nvSpPr>
          <p:cNvPr id="14" name="oval-57"/>
          <p:cNvSpPr/>
          <p:nvPr/>
        </p:nvSpPr>
        <p:spPr>
          <a:xfrm>
            <a:off x="2152680" y="5753130"/>
            <a:ext cx="57150" cy="57150"/>
          </a:xfrm>
          <a:prstGeom prst="ellipse">
            <a:avLst/>
          </a:prstGeom>
          <a:solidFill>
            <a:srgbClr val="F2B48A">
              <a:alpha val="57000"/>
            </a:srgbClr>
          </a:solidFill>
          <a:ln/>
        </p:spPr>
      </p:sp>
      <p:sp>
        <p:nvSpPr>
          <p:cNvPr id="15" name="oval-58"/>
          <p:cNvSpPr/>
          <p:nvPr/>
        </p:nvSpPr>
        <p:spPr>
          <a:xfrm>
            <a:off x="2324130" y="5753130"/>
            <a:ext cx="57150" cy="57150"/>
          </a:xfrm>
          <a:prstGeom prst="ellipse">
            <a:avLst/>
          </a:prstGeom>
          <a:solidFill>
            <a:srgbClr val="F2B48A">
              <a:alpha val="60000"/>
            </a:srgbClr>
          </a:solidFill>
          <a:ln/>
        </p:spPr>
      </p:sp>
      <p:sp>
        <p:nvSpPr>
          <p:cNvPr id="16" name="oval-59"/>
          <p:cNvSpPr/>
          <p:nvPr/>
        </p:nvSpPr>
        <p:spPr>
          <a:xfrm>
            <a:off x="2495580" y="5753130"/>
            <a:ext cx="57150" cy="57150"/>
          </a:xfrm>
          <a:prstGeom prst="ellipse">
            <a:avLst/>
          </a:prstGeom>
          <a:solidFill>
            <a:srgbClr val="F2B48A">
              <a:alpha val="62000"/>
            </a:srgbClr>
          </a:solidFill>
          <a:ln/>
        </p:spPr>
      </p:sp>
      <p:sp>
        <p:nvSpPr>
          <p:cNvPr id="17" name="oval-60"/>
          <p:cNvSpPr/>
          <p:nvPr/>
        </p:nvSpPr>
        <p:spPr>
          <a:xfrm>
            <a:off x="2667030" y="5753130"/>
            <a:ext cx="57150" cy="57150"/>
          </a:xfrm>
          <a:prstGeom prst="ellipse">
            <a:avLst/>
          </a:prstGeom>
          <a:solidFill>
            <a:srgbClr val="F2B48A">
              <a:alpha val="65000"/>
            </a:srgbClr>
          </a:solidFill>
          <a:ln/>
        </p:spPr>
      </p:sp>
      <p:sp>
        <p:nvSpPr>
          <p:cNvPr id="18" name="oval-61"/>
          <p:cNvSpPr/>
          <p:nvPr/>
        </p:nvSpPr>
        <p:spPr>
          <a:xfrm>
            <a:off x="2838480" y="5753130"/>
            <a:ext cx="57150" cy="57150"/>
          </a:xfrm>
          <a:prstGeom prst="ellipse">
            <a:avLst/>
          </a:prstGeom>
          <a:solidFill>
            <a:srgbClr val="F2B48A">
              <a:alpha val="68000"/>
            </a:srgbClr>
          </a:solidFill>
          <a:ln/>
        </p:spPr>
      </p:sp>
      <p:sp>
        <p:nvSpPr>
          <p:cNvPr id="19" name="oval-62"/>
          <p:cNvSpPr/>
          <p:nvPr/>
        </p:nvSpPr>
        <p:spPr>
          <a:xfrm>
            <a:off x="3009930" y="5753130"/>
            <a:ext cx="57150" cy="57150"/>
          </a:xfrm>
          <a:prstGeom prst="ellipse">
            <a:avLst/>
          </a:prstGeom>
          <a:solidFill>
            <a:srgbClr val="F2B48A">
              <a:alpha val="70000"/>
            </a:srgbClr>
          </a:solidFill>
          <a:ln/>
        </p:spPr>
      </p:sp>
      <p:sp>
        <p:nvSpPr>
          <p:cNvPr id="20" name="oval-63"/>
          <p:cNvSpPr/>
          <p:nvPr/>
        </p:nvSpPr>
        <p:spPr>
          <a:xfrm>
            <a:off x="3181380" y="5753130"/>
            <a:ext cx="57150" cy="57150"/>
          </a:xfrm>
          <a:prstGeom prst="ellipse">
            <a:avLst/>
          </a:prstGeom>
          <a:solidFill>
            <a:srgbClr val="F2B48A">
              <a:alpha val="72000"/>
            </a:srgbClr>
          </a:solidFill>
          <a:ln/>
        </p:spPr>
      </p:sp>
      <p:sp>
        <p:nvSpPr>
          <p:cNvPr id="21" name="oval-64"/>
          <p:cNvSpPr/>
          <p:nvPr/>
        </p:nvSpPr>
        <p:spPr>
          <a:xfrm>
            <a:off x="3352830" y="5753130"/>
            <a:ext cx="57150" cy="57150"/>
          </a:xfrm>
          <a:prstGeom prst="ellipse">
            <a:avLst/>
          </a:prstGeom>
          <a:solidFill>
            <a:srgbClr val="F2B48A">
              <a:alpha val="75000"/>
            </a:srgbClr>
          </a:solidFill>
          <a:ln/>
        </p:spPr>
      </p:sp>
      <p:sp>
        <p:nvSpPr>
          <p:cNvPr id="22" name="oval-65"/>
          <p:cNvSpPr/>
          <p:nvPr/>
        </p:nvSpPr>
        <p:spPr>
          <a:xfrm>
            <a:off x="3524280" y="5753130"/>
            <a:ext cx="57150" cy="57150"/>
          </a:xfrm>
          <a:prstGeom prst="ellipse">
            <a:avLst/>
          </a:prstGeom>
          <a:solidFill>
            <a:srgbClr val="F2B48A">
              <a:alpha val="78000"/>
            </a:srgbClr>
          </a:solidFill>
          <a:ln/>
        </p:spPr>
      </p:sp>
      <p:sp>
        <p:nvSpPr>
          <p:cNvPr id="23" name="oval-66"/>
          <p:cNvSpPr/>
          <p:nvPr/>
        </p:nvSpPr>
        <p:spPr>
          <a:xfrm>
            <a:off x="3695730" y="5753130"/>
            <a:ext cx="57150" cy="57150"/>
          </a:xfrm>
          <a:prstGeom prst="ellipse">
            <a:avLst/>
          </a:prstGeom>
          <a:solidFill>
            <a:srgbClr val="F2B48A">
              <a:alpha val="80000"/>
            </a:srgbClr>
          </a:solidFill>
          <a:ln/>
        </p:spPr>
      </p:sp>
      <p:sp>
        <p:nvSpPr>
          <p:cNvPr id="24" name="oval-67"/>
          <p:cNvSpPr/>
          <p:nvPr/>
        </p:nvSpPr>
        <p:spPr>
          <a:xfrm>
            <a:off x="3867180" y="5753130"/>
            <a:ext cx="57150" cy="57150"/>
          </a:xfrm>
          <a:prstGeom prst="ellipse">
            <a:avLst/>
          </a:prstGeom>
          <a:solidFill>
            <a:srgbClr val="F2B48A">
              <a:alpha val="82000"/>
            </a:srgbClr>
          </a:solidFill>
          <a:ln/>
        </p:spPr>
      </p:sp>
      <p:sp>
        <p:nvSpPr>
          <p:cNvPr id="25" name="oval-68"/>
          <p:cNvSpPr/>
          <p:nvPr/>
        </p:nvSpPr>
        <p:spPr>
          <a:xfrm>
            <a:off x="4038630" y="5753130"/>
            <a:ext cx="57150" cy="57150"/>
          </a:xfrm>
          <a:prstGeom prst="ellipse">
            <a:avLst/>
          </a:prstGeom>
          <a:solidFill>
            <a:srgbClr val="F2B48A">
              <a:alpha val="85000"/>
            </a:srgbClr>
          </a:solidFill>
          <a:ln/>
        </p:spPr>
      </p:sp>
      <p:sp>
        <p:nvSpPr>
          <p:cNvPr id="26" name="oval-69"/>
          <p:cNvSpPr/>
          <p:nvPr/>
        </p:nvSpPr>
        <p:spPr>
          <a:xfrm>
            <a:off x="4210080" y="5753130"/>
            <a:ext cx="57150" cy="57150"/>
          </a:xfrm>
          <a:prstGeom prst="ellipse">
            <a:avLst/>
          </a:prstGeom>
          <a:solidFill>
            <a:srgbClr val="F2B48A">
              <a:alpha val="87000"/>
            </a:srgbClr>
          </a:solidFill>
          <a:ln/>
        </p:spPr>
      </p:sp>
      <p:sp>
        <p:nvSpPr>
          <p:cNvPr id="27" name="oval-70"/>
          <p:cNvSpPr/>
          <p:nvPr/>
        </p:nvSpPr>
        <p:spPr>
          <a:xfrm>
            <a:off x="4381530" y="5686471"/>
            <a:ext cx="190470" cy="190470"/>
          </a:xfrm>
          <a:prstGeom prst="ellipse">
            <a:avLst/>
          </a:prstGeom>
          <a:solidFill>
            <a:srgbClr val="F0A35E"/>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71"/>
          <p:cNvSpPr txBox="1"/>
          <p:nvPr/>
        </p:nvSpPr>
        <p:spPr>
          <a:xfrm>
            <a:off x="609630" y="1771650"/>
            <a:ext cx="57150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SO THE KID BECOMES THE GUIDE</a:t>
            </a:r>
            <a:endParaRPr lang="en-US" sz="1013" dirty="0"/>
          </a:p>
        </p:txBody>
      </p:sp>
      <p:sp>
        <p:nvSpPr>
          <p:cNvPr id="3" name="Text 0"/>
          <p:cNvSpPr/>
          <p:nvPr>
            <p:ph idx="100" type="title" hasCustomPrompt="1"/>
          </p:nvPr>
        </p:nvSpPr>
        <p:spPr>
          <a:xfrm>
            <a:off x="609630" y="2038380"/>
            <a:ext cx="5143500" cy="2190720"/>
          </a:xfrm>
          <a:prstGeom prst="rect">
            <a:avLst/>
          </a:prstGeom>
          <a:noFill/>
          <a:ln/>
        </p:spPr>
        <p:txBody>
          <a:bodyPr wrap="square" lIns="0" tIns="0" rIns="0" bIns="0" rtlCol="0" anchor="t"/>
          <a:lstStyle/>
          <a:p>
            <a:pPr algn="l" indent="0" marL="0">
              <a:buNone/>
            </a:pPr>
            <a:r>
              <a:rPr lang="en-US" sz="3000" dirty="0">
                <a:solidFill>
                  <a:srgbClr val="FFFFFF"/>
                </a:solidFill>
                <a:latin typeface="Georgia" pitchFamily="34" charset="0"/>
                <a:ea typeface="Georgia" pitchFamily="34" charset="-122"/>
                <a:cs typeface="Georgia" pitchFamily="34" charset="-120"/>
              </a:rPr>
              <a:t>Finding the deadlines. Reading the forms. Hoping nothing gets missed.</a:t>
            </a:r>
            <a:endParaRPr lang="en-US" sz="3000" dirty="0"/>
          </a:p>
        </p:txBody>
      </p:sp>
      <p:sp>
        <p:nvSpPr>
          <p:cNvPr id="4" name="text-73"/>
          <p:cNvSpPr txBox="1"/>
          <p:nvPr/>
        </p:nvSpPr>
        <p:spPr>
          <a:xfrm>
            <a:off x="609630" y="3695730"/>
            <a:ext cx="4953030" cy="676290"/>
          </a:xfrm>
          <a:prstGeom prst="rect">
            <a:avLst/>
          </a:prstGeom>
          <a:noFill/>
          <a:ln/>
        </p:spPr>
        <p:txBody>
          <a:bodyPr wrap="square" lIns="0" tIns="0" rIns="0" bIns="0" rtlCol="0" anchor="t"/>
          <a:lstStyle/>
          <a:p>
            <a:pPr algn="l" indent="0" marL="0">
              <a:lnSpc>
                <a:spcPct val="145000"/>
              </a:lnSpc>
              <a:buNone/>
            </a:pPr>
            <a:r>
              <a:rPr lang="en-US" sz="1575" dirty="0">
                <a:solidFill>
                  <a:srgbClr val="F6E3D3"/>
                </a:solidFill>
                <a:latin typeface="Arial" pitchFamily="34" charset="0"/>
                <a:ea typeface="Arial" pitchFamily="34" charset="-122"/>
                <a:cs typeface="Arial" pitchFamily="34" charset="-120"/>
              </a:rPr>
              <a:t>These are the words a family meets for the first time, all in the same year.</a:t>
            </a:r>
            <a:endParaRPr lang="en-US" sz="1575" dirty="0"/>
          </a:p>
        </p:txBody>
      </p:sp>
      <p:sp>
        <p:nvSpPr>
          <p:cNvPr id="5" name="rect-74"/>
          <p:cNvSpPr/>
          <p:nvPr/>
        </p:nvSpPr>
        <p:spPr>
          <a:xfrm>
            <a:off x="6210330" y="2190720"/>
            <a:ext cx="771571" cy="419070"/>
          </a:xfrm>
          <a:prstGeom prst="roundRect">
            <a:avLst>
              <a:gd name="adj" fmla="val 50011"/>
            </a:avLst>
          </a:prstGeom>
          <a:solidFill>
            <a:srgbClr val="F0A35E">
              <a:alpha val="22000"/>
            </a:srgbClr>
          </a:solidFill>
          <a:ln w="9525">
            <a:solidFill>
              <a:srgbClr val="FFFFFF">
                <a:alpha val="25000"/>
              </a:srgbClr>
            </a:solidFill>
            <a:prstDash val="solid"/>
          </a:ln>
        </p:spPr>
      </p:sp>
      <p:sp>
        <p:nvSpPr>
          <p:cNvPr id="6" name="text-75"/>
          <p:cNvSpPr txBox="1"/>
          <p:nvPr/>
        </p:nvSpPr>
        <p:spPr>
          <a:xfrm>
            <a:off x="6210330" y="2295510"/>
            <a:ext cx="771571"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FAFSA</a:t>
            </a:r>
            <a:endParaRPr lang="en-US" sz="1275" dirty="0"/>
          </a:p>
        </p:txBody>
      </p:sp>
      <p:sp>
        <p:nvSpPr>
          <p:cNvPr id="7" name="rect-76"/>
          <p:cNvSpPr/>
          <p:nvPr/>
        </p:nvSpPr>
        <p:spPr>
          <a:xfrm>
            <a:off x="7077090" y="2190720"/>
            <a:ext cx="130494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8" name="text-77"/>
          <p:cNvSpPr txBox="1"/>
          <p:nvPr/>
        </p:nvSpPr>
        <p:spPr>
          <a:xfrm>
            <a:off x="7077090" y="2295510"/>
            <a:ext cx="130494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CSS Profile</a:t>
            </a:r>
            <a:endParaRPr lang="en-US" sz="1275" dirty="0"/>
          </a:p>
        </p:txBody>
      </p:sp>
      <p:sp>
        <p:nvSpPr>
          <p:cNvPr id="9" name="rect-78"/>
          <p:cNvSpPr/>
          <p:nvPr/>
        </p:nvSpPr>
        <p:spPr>
          <a:xfrm>
            <a:off x="8477220" y="2190720"/>
            <a:ext cx="1400221"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10" name="text-79"/>
          <p:cNvSpPr txBox="1"/>
          <p:nvPr/>
        </p:nvSpPr>
        <p:spPr>
          <a:xfrm>
            <a:off x="8477220" y="2295510"/>
            <a:ext cx="1400221"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Early Action</a:t>
            </a:r>
            <a:endParaRPr lang="en-US" sz="1275" dirty="0"/>
          </a:p>
        </p:txBody>
      </p:sp>
      <p:sp>
        <p:nvSpPr>
          <p:cNvPr id="11" name="rect-80"/>
          <p:cNvSpPr/>
          <p:nvPr/>
        </p:nvSpPr>
        <p:spPr>
          <a:xfrm>
            <a:off x="9972721" y="2190720"/>
            <a:ext cx="158118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12" name="text-81"/>
          <p:cNvSpPr txBox="1"/>
          <p:nvPr/>
        </p:nvSpPr>
        <p:spPr>
          <a:xfrm>
            <a:off x="9972721" y="2295510"/>
            <a:ext cx="158118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Early Decision</a:t>
            </a:r>
            <a:endParaRPr lang="en-US" sz="1275" dirty="0"/>
          </a:p>
        </p:txBody>
      </p:sp>
      <p:sp>
        <p:nvSpPr>
          <p:cNvPr id="13" name="rect-82"/>
          <p:cNvSpPr/>
          <p:nvPr/>
        </p:nvSpPr>
        <p:spPr>
          <a:xfrm>
            <a:off x="6210330" y="2705070"/>
            <a:ext cx="121917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14" name="text-83"/>
          <p:cNvSpPr txBox="1"/>
          <p:nvPr/>
        </p:nvSpPr>
        <p:spPr>
          <a:xfrm>
            <a:off x="6210330" y="2809860"/>
            <a:ext cx="121917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Pell Grant</a:t>
            </a:r>
            <a:endParaRPr lang="en-US" sz="1275" dirty="0"/>
          </a:p>
        </p:txBody>
      </p:sp>
      <p:sp>
        <p:nvSpPr>
          <p:cNvPr id="15" name="rect-84"/>
          <p:cNvSpPr/>
          <p:nvPr/>
        </p:nvSpPr>
        <p:spPr>
          <a:xfrm>
            <a:off x="7524780" y="2705070"/>
            <a:ext cx="121917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16" name="text-85"/>
          <p:cNvSpPr txBox="1"/>
          <p:nvPr/>
        </p:nvSpPr>
        <p:spPr>
          <a:xfrm>
            <a:off x="7524780" y="2809860"/>
            <a:ext cx="121917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Work-study</a:t>
            </a:r>
            <a:endParaRPr lang="en-US" sz="1275" dirty="0"/>
          </a:p>
        </p:txBody>
      </p:sp>
      <p:sp>
        <p:nvSpPr>
          <p:cNvPr id="17" name="rect-86"/>
          <p:cNvSpPr/>
          <p:nvPr/>
        </p:nvSpPr>
        <p:spPr>
          <a:xfrm>
            <a:off x="8839230" y="2705070"/>
            <a:ext cx="113349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18" name="text-87"/>
          <p:cNvSpPr txBox="1"/>
          <p:nvPr/>
        </p:nvSpPr>
        <p:spPr>
          <a:xfrm>
            <a:off x="8839230" y="2809860"/>
            <a:ext cx="113349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Merit aid</a:t>
            </a:r>
            <a:endParaRPr lang="en-US" sz="1275" dirty="0"/>
          </a:p>
        </p:txBody>
      </p:sp>
      <p:sp>
        <p:nvSpPr>
          <p:cNvPr id="19" name="rect-88"/>
          <p:cNvSpPr/>
          <p:nvPr/>
        </p:nvSpPr>
        <p:spPr>
          <a:xfrm>
            <a:off x="10067910" y="2705070"/>
            <a:ext cx="1133490" cy="419070"/>
          </a:xfrm>
          <a:prstGeom prst="roundRect">
            <a:avLst>
              <a:gd name="adj" fmla="val 50011"/>
            </a:avLst>
          </a:prstGeom>
          <a:solidFill>
            <a:srgbClr val="F0A35E">
              <a:alpha val="22000"/>
            </a:srgbClr>
          </a:solidFill>
          <a:ln w="9525">
            <a:solidFill>
              <a:srgbClr val="FFFFFF">
                <a:alpha val="25000"/>
              </a:srgbClr>
            </a:solidFill>
            <a:prstDash val="solid"/>
          </a:ln>
        </p:spPr>
      </p:sp>
      <p:sp>
        <p:nvSpPr>
          <p:cNvPr id="20" name="text-89"/>
          <p:cNvSpPr txBox="1"/>
          <p:nvPr/>
        </p:nvSpPr>
        <p:spPr>
          <a:xfrm>
            <a:off x="10067910" y="2809860"/>
            <a:ext cx="113349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Net price</a:t>
            </a:r>
            <a:endParaRPr lang="en-US" sz="1275" dirty="0"/>
          </a:p>
        </p:txBody>
      </p:sp>
      <p:sp>
        <p:nvSpPr>
          <p:cNvPr id="21" name="rect-90"/>
          <p:cNvSpPr/>
          <p:nvPr/>
        </p:nvSpPr>
        <p:spPr>
          <a:xfrm>
            <a:off x="6210330" y="3219420"/>
            <a:ext cx="148590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22" name="text-91"/>
          <p:cNvSpPr txBox="1"/>
          <p:nvPr/>
        </p:nvSpPr>
        <p:spPr>
          <a:xfrm>
            <a:off x="6210330" y="3324210"/>
            <a:ext cx="148590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Priority date</a:t>
            </a:r>
            <a:endParaRPr lang="en-US" sz="1275" dirty="0"/>
          </a:p>
        </p:txBody>
      </p:sp>
      <p:sp>
        <p:nvSpPr>
          <p:cNvPr id="23" name="rect-92"/>
          <p:cNvSpPr/>
          <p:nvPr/>
        </p:nvSpPr>
        <p:spPr>
          <a:xfrm>
            <a:off x="7791420" y="3219420"/>
            <a:ext cx="1400221"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24" name="text-93"/>
          <p:cNvSpPr txBox="1"/>
          <p:nvPr/>
        </p:nvSpPr>
        <p:spPr>
          <a:xfrm>
            <a:off x="7791420" y="3324210"/>
            <a:ext cx="1400221"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Award letter</a:t>
            </a:r>
            <a:endParaRPr lang="en-US" sz="1275" dirty="0"/>
          </a:p>
        </p:txBody>
      </p:sp>
      <p:sp>
        <p:nvSpPr>
          <p:cNvPr id="25" name="rect-94"/>
          <p:cNvSpPr/>
          <p:nvPr/>
        </p:nvSpPr>
        <p:spPr>
          <a:xfrm>
            <a:off x="9286921" y="3219420"/>
            <a:ext cx="1666860" cy="419070"/>
          </a:xfrm>
          <a:prstGeom prst="roundRect">
            <a:avLst>
              <a:gd name="adj" fmla="val 50011"/>
            </a:avLst>
          </a:prstGeom>
          <a:solidFill>
            <a:srgbClr val="F0A35E">
              <a:alpha val="22000"/>
            </a:srgbClr>
          </a:solidFill>
          <a:ln w="9525">
            <a:solidFill>
              <a:srgbClr val="FFFFFF">
                <a:alpha val="25000"/>
              </a:srgbClr>
            </a:solidFill>
            <a:prstDash val="solid"/>
          </a:ln>
        </p:spPr>
      </p:sp>
      <p:sp>
        <p:nvSpPr>
          <p:cNvPr id="26" name="text-95"/>
          <p:cNvSpPr txBox="1"/>
          <p:nvPr/>
        </p:nvSpPr>
        <p:spPr>
          <a:xfrm>
            <a:off x="9286921" y="3324210"/>
            <a:ext cx="166686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Subsidized loan</a:t>
            </a:r>
            <a:endParaRPr lang="en-US" sz="1275" dirty="0"/>
          </a:p>
        </p:txBody>
      </p:sp>
      <p:sp>
        <p:nvSpPr>
          <p:cNvPr id="27" name="rect-96"/>
          <p:cNvSpPr/>
          <p:nvPr/>
        </p:nvSpPr>
        <p:spPr>
          <a:xfrm>
            <a:off x="6210330" y="3733770"/>
            <a:ext cx="175263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28" name="text-97"/>
          <p:cNvSpPr txBox="1"/>
          <p:nvPr/>
        </p:nvSpPr>
        <p:spPr>
          <a:xfrm>
            <a:off x="6210330" y="3838560"/>
            <a:ext cx="175263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Parent PLUS loan</a:t>
            </a:r>
            <a:endParaRPr lang="en-US" sz="1275" dirty="0"/>
          </a:p>
        </p:txBody>
      </p:sp>
      <p:sp>
        <p:nvSpPr>
          <p:cNvPr id="29" name="rect-98"/>
          <p:cNvSpPr/>
          <p:nvPr/>
        </p:nvSpPr>
        <p:spPr>
          <a:xfrm>
            <a:off x="8058150" y="3733770"/>
            <a:ext cx="1752630" cy="419070"/>
          </a:xfrm>
          <a:prstGeom prst="roundRect">
            <a:avLst>
              <a:gd name="adj" fmla="val 50011"/>
            </a:avLst>
          </a:prstGeom>
          <a:solidFill>
            <a:srgbClr val="F0A35E">
              <a:alpha val="22000"/>
            </a:srgbClr>
          </a:solidFill>
          <a:ln w="9525">
            <a:solidFill>
              <a:srgbClr val="FFFFFF">
                <a:alpha val="25000"/>
              </a:srgbClr>
            </a:solidFill>
            <a:prstDash val="solid"/>
          </a:ln>
        </p:spPr>
      </p:sp>
      <p:sp>
        <p:nvSpPr>
          <p:cNvPr id="30" name="text-99"/>
          <p:cNvSpPr txBox="1"/>
          <p:nvPr/>
        </p:nvSpPr>
        <p:spPr>
          <a:xfrm>
            <a:off x="8058150" y="3838560"/>
            <a:ext cx="175263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Supplement essay</a:t>
            </a:r>
            <a:endParaRPr lang="en-US" sz="1275" dirty="0"/>
          </a:p>
        </p:txBody>
      </p:sp>
      <p:sp>
        <p:nvSpPr>
          <p:cNvPr id="31" name="rect-100"/>
          <p:cNvSpPr/>
          <p:nvPr/>
        </p:nvSpPr>
        <p:spPr>
          <a:xfrm>
            <a:off x="6210330" y="4248120"/>
            <a:ext cx="2200321" cy="419070"/>
          </a:xfrm>
          <a:prstGeom prst="roundRect">
            <a:avLst>
              <a:gd name="adj" fmla="val 50011"/>
            </a:avLst>
          </a:prstGeom>
          <a:solidFill>
            <a:srgbClr val="F0A35E">
              <a:alpha val="22000"/>
            </a:srgbClr>
          </a:solidFill>
          <a:ln w="9525">
            <a:solidFill>
              <a:srgbClr val="FFFFFF">
                <a:alpha val="25000"/>
              </a:srgbClr>
            </a:solidFill>
            <a:prstDash val="solid"/>
          </a:ln>
        </p:spPr>
      </p:sp>
      <p:sp>
        <p:nvSpPr>
          <p:cNvPr id="32" name="text-101"/>
          <p:cNvSpPr txBox="1"/>
          <p:nvPr/>
        </p:nvSpPr>
        <p:spPr>
          <a:xfrm>
            <a:off x="6210330" y="4352910"/>
            <a:ext cx="2200321"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Recommendation letter</a:t>
            </a:r>
            <a:endParaRPr lang="en-US" sz="1275" dirty="0"/>
          </a:p>
        </p:txBody>
      </p:sp>
      <p:sp>
        <p:nvSpPr>
          <p:cNvPr id="33" name="rect-102"/>
          <p:cNvSpPr/>
          <p:nvPr/>
        </p:nvSpPr>
        <p:spPr>
          <a:xfrm>
            <a:off x="8505840" y="4248120"/>
            <a:ext cx="1219170"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34" name="text-103"/>
          <p:cNvSpPr txBox="1"/>
          <p:nvPr/>
        </p:nvSpPr>
        <p:spPr>
          <a:xfrm>
            <a:off x="8505840" y="4352910"/>
            <a:ext cx="1219170"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Superscore</a:t>
            </a:r>
            <a:endParaRPr lang="en-US" sz="1275" dirty="0"/>
          </a:p>
        </p:txBody>
      </p:sp>
      <p:sp>
        <p:nvSpPr>
          <p:cNvPr id="35" name="rect-104"/>
          <p:cNvSpPr/>
          <p:nvPr/>
        </p:nvSpPr>
        <p:spPr>
          <a:xfrm>
            <a:off x="9820290" y="4248120"/>
            <a:ext cx="1400221" cy="419070"/>
          </a:xfrm>
          <a:prstGeom prst="roundRect">
            <a:avLst>
              <a:gd name="adj" fmla="val 50011"/>
            </a:avLst>
          </a:prstGeom>
          <a:solidFill>
            <a:srgbClr val="FFFFFF">
              <a:alpha val="8000"/>
            </a:srgbClr>
          </a:solidFill>
          <a:ln w="9525">
            <a:solidFill>
              <a:srgbClr val="FFFFFF">
                <a:alpha val="25000"/>
              </a:srgbClr>
            </a:solidFill>
            <a:prstDash val="solid"/>
          </a:ln>
        </p:spPr>
      </p:sp>
      <p:sp>
        <p:nvSpPr>
          <p:cNvPr id="36" name="text-105"/>
          <p:cNvSpPr txBox="1"/>
          <p:nvPr/>
        </p:nvSpPr>
        <p:spPr>
          <a:xfrm>
            <a:off x="9820290" y="4352910"/>
            <a:ext cx="1400221" cy="209580"/>
          </a:xfrm>
          <a:prstGeom prst="rect">
            <a:avLst/>
          </a:prstGeom>
          <a:noFill/>
          <a:ln/>
        </p:spPr>
        <p:txBody>
          <a:bodyPr wrap="square" lIns="0" tIns="0" rIns="0" bIns="0" rtlCol="0" anchor="t"/>
          <a:lstStyle/>
          <a:p>
            <a:pPr algn="ctr" indent="0" marL="0">
              <a:lnSpc>
                <a:spcPct val="120000"/>
              </a:lnSpc>
              <a:buNone/>
            </a:pPr>
            <a:r>
              <a:rPr lang="en-US" sz="1275" dirty="0">
                <a:solidFill>
                  <a:srgbClr val="FFFFFF"/>
                </a:solidFill>
                <a:latin typeface="Arial" pitchFamily="34" charset="0"/>
                <a:ea typeface="Arial" pitchFamily="34" charset="-122"/>
                <a:cs typeface="Arial" pitchFamily="34" charset="-120"/>
              </a:rPr>
              <a:t>Verification</a:t>
            </a:r>
            <a:endParaRPr lang="en-US" sz="1275"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106"/>
          <p:cNvSpPr txBox="1"/>
          <p:nvPr/>
        </p:nvSpPr>
        <p:spPr>
          <a:xfrm>
            <a:off x="609630" y="1771650"/>
            <a:ext cx="85725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WHY WE'RE BUILDING SCHOLARCREW</a:t>
            </a:r>
            <a:endParaRPr lang="en-US" sz="1013" dirty="0"/>
          </a:p>
        </p:txBody>
      </p:sp>
      <p:sp>
        <p:nvSpPr>
          <p:cNvPr id="3" name="Text 0"/>
          <p:cNvSpPr/>
          <p:nvPr>
            <p:ph idx="100" type="title" hasCustomPrompt="1"/>
          </p:nvPr>
        </p:nvSpPr>
        <p:spPr>
          <a:xfrm>
            <a:off x="609630" y="2038380"/>
            <a:ext cx="10972800" cy="2000250"/>
          </a:xfrm>
          <a:prstGeom prst="rect">
            <a:avLst/>
          </a:prstGeom>
          <a:noFill/>
          <a:ln/>
        </p:spPr>
        <p:txBody>
          <a:bodyPr wrap="square" lIns="0" tIns="0" rIns="0" bIns="0" rtlCol="0" anchor="t"/>
          <a:lstStyle/>
          <a:p>
            <a:pPr algn="l" indent="0" marL="0">
              <a:buNone/>
            </a:pPr>
            <a:r>
              <a:rPr lang="en-US" sz="4200" dirty="0">
                <a:solidFill>
                  <a:srgbClr val="FFFFFF"/>
                </a:solidFill>
                <a:latin typeface="Georgia" pitchFamily="34" charset="0"/>
                <a:ea typeface="Georgia" pitchFamily="34" charset="-122"/>
                <a:cs typeface="Georgia" pitchFamily="34" charset="-120"/>
              </a:rPr>
              <a:t>Caring was never the problem. Knowing where to start was.</a:t>
            </a:r>
            <a:endParaRPr lang="en-US" sz="4200" dirty="0"/>
          </a:p>
        </p:txBody>
      </p:sp>
      <p:sp>
        <p:nvSpPr>
          <p:cNvPr id="4" name="text-108"/>
          <p:cNvSpPr txBox="1"/>
          <p:nvPr/>
        </p:nvSpPr>
        <p:spPr>
          <a:xfrm>
            <a:off x="609630" y="3600450"/>
            <a:ext cx="8572500" cy="809610"/>
          </a:xfrm>
          <a:prstGeom prst="rect">
            <a:avLst/>
          </a:prstGeom>
          <a:noFill/>
          <a:ln/>
        </p:spPr>
        <p:txBody>
          <a:bodyPr wrap="square" lIns="0" tIns="0" rIns="0" bIns="0" rtlCol="0" anchor="t"/>
          <a:lstStyle/>
          <a:p>
            <a:pPr algn="l" indent="0" marL="0">
              <a:lnSpc>
                <a:spcPct val="145000"/>
              </a:lnSpc>
              <a:buNone/>
            </a:pPr>
            <a:r>
              <a:rPr lang="en-US" sz="1950" dirty="0">
                <a:solidFill>
                  <a:srgbClr val="F6E3D3"/>
                </a:solidFill>
                <a:latin typeface="Arial" pitchFamily="34" charset="0"/>
                <a:ea typeface="Arial" pitchFamily="34" charset="-122"/>
                <a:cs typeface="Arial" pitchFamily="34" charset="-120"/>
              </a:rPr>
              <a:t>So we're building a crew that turns all of it into one plan a student can follow, and a family can follow along with.</a:t>
            </a:r>
            <a:endParaRPr lang="en-US" sz="1950" dirty="0"/>
          </a:p>
        </p:txBody>
      </p:sp>
      <p:sp>
        <p:nvSpPr>
          <p:cNvPr id="5" name="oval-109"/>
          <p:cNvSpPr/>
          <p:nvPr/>
        </p:nvSpPr>
        <p:spPr>
          <a:xfrm>
            <a:off x="609630" y="5753130"/>
            <a:ext cx="57150" cy="57150"/>
          </a:xfrm>
          <a:prstGeom prst="ellipse">
            <a:avLst/>
          </a:prstGeom>
          <a:solidFill>
            <a:srgbClr val="F2B48A">
              <a:alpha val="35000"/>
            </a:srgbClr>
          </a:solidFill>
          <a:ln/>
        </p:spPr>
      </p:sp>
      <p:sp>
        <p:nvSpPr>
          <p:cNvPr id="6" name="oval-110"/>
          <p:cNvSpPr/>
          <p:nvPr/>
        </p:nvSpPr>
        <p:spPr>
          <a:xfrm>
            <a:off x="781080" y="5753130"/>
            <a:ext cx="57150" cy="57150"/>
          </a:xfrm>
          <a:prstGeom prst="ellipse">
            <a:avLst/>
          </a:prstGeom>
          <a:solidFill>
            <a:srgbClr val="F2B48A">
              <a:alpha val="37000"/>
            </a:srgbClr>
          </a:solidFill>
          <a:ln/>
        </p:spPr>
      </p:sp>
      <p:sp>
        <p:nvSpPr>
          <p:cNvPr id="7" name="oval-111"/>
          <p:cNvSpPr/>
          <p:nvPr/>
        </p:nvSpPr>
        <p:spPr>
          <a:xfrm>
            <a:off x="952530" y="5753130"/>
            <a:ext cx="57150" cy="57150"/>
          </a:xfrm>
          <a:prstGeom prst="ellipse">
            <a:avLst/>
          </a:prstGeom>
          <a:solidFill>
            <a:srgbClr val="F2B48A">
              <a:alpha val="40000"/>
            </a:srgbClr>
          </a:solidFill>
          <a:ln/>
        </p:spPr>
      </p:sp>
      <p:sp>
        <p:nvSpPr>
          <p:cNvPr id="8" name="oval-112"/>
          <p:cNvSpPr/>
          <p:nvPr/>
        </p:nvSpPr>
        <p:spPr>
          <a:xfrm>
            <a:off x="1123980" y="5753130"/>
            <a:ext cx="57150" cy="57150"/>
          </a:xfrm>
          <a:prstGeom prst="ellipse">
            <a:avLst/>
          </a:prstGeom>
          <a:solidFill>
            <a:srgbClr val="F2B48A">
              <a:alpha val="43000"/>
            </a:srgbClr>
          </a:solidFill>
          <a:ln/>
        </p:spPr>
      </p:sp>
      <p:sp>
        <p:nvSpPr>
          <p:cNvPr id="9" name="oval-113"/>
          <p:cNvSpPr/>
          <p:nvPr/>
        </p:nvSpPr>
        <p:spPr>
          <a:xfrm>
            <a:off x="1295430" y="5753130"/>
            <a:ext cx="57150" cy="57150"/>
          </a:xfrm>
          <a:prstGeom prst="ellipse">
            <a:avLst/>
          </a:prstGeom>
          <a:solidFill>
            <a:srgbClr val="F2B48A">
              <a:alpha val="45000"/>
            </a:srgbClr>
          </a:solidFill>
          <a:ln/>
        </p:spPr>
      </p:sp>
      <p:sp>
        <p:nvSpPr>
          <p:cNvPr id="10" name="oval-114"/>
          <p:cNvSpPr/>
          <p:nvPr/>
        </p:nvSpPr>
        <p:spPr>
          <a:xfrm>
            <a:off x="1466880" y="5753130"/>
            <a:ext cx="57150" cy="57150"/>
          </a:xfrm>
          <a:prstGeom prst="ellipse">
            <a:avLst/>
          </a:prstGeom>
          <a:solidFill>
            <a:srgbClr val="F2B48A">
              <a:alpha val="47000"/>
            </a:srgbClr>
          </a:solidFill>
          <a:ln/>
        </p:spPr>
      </p:sp>
      <p:sp>
        <p:nvSpPr>
          <p:cNvPr id="11" name="oval-115"/>
          <p:cNvSpPr/>
          <p:nvPr/>
        </p:nvSpPr>
        <p:spPr>
          <a:xfrm>
            <a:off x="1638330" y="5753130"/>
            <a:ext cx="57150" cy="57150"/>
          </a:xfrm>
          <a:prstGeom prst="ellipse">
            <a:avLst/>
          </a:prstGeom>
          <a:solidFill>
            <a:srgbClr val="F2B48A">
              <a:alpha val="50000"/>
            </a:srgbClr>
          </a:solidFill>
          <a:ln/>
        </p:spPr>
      </p:sp>
      <p:sp>
        <p:nvSpPr>
          <p:cNvPr id="12" name="oval-116"/>
          <p:cNvSpPr/>
          <p:nvPr/>
        </p:nvSpPr>
        <p:spPr>
          <a:xfrm>
            <a:off x="1809780" y="5753130"/>
            <a:ext cx="57150" cy="57150"/>
          </a:xfrm>
          <a:prstGeom prst="ellipse">
            <a:avLst/>
          </a:prstGeom>
          <a:solidFill>
            <a:srgbClr val="F2B48A">
              <a:alpha val="52000"/>
            </a:srgbClr>
          </a:solidFill>
          <a:ln/>
        </p:spPr>
      </p:sp>
      <p:sp>
        <p:nvSpPr>
          <p:cNvPr id="13" name="oval-117"/>
          <p:cNvSpPr/>
          <p:nvPr/>
        </p:nvSpPr>
        <p:spPr>
          <a:xfrm>
            <a:off x="1981230" y="5753130"/>
            <a:ext cx="57150" cy="57150"/>
          </a:xfrm>
          <a:prstGeom prst="ellipse">
            <a:avLst/>
          </a:prstGeom>
          <a:solidFill>
            <a:srgbClr val="F2B48A">
              <a:alpha val="55000"/>
            </a:srgbClr>
          </a:solidFill>
          <a:ln/>
        </p:spPr>
      </p:sp>
      <p:sp>
        <p:nvSpPr>
          <p:cNvPr id="14" name="oval-118"/>
          <p:cNvSpPr/>
          <p:nvPr/>
        </p:nvSpPr>
        <p:spPr>
          <a:xfrm>
            <a:off x="2152680" y="5753130"/>
            <a:ext cx="57150" cy="57150"/>
          </a:xfrm>
          <a:prstGeom prst="ellipse">
            <a:avLst/>
          </a:prstGeom>
          <a:solidFill>
            <a:srgbClr val="F2B48A">
              <a:alpha val="57000"/>
            </a:srgbClr>
          </a:solidFill>
          <a:ln/>
        </p:spPr>
      </p:sp>
      <p:sp>
        <p:nvSpPr>
          <p:cNvPr id="15" name="oval-119"/>
          <p:cNvSpPr/>
          <p:nvPr/>
        </p:nvSpPr>
        <p:spPr>
          <a:xfrm>
            <a:off x="2324130" y="5753130"/>
            <a:ext cx="57150" cy="57150"/>
          </a:xfrm>
          <a:prstGeom prst="ellipse">
            <a:avLst/>
          </a:prstGeom>
          <a:solidFill>
            <a:srgbClr val="F2B48A">
              <a:alpha val="60000"/>
            </a:srgbClr>
          </a:solidFill>
          <a:ln/>
        </p:spPr>
      </p:sp>
      <p:sp>
        <p:nvSpPr>
          <p:cNvPr id="16" name="oval-120"/>
          <p:cNvSpPr/>
          <p:nvPr/>
        </p:nvSpPr>
        <p:spPr>
          <a:xfrm>
            <a:off x="2495580" y="5753130"/>
            <a:ext cx="57150" cy="57150"/>
          </a:xfrm>
          <a:prstGeom prst="ellipse">
            <a:avLst/>
          </a:prstGeom>
          <a:solidFill>
            <a:srgbClr val="F2B48A">
              <a:alpha val="62000"/>
            </a:srgbClr>
          </a:solidFill>
          <a:ln/>
        </p:spPr>
      </p:sp>
      <p:sp>
        <p:nvSpPr>
          <p:cNvPr id="17" name="oval-121"/>
          <p:cNvSpPr/>
          <p:nvPr/>
        </p:nvSpPr>
        <p:spPr>
          <a:xfrm>
            <a:off x="2667030" y="5753130"/>
            <a:ext cx="57150" cy="57150"/>
          </a:xfrm>
          <a:prstGeom prst="ellipse">
            <a:avLst/>
          </a:prstGeom>
          <a:solidFill>
            <a:srgbClr val="F2B48A">
              <a:alpha val="65000"/>
            </a:srgbClr>
          </a:solidFill>
          <a:ln/>
        </p:spPr>
      </p:sp>
      <p:sp>
        <p:nvSpPr>
          <p:cNvPr id="18" name="oval-122"/>
          <p:cNvSpPr/>
          <p:nvPr/>
        </p:nvSpPr>
        <p:spPr>
          <a:xfrm>
            <a:off x="2838480" y="5753130"/>
            <a:ext cx="57150" cy="57150"/>
          </a:xfrm>
          <a:prstGeom prst="ellipse">
            <a:avLst/>
          </a:prstGeom>
          <a:solidFill>
            <a:srgbClr val="F2B48A">
              <a:alpha val="68000"/>
            </a:srgbClr>
          </a:solidFill>
          <a:ln/>
        </p:spPr>
      </p:sp>
      <p:sp>
        <p:nvSpPr>
          <p:cNvPr id="19" name="oval-123"/>
          <p:cNvSpPr/>
          <p:nvPr/>
        </p:nvSpPr>
        <p:spPr>
          <a:xfrm>
            <a:off x="3009930" y="5753130"/>
            <a:ext cx="57150" cy="57150"/>
          </a:xfrm>
          <a:prstGeom prst="ellipse">
            <a:avLst/>
          </a:prstGeom>
          <a:solidFill>
            <a:srgbClr val="F2B48A">
              <a:alpha val="70000"/>
            </a:srgbClr>
          </a:solidFill>
          <a:ln/>
        </p:spPr>
      </p:sp>
      <p:sp>
        <p:nvSpPr>
          <p:cNvPr id="20" name="oval-124"/>
          <p:cNvSpPr/>
          <p:nvPr/>
        </p:nvSpPr>
        <p:spPr>
          <a:xfrm>
            <a:off x="3181380" y="5753130"/>
            <a:ext cx="57150" cy="57150"/>
          </a:xfrm>
          <a:prstGeom prst="ellipse">
            <a:avLst/>
          </a:prstGeom>
          <a:solidFill>
            <a:srgbClr val="F2B48A">
              <a:alpha val="72000"/>
            </a:srgbClr>
          </a:solidFill>
          <a:ln/>
        </p:spPr>
      </p:sp>
      <p:sp>
        <p:nvSpPr>
          <p:cNvPr id="21" name="oval-125"/>
          <p:cNvSpPr/>
          <p:nvPr/>
        </p:nvSpPr>
        <p:spPr>
          <a:xfrm>
            <a:off x="3352830" y="5753130"/>
            <a:ext cx="57150" cy="57150"/>
          </a:xfrm>
          <a:prstGeom prst="ellipse">
            <a:avLst/>
          </a:prstGeom>
          <a:solidFill>
            <a:srgbClr val="F2B48A">
              <a:alpha val="75000"/>
            </a:srgbClr>
          </a:solidFill>
          <a:ln/>
        </p:spPr>
      </p:sp>
      <p:sp>
        <p:nvSpPr>
          <p:cNvPr id="22" name="oval-126"/>
          <p:cNvSpPr/>
          <p:nvPr/>
        </p:nvSpPr>
        <p:spPr>
          <a:xfrm>
            <a:off x="3524280" y="5753130"/>
            <a:ext cx="57150" cy="57150"/>
          </a:xfrm>
          <a:prstGeom prst="ellipse">
            <a:avLst/>
          </a:prstGeom>
          <a:solidFill>
            <a:srgbClr val="F2B48A">
              <a:alpha val="78000"/>
            </a:srgbClr>
          </a:solidFill>
          <a:ln/>
        </p:spPr>
      </p:sp>
      <p:sp>
        <p:nvSpPr>
          <p:cNvPr id="23" name="oval-127"/>
          <p:cNvSpPr/>
          <p:nvPr/>
        </p:nvSpPr>
        <p:spPr>
          <a:xfrm>
            <a:off x="3695730" y="5753130"/>
            <a:ext cx="57150" cy="57150"/>
          </a:xfrm>
          <a:prstGeom prst="ellipse">
            <a:avLst/>
          </a:prstGeom>
          <a:solidFill>
            <a:srgbClr val="F2B48A">
              <a:alpha val="80000"/>
            </a:srgbClr>
          </a:solidFill>
          <a:ln/>
        </p:spPr>
      </p:sp>
      <p:sp>
        <p:nvSpPr>
          <p:cNvPr id="24" name="oval-128"/>
          <p:cNvSpPr/>
          <p:nvPr/>
        </p:nvSpPr>
        <p:spPr>
          <a:xfrm>
            <a:off x="3867180" y="5753130"/>
            <a:ext cx="57150" cy="57150"/>
          </a:xfrm>
          <a:prstGeom prst="ellipse">
            <a:avLst/>
          </a:prstGeom>
          <a:solidFill>
            <a:srgbClr val="F2B48A">
              <a:alpha val="82000"/>
            </a:srgbClr>
          </a:solidFill>
          <a:ln/>
        </p:spPr>
      </p:sp>
      <p:sp>
        <p:nvSpPr>
          <p:cNvPr id="25" name="oval-129"/>
          <p:cNvSpPr/>
          <p:nvPr/>
        </p:nvSpPr>
        <p:spPr>
          <a:xfrm>
            <a:off x="4038630" y="5753130"/>
            <a:ext cx="57150" cy="57150"/>
          </a:xfrm>
          <a:prstGeom prst="ellipse">
            <a:avLst/>
          </a:prstGeom>
          <a:solidFill>
            <a:srgbClr val="F2B48A">
              <a:alpha val="85000"/>
            </a:srgbClr>
          </a:solidFill>
          <a:ln/>
        </p:spPr>
      </p:sp>
      <p:sp>
        <p:nvSpPr>
          <p:cNvPr id="26" name="oval-130"/>
          <p:cNvSpPr/>
          <p:nvPr/>
        </p:nvSpPr>
        <p:spPr>
          <a:xfrm>
            <a:off x="4210080" y="5753130"/>
            <a:ext cx="57150" cy="57150"/>
          </a:xfrm>
          <a:prstGeom prst="ellipse">
            <a:avLst/>
          </a:prstGeom>
          <a:solidFill>
            <a:srgbClr val="F2B48A">
              <a:alpha val="87000"/>
            </a:srgbClr>
          </a:solidFill>
          <a:ln/>
        </p:spPr>
      </p:sp>
      <p:sp>
        <p:nvSpPr>
          <p:cNvPr id="27" name="oval-131"/>
          <p:cNvSpPr/>
          <p:nvPr/>
        </p:nvSpPr>
        <p:spPr>
          <a:xfrm>
            <a:off x="4381530" y="5686471"/>
            <a:ext cx="190470" cy="190470"/>
          </a:xfrm>
          <a:prstGeom prst="ellipse">
            <a:avLst/>
          </a:prstGeom>
          <a:solidFill>
            <a:srgbClr val="F0A35E"/>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132"/>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THE PROBLEM</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College comes with no manual</a:t>
            </a:r>
            <a:endParaRPr lang="en-US" sz="3600" dirty="0"/>
          </a:p>
        </p:txBody>
      </p:sp>
      <p:sp>
        <p:nvSpPr>
          <p:cNvPr id="4" name="text-134"/>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Every family faces it. First-generation families face it with the least help.</a:t>
            </a:r>
            <a:endParaRPr lang="en-US" sz="1575" dirty="0"/>
          </a:p>
        </p:txBody>
      </p:sp>
      <p:sp>
        <p:nvSpPr>
          <p:cNvPr id="5" name="rect-135"/>
          <p:cNvSpPr/>
          <p:nvPr/>
        </p:nvSpPr>
        <p:spPr>
          <a:xfrm>
            <a:off x="609630" y="190497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36"/>
          <p:cNvSpPr/>
          <p:nvPr/>
        </p:nvSpPr>
        <p:spPr>
          <a:xfrm>
            <a:off x="857250" y="2152680"/>
            <a:ext cx="323880" cy="323880"/>
          </a:xfrm>
          <a:prstGeom prst="ellipse">
            <a:avLst/>
          </a:prstGeom>
          <a:solidFill>
            <a:srgbClr val="E9EEF5"/>
          </a:solidFill>
          <a:ln/>
        </p:spPr>
      </p:sp>
      <p:sp>
        <p:nvSpPr>
          <p:cNvPr id="7" name="text-137"/>
          <p:cNvSpPr txBox="1"/>
          <p:nvPr/>
        </p:nvSpPr>
        <p:spPr>
          <a:xfrm>
            <a:off x="85725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1</a:t>
            </a:r>
            <a:endParaRPr lang="en-US" sz="1125" dirty="0"/>
          </a:p>
        </p:txBody>
      </p:sp>
      <p:sp>
        <p:nvSpPr>
          <p:cNvPr id="8" name="text-138"/>
          <p:cNvSpPr txBox="1"/>
          <p:nvPr/>
        </p:nvSpPr>
        <p:spPr>
          <a:xfrm>
            <a:off x="857250" y="2628900"/>
            <a:ext cx="4876770" cy="32388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One counselor, hundreds of students</a:t>
            </a:r>
            <a:endParaRPr lang="en-US" sz="1800" dirty="0"/>
          </a:p>
        </p:txBody>
      </p:sp>
      <p:sp>
        <p:nvSpPr>
          <p:cNvPr id="9" name="text-139"/>
          <p:cNvSpPr txBox="1"/>
          <p:nvPr/>
        </p:nvSpPr>
        <p:spPr>
          <a:xfrm>
            <a:off x="857250" y="3009930"/>
            <a:ext cx="4876770" cy="81912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Most students plan alone, and advice arrives after early deadlines have passed.</a:t>
            </a:r>
            <a:endParaRPr lang="en-US" sz="1463" dirty="0"/>
          </a:p>
        </p:txBody>
      </p:sp>
      <p:sp>
        <p:nvSpPr>
          <p:cNvPr id="10" name="rect-140"/>
          <p:cNvSpPr/>
          <p:nvPr/>
        </p:nvSpPr>
        <p:spPr>
          <a:xfrm>
            <a:off x="6210330" y="190497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41"/>
          <p:cNvSpPr/>
          <p:nvPr/>
        </p:nvSpPr>
        <p:spPr>
          <a:xfrm>
            <a:off x="6457950" y="2152680"/>
            <a:ext cx="323880" cy="323880"/>
          </a:xfrm>
          <a:prstGeom prst="ellipse">
            <a:avLst/>
          </a:prstGeom>
          <a:solidFill>
            <a:srgbClr val="E9EEF5"/>
          </a:solidFill>
          <a:ln/>
        </p:spPr>
      </p:sp>
      <p:sp>
        <p:nvSpPr>
          <p:cNvPr id="12" name="text-142"/>
          <p:cNvSpPr txBox="1"/>
          <p:nvPr/>
        </p:nvSpPr>
        <p:spPr>
          <a:xfrm>
            <a:off x="645795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2</a:t>
            </a:r>
            <a:endParaRPr lang="en-US" sz="1125" dirty="0"/>
          </a:p>
        </p:txBody>
      </p:sp>
      <p:sp>
        <p:nvSpPr>
          <p:cNvPr id="13" name="text-143"/>
          <p:cNvSpPr txBox="1"/>
          <p:nvPr/>
        </p:nvSpPr>
        <p:spPr>
          <a:xfrm>
            <a:off x="6457950" y="2628900"/>
            <a:ext cx="4876770" cy="32388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Money hides in five places</a:t>
            </a:r>
            <a:endParaRPr lang="en-US" sz="1800" dirty="0"/>
          </a:p>
        </p:txBody>
      </p:sp>
      <p:sp>
        <p:nvSpPr>
          <p:cNvPr id="14" name="text-144"/>
          <p:cNvSpPr txBox="1"/>
          <p:nvPr/>
        </p:nvSpPr>
        <p:spPr>
          <a:xfrm>
            <a:off x="6457950" y="3009930"/>
            <a:ext cx="4876770" cy="81912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Local scholarships, state grants, merit aid, aid forms, and award letters each have their own rules.</a:t>
            </a:r>
            <a:endParaRPr lang="en-US" sz="1463" dirty="0"/>
          </a:p>
        </p:txBody>
      </p:sp>
      <p:sp>
        <p:nvSpPr>
          <p:cNvPr id="15" name="rect-145"/>
          <p:cNvSpPr/>
          <p:nvPr/>
        </p:nvSpPr>
        <p:spPr>
          <a:xfrm>
            <a:off x="609630" y="422910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46"/>
          <p:cNvSpPr/>
          <p:nvPr/>
        </p:nvSpPr>
        <p:spPr>
          <a:xfrm>
            <a:off x="857250" y="4476720"/>
            <a:ext cx="323880" cy="323880"/>
          </a:xfrm>
          <a:prstGeom prst="ellipse">
            <a:avLst/>
          </a:prstGeom>
          <a:solidFill>
            <a:srgbClr val="E9EEF5"/>
          </a:solidFill>
          <a:ln/>
        </p:spPr>
      </p:sp>
      <p:sp>
        <p:nvSpPr>
          <p:cNvPr id="17" name="text-147"/>
          <p:cNvSpPr txBox="1"/>
          <p:nvPr/>
        </p:nvSpPr>
        <p:spPr>
          <a:xfrm>
            <a:off x="857250" y="45434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3</a:t>
            </a:r>
            <a:endParaRPr lang="en-US" sz="1125" dirty="0"/>
          </a:p>
        </p:txBody>
      </p:sp>
      <p:sp>
        <p:nvSpPr>
          <p:cNvPr id="18" name="text-148"/>
          <p:cNvSpPr txBox="1"/>
          <p:nvPr/>
        </p:nvSpPr>
        <p:spPr>
          <a:xfrm>
            <a:off x="857250" y="4953030"/>
            <a:ext cx="4876770" cy="32388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Listings go stale, and some are scams</a:t>
            </a:r>
            <a:endParaRPr lang="en-US" sz="1800" dirty="0"/>
          </a:p>
        </p:txBody>
      </p:sp>
      <p:sp>
        <p:nvSpPr>
          <p:cNvPr id="19" name="text-149"/>
          <p:cNvSpPr txBox="1"/>
          <p:nvPr/>
        </p:nvSpPr>
        <p:spPr>
          <a:xfrm>
            <a:off x="857250" y="5333970"/>
            <a:ext cx="4876770" cy="81912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Deadlines move, links die, and 'guaranteed money' sites charge fees or sell contact details.</a:t>
            </a:r>
            <a:endParaRPr lang="en-US" sz="1463" dirty="0"/>
          </a:p>
        </p:txBody>
      </p:sp>
      <p:sp>
        <p:nvSpPr>
          <p:cNvPr id="20" name="rect-150"/>
          <p:cNvSpPr/>
          <p:nvPr/>
        </p:nvSpPr>
        <p:spPr>
          <a:xfrm>
            <a:off x="6210330" y="422910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51"/>
          <p:cNvSpPr/>
          <p:nvPr/>
        </p:nvSpPr>
        <p:spPr>
          <a:xfrm>
            <a:off x="6457950" y="4476720"/>
            <a:ext cx="323880" cy="323880"/>
          </a:xfrm>
          <a:prstGeom prst="ellipse">
            <a:avLst/>
          </a:prstGeom>
          <a:solidFill>
            <a:srgbClr val="E9EEF5"/>
          </a:solidFill>
          <a:ln/>
        </p:spPr>
      </p:sp>
      <p:sp>
        <p:nvSpPr>
          <p:cNvPr id="22" name="text-152"/>
          <p:cNvSpPr txBox="1"/>
          <p:nvPr/>
        </p:nvSpPr>
        <p:spPr>
          <a:xfrm>
            <a:off x="6457950" y="45434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4</a:t>
            </a:r>
            <a:endParaRPr lang="en-US" sz="1125" dirty="0"/>
          </a:p>
        </p:txBody>
      </p:sp>
      <p:sp>
        <p:nvSpPr>
          <p:cNvPr id="23" name="text-153"/>
          <p:cNvSpPr txBox="1"/>
          <p:nvPr/>
        </p:nvSpPr>
        <p:spPr>
          <a:xfrm>
            <a:off x="6457950" y="4953030"/>
            <a:ext cx="4876770" cy="32388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Award letters blur aid with debt</a:t>
            </a:r>
            <a:endParaRPr lang="en-US" sz="1800" dirty="0"/>
          </a:p>
        </p:txBody>
      </p:sp>
      <p:sp>
        <p:nvSpPr>
          <p:cNvPr id="24" name="text-154"/>
          <p:cNvSpPr txBox="1"/>
          <p:nvPr/>
        </p:nvSpPr>
        <p:spPr>
          <a:xfrm>
            <a:off x="6457950" y="5333970"/>
            <a:ext cx="4876770" cy="81912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Loans and work-study can fill the gap, and a year-1-only grant hides a jump in year 2.</a:t>
            </a:r>
            <a:endParaRPr lang="en-US" sz="146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155"/>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WHAT STUDENTS NEED EVERY WEEK</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Four questions, answered every week</a:t>
            </a:r>
            <a:endParaRPr lang="en-US" sz="3600" dirty="0"/>
          </a:p>
        </p:txBody>
      </p:sp>
      <p:sp>
        <p:nvSpPr>
          <p:cNvPr id="4" name="text-157"/>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Everything the crew does is aimed at shrinking the gap.</a:t>
            </a:r>
            <a:endParaRPr lang="en-US" sz="1575" dirty="0"/>
          </a:p>
        </p:txBody>
      </p:sp>
      <p:sp>
        <p:nvSpPr>
          <p:cNvPr id="5" name="rect-158"/>
          <p:cNvSpPr/>
          <p:nvPr/>
        </p:nvSpPr>
        <p:spPr>
          <a:xfrm>
            <a:off x="609630" y="190497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59"/>
          <p:cNvSpPr/>
          <p:nvPr/>
        </p:nvSpPr>
        <p:spPr>
          <a:xfrm>
            <a:off x="857250" y="2181210"/>
            <a:ext cx="114300" cy="114300"/>
          </a:xfrm>
          <a:prstGeom prst="ellipse">
            <a:avLst/>
          </a:prstGeom>
          <a:solidFill>
            <a:srgbClr val="EB6834"/>
          </a:solidFill>
          <a:ln/>
        </p:spPr>
      </p:sp>
      <p:sp>
        <p:nvSpPr>
          <p:cNvPr id="7" name="text-160"/>
          <p:cNvSpPr txBox="1"/>
          <p:nvPr/>
        </p:nvSpPr>
        <p:spPr>
          <a:xfrm>
            <a:off x="1047720" y="2152680"/>
            <a:ext cx="285750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SCOUT</a:t>
            </a:r>
            <a:endParaRPr lang="en-US" sz="1013" dirty="0"/>
          </a:p>
        </p:txBody>
      </p:sp>
      <p:sp>
        <p:nvSpPr>
          <p:cNvPr id="8" name="text-161"/>
          <p:cNvSpPr txBox="1"/>
          <p:nvPr/>
        </p:nvSpPr>
        <p:spPr>
          <a:xfrm>
            <a:off x="857250" y="2476470"/>
            <a:ext cx="4876770" cy="60963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Which scholarships should I apply to this week?</a:t>
            </a:r>
            <a:endParaRPr lang="en-US" sz="1800" dirty="0"/>
          </a:p>
        </p:txBody>
      </p:sp>
      <p:sp>
        <p:nvSpPr>
          <p:cNvPr id="9" name="text-162"/>
          <p:cNvSpPr txBox="1"/>
          <p:nvPr/>
        </p:nvSpPr>
        <p:spPr>
          <a:xfrm>
            <a:off x="857250" y="3143250"/>
            <a:ext cx="4876770" cy="68580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Verified listings you qualify for, ranked by dollars per hour of effort.</a:t>
            </a:r>
            <a:endParaRPr lang="en-US" sz="1463" dirty="0"/>
          </a:p>
        </p:txBody>
      </p:sp>
      <p:sp>
        <p:nvSpPr>
          <p:cNvPr id="10" name="rect-163"/>
          <p:cNvSpPr/>
          <p:nvPr/>
        </p:nvSpPr>
        <p:spPr>
          <a:xfrm>
            <a:off x="6210330" y="190497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64"/>
          <p:cNvSpPr/>
          <p:nvPr/>
        </p:nvSpPr>
        <p:spPr>
          <a:xfrm>
            <a:off x="6457950" y="2181210"/>
            <a:ext cx="114300" cy="114300"/>
          </a:xfrm>
          <a:prstGeom prst="ellipse">
            <a:avLst/>
          </a:prstGeom>
          <a:solidFill>
            <a:srgbClr val="EDA100"/>
          </a:solidFill>
          <a:ln/>
        </p:spPr>
      </p:sp>
      <p:sp>
        <p:nvSpPr>
          <p:cNvPr id="12" name="text-165"/>
          <p:cNvSpPr txBox="1"/>
          <p:nvPr/>
        </p:nvSpPr>
        <p:spPr>
          <a:xfrm>
            <a:off x="6648420" y="2152680"/>
            <a:ext cx="285750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QUILL</a:t>
            </a:r>
            <a:endParaRPr lang="en-US" sz="1013" dirty="0"/>
          </a:p>
        </p:txBody>
      </p:sp>
      <p:sp>
        <p:nvSpPr>
          <p:cNvPr id="13" name="text-166"/>
          <p:cNvSpPr txBox="1"/>
          <p:nvPr/>
        </p:nvSpPr>
        <p:spPr>
          <a:xfrm>
            <a:off x="6457950" y="2476470"/>
            <a:ext cx="4876770" cy="60963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Which essays do I need, and which stories fit?</a:t>
            </a:r>
            <a:endParaRPr lang="en-US" sz="1800" dirty="0"/>
          </a:p>
        </p:txBody>
      </p:sp>
      <p:sp>
        <p:nvSpPr>
          <p:cNvPr id="14" name="text-167"/>
          <p:cNvSpPr txBox="1"/>
          <p:nvPr/>
        </p:nvSpPr>
        <p:spPr>
          <a:xfrm>
            <a:off x="6457950" y="3143250"/>
            <a:ext cx="4876770" cy="68580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Prompts matched to stories you've already told, in your own words.</a:t>
            </a:r>
            <a:endParaRPr lang="en-US" sz="1463" dirty="0"/>
          </a:p>
        </p:txBody>
      </p:sp>
      <p:sp>
        <p:nvSpPr>
          <p:cNvPr id="15" name="rect-168"/>
          <p:cNvSpPr/>
          <p:nvPr/>
        </p:nvSpPr>
        <p:spPr>
          <a:xfrm>
            <a:off x="609630" y="422910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69"/>
          <p:cNvSpPr/>
          <p:nvPr/>
        </p:nvSpPr>
        <p:spPr>
          <a:xfrm>
            <a:off x="857250" y="4505340"/>
            <a:ext cx="114300" cy="114300"/>
          </a:xfrm>
          <a:prstGeom prst="ellipse">
            <a:avLst/>
          </a:prstGeom>
          <a:solidFill>
            <a:srgbClr val="1BAF7A"/>
          </a:solidFill>
          <a:ln/>
        </p:spPr>
      </p:sp>
      <p:sp>
        <p:nvSpPr>
          <p:cNvPr id="17" name="text-170"/>
          <p:cNvSpPr txBox="1"/>
          <p:nvPr/>
        </p:nvSpPr>
        <p:spPr>
          <a:xfrm>
            <a:off x="1047720" y="4476720"/>
            <a:ext cx="285750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ATLAS</a:t>
            </a:r>
            <a:endParaRPr lang="en-US" sz="1013" dirty="0"/>
          </a:p>
        </p:txBody>
      </p:sp>
      <p:sp>
        <p:nvSpPr>
          <p:cNvPr id="18" name="text-171"/>
          <p:cNvSpPr txBox="1"/>
          <p:nvPr/>
        </p:nvSpPr>
        <p:spPr>
          <a:xfrm>
            <a:off x="857250" y="4800600"/>
            <a:ext cx="4876770" cy="32388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What's due soon?</a:t>
            </a:r>
            <a:endParaRPr lang="en-US" sz="1800" dirty="0"/>
          </a:p>
        </p:txBody>
      </p:sp>
      <p:sp>
        <p:nvSpPr>
          <p:cNvPr id="19" name="text-172"/>
          <p:cNvSpPr txBox="1"/>
          <p:nvPr/>
        </p:nvSpPr>
        <p:spPr>
          <a:xfrm>
            <a:off x="857250" y="5181630"/>
            <a:ext cx="4876770" cy="97155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Admissions, FAFSA and CSS Profile, and scholarship deadlines in one calendar.</a:t>
            </a:r>
            <a:endParaRPr lang="en-US" sz="1463" dirty="0"/>
          </a:p>
        </p:txBody>
      </p:sp>
      <p:sp>
        <p:nvSpPr>
          <p:cNvPr id="20" name="rect-173"/>
          <p:cNvSpPr/>
          <p:nvPr/>
        </p:nvSpPr>
        <p:spPr>
          <a:xfrm>
            <a:off x="6210330" y="4229100"/>
            <a:ext cx="537210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74"/>
          <p:cNvSpPr/>
          <p:nvPr/>
        </p:nvSpPr>
        <p:spPr>
          <a:xfrm>
            <a:off x="6457950" y="4505340"/>
            <a:ext cx="114300" cy="114300"/>
          </a:xfrm>
          <a:prstGeom prst="ellipse">
            <a:avLst/>
          </a:prstGeom>
          <a:solidFill>
            <a:srgbClr val="008300"/>
          </a:solidFill>
          <a:ln/>
        </p:spPr>
      </p:sp>
      <p:sp>
        <p:nvSpPr>
          <p:cNvPr id="22" name="text-175"/>
          <p:cNvSpPr txBox="1"/>
          <p:nvPr/>
        </p:nvSpPr>
        <p:spPr>
          <a:xfrm>
            <a:off x="6648420" y="4476720"/>
            <a:ext cx="285750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LEDGER</a:t>
            </a:r>
            <a:endParaRPr lang="en-US" sz="1013" dirty="0"/>
          </a:p>
        </p:txBody>
      </p:sp>
      <p:sp>
        <p:nvSpPr>
          <p:cNvPr id="23" name="text-176"/>
          <p:cNvSpPr txBox="1"/>
          <p:nvPr/>
        </p:nvSpPr>
        <p:spPr>
          <a:xfrm>
            <a:off x="6457950" y="4800600"/>
            <a:ext cx="4876770" cy="609630"/>
          </a:xfrm>
          <a:prstGeom prst="rect">
            <a:avLst/>
          </a:prstGeom>
          <a:noFill/>
          <a:ln/>
        </p:spPr>
        <p:txBody>
          <a:bodyPr wrap="square" lIns="0" tIns="0" rIns="0" bIns="0" rtlCol="0" anchor="t"/>
          <a:lstStyle/>
          <a:p>
            <a:pPr algn="l" indent="0" marL="0">
              <a:lnSpc>
                <a:spcPct val="125000"/>
              </a:lnSpc>
              <a:buNone/>
            </a:pPr>
            <a:r>
              <a:rPr lang="en-US" sz="1800" b="1" dirty="0">
                <a:solidFill>
                  <a:srgbClr val="14202F"/>
                </a:solidFill>
                <a:latin typeface="Arial" pitchFamily="34" charset="0"/>
                <a:ea typeface="Arial" pitchFamily="34" charset="-122"/>
                <a:cs typeface="Arial" pitchFamily="34" charset="-120"/>
              </a:rPr>
              <a:t>How much will each school really cost me?</a:t>
            </a:r>
            <a:endParaRPr lang="en-US" sz="1800" dirty="0"/>
          </a:p>
        </p:txBody>
      </p:sp>
      <p:sp>
        <p:nvSpPr>
          <p:cNvPr id="24" name="text-177"/>
          <p:cNvSpPr txBox="1"/>
          <p:nvPr/>
        </p:nvSpPr>
        <p:spPr>
          <a:xfrm>
            <a:off x="6457950" y="5467380"/>
            <a:ext cx="4876770" cy="685800"/>
          </a:xfrm>
          <a:prstGeom prst="rect">
            <a:avLst/>
          </a:prstGeom>
          <a:noFill/>
          <a:ln/>
        </p:spPr>
        <p:txBody>
          <a:bodyPr wrap="square" lIns="0" tIns="0" rIns="0" bIns="0" rtlCol="0" anchor="t"/>
          <a:lstStyle/>
          <a:p>
            <a:pPr algn="l" indent="0" marL="0">
              <a:lnSpc>
                <a:spcPct val="142000"/>
              </a:lnSpc>
              <a:buNone/>
            </a:pPr>
            <a:r>
              <a:rPr lang="en-US" sz="1463" dirty="0">
                <a:solidFill>
                  <a:srgbClr val="3B4555"/>
                </a:solidFill>
                <a:latin typeface="Arial" pitchFamily="34" charset="0"/>
                <a:ea typeface="Arial" pitchFamily="34" charset="-122"/>
                <a:cs typeface="Arial" pitchFamily="34" charset="-120"/>
              </a:rPr>
              <a:t>The gap: cost to attend minus free money, per school, calculated by code.</a:t>
            </a:r>
            <a:endParaRPr lang="en-US" sz="146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178"/>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THE CREW</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Eight specialists, one answer</a:t>
            </a:r>
            <a:endParaRPr lang="en-US" sz="3600" dirty="0"/>
          </a:p>
        </p:txBody>
      </p:sp>
      <p:sp>
        <p:nvSpPr>
          <p:cNvPr id="4" name="text-180"/>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Compass leads. Each specialist has a narrow job and only the data it needs.</a:t>
            </a:r>
            <a:endParaRPr lang="en-US" sz="1575" dirty="0"/>
          </a:p>
        </p:txBody>
      </p:sp>
      <p:sp>
        <p:nvSpPr>
          <p:cNvPr id="5" name="rect-181"/>
          <p:cNvSpPr/>
          <p:nvPr/>
        </p:nvSpPr>
        <p:spPr>
          <a:xfrm>
            <a:off x="609630" y="1904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82"/>
          <p:cNvSpPr/>
          <p:nvPr/>
        </p:nvSpPr>
        <p:spPr>
          <a:xfrm>
            <a:off x="819120" y="2152680"/>
            <a:ext cx="152430" cy="152430"/>
          </a:xfrm>
          <a:prstGeom prst="ellipse">
            <a:avLst/>
          </a:prstGeom>
          <a:solidFill>
            <a:srgbClr val="2A78D6"/>
          </a:solidFill>
          <a:ln/>
        </p:spPr>
      </p:sp>
      <p:sp>
        <p:nvSpPr>
          <p:cNvPr id="7" name="text-183"/>
          <p:cNvSpPr txBox="1"/>
          <p:nvPr/>
        </p:nvSpPr>
        <p:spPr>
          <a:xfrm>
            <a:off x="1066830" y="2095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Compass</a:t>
            </a:r>
            <a:endParaRPr lang="en-US" sz="1875" dirty="0"/>
          </a:p>
        </p:txBody>
      </p:sp>
      <p:sp>
        <p:nvSpPr>
          <p:cNvPr id="8" name="text-184"/>
          <p:cNvSpPr txBox="1"/>
          <p:nvPr/>
        </p:nvSpPr>
        <p:spPr>
          <a:xfrm>
            <a:off x="819120" y="2457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COORDINATOR</a:t>
            </a:r>
            <a:endParaRPr lang="en-US" sz="938" dirty="0"/>
          </a:p>
        </p:txBody>
      </p:sp>
      <p:sp>
        <p:nvSpPr>
          <p:cNvPr id="9" name="text-185"/>
          <p:cNvSpPr txBox="1"/>
          <p:nvPr/>
        </p:nvSpPr>
        <p:spPr>
          <a:xfrm>
            <a:off x="819120" y="2743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Plans the week, asks the specialists it needs, and writes the one answer you see.</a:t>
            </a:r>
            <a:endParaRPr lang="en-US" sz="1275" dirty="0"/>
          </a:p>
        </p:txBody>
      </p:sp>
      <p:sp>
        <p:nvSpPr>
          <p:cNvPr id="10" name="rect-186"/>
          <p:cNvSpPr/>
          <p:nvPr/>
        </p:nvSpPr>
        <p:spPr>
          <a:xfrm>
            <a:off x="3405226" y="1904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87"/>
          <p:cNvSpPr/>
          <p:nvPr/>
        </p:nvSpPr>
        <p:spPr>
          <a:xfrm>
            <a:off x="3614715" y="2152680"/>
            <a:ext cx="152430" cy="152430"/>
          </a:xfrm>
          <a:prstGeom prst="ellipse">
            <a:avLst/>
          </a:prstGeom>
          <a:solidFill>
            <a:srgbClr val="EB6834"/>
          </a:solidFill>
          <a:ln/>
        </p:spPr>
      </p:sp>
      <p:sp>
        <p:nvSpPr>
          <p:cNvPr id="12" name="text-188"/>
          <p:cNvSpPr txBox="1"/>
          <p:nvPr/>
        </p:nvSpPr>
        <p:spPr>
          <a:xfrm>
            <a:off x="3862426" y="2095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Scout</a:t>
            </a:r>
            <a:endParaRPr lang="en-US" sz="1875" dirty="0"/>
          </a:p>
        </p:txBody>
      </p:sp>
      <p:sp>
        <p:nvSpPr>
          <p:cNvPr id="13" name="text-189"/>
          <p:cNvSpPr txBox="1"/>
          <p:nvPr/>
        </p:nvSpPr>
        <p:spPr>
          <a:xfrm>
            <a:off x="3614715" y="2457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SCHOLARSHIPS</a:t>
            </a:r>
            <a:endParaRPr lang="en-US" sz="938" dirty="0"/>
          </a:p>
        </p:txBody>
      </p:sp>
      <p:sp>
        <p:nvSpPr>
          <p:cNvPr id="14" name="text-190"/>
          <p:cNvSpPr txBox="1"/>
          <p:nvPr/>
        </p:nvSpPr>
        <p:spPr>
          <a:xfrm>
            <a:off x="3614715" y="2743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Matches with reasons, value per hour, eligibility unknowns, and scam screening.</a:t>
            </a:r>
            <a:endParaRPr lang="en-US" sz="1275" dirty="0"/>
          </a:p>
        </p:txBody>
      </p:sp>
      <p:sp>
        <p:nvSpPr>
          <p:cNvPr id="15" name="rect-191"/>
          <p:cNvSpPr/>
          <p:nvPr/>
        </p:nvSpPr>
        <p:spPr>
          <a:xfrm>
            <a:off x="6200821" y="1904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92"/>
          <p:cNvSpPr/>
          <p:nvPr/>
        </p:nvSpPr>
        <p:spPr>
          <a:xfrm>
            <a:off x="6410310" y="2152680"/>
            <a:ext cx="152430" cy="152430"/>
          </a:xfrm>
          <a:prstGeom prst="ellipse">
            <a:avLst/>
          </a:prstGeom>
          <a:solidFill>
            <a:srgbClr val="1BAF7A"/>
          </a:solidFill>
          <a:ln/>
        </p:spPr>
      </p:sp>
      <p:sp>
        <p:nvSpPr>
          <p:cNvPr id="17" name="text-193"/>
          <p:cNvSpPr txBox="1"/>
          <p:nvPr/>
        </p:nvSpPr>
        <p:spPr>
          <a:xfrm>
            <a:off x="6658021" y="2095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Atlas</a:t>
            </a:r>
            <a:endParaRPr lang="en-US" sz="1875" dirty="0"/>
          </a:p>
        </p:txBody>
      </p:sp>
      <p:sp>
        <p:nvSpPr>
          <p:cNvPr id="18" name="text-194"/>
          <p:cNvSpPr txBox="1"/>
          <p:nvPr/>
        </p:nvSpPr>
        <p:spPr>
          <a:xfrm>
            <a:off x="6410310" y="2457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ADMISSIONS</a:t>
            </a:r>
            <a:endParaRPr lang="en-US" sz="938" dirty="0"/>
          </a:p>
        </p:txBody>
      </p:sp>
      <p:sp>
        <p:nvSpPr>
          <p:cNvPr id="19" name="text-195"/>
          <p:cNvSpPr txBox="1"/>
          <p:nvPr/>
        </p:nvSpPr>
        <p:spPr>
          <a:xfrm>
            <a:off x="6410310" y="2743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College list balance, requirements, deadlines, test policy, and recommenders.</a:t>
            </a:r>
            <a:endParaRPr lang="en-US" sz="1275" dirty="0"/>
          </a:p>
        </p:txBody>
      </p:sp>
      <p:sp>
        <p:nvSpPr>
          <p:cNvPr id="20" name="rect-196"/>
          <p:cNvSpPr/>
          <p:nvPr/>
        </p:nvSpPr>
        <p:spPr>
          <a:xfrm>
            <a:off x="8996324" y="1904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97"/>
          <p:cNvSpPr/>
          <p:nvPr/>
        </p:nvSpPr>
        <p:spPr>
          <a:xfrm>
            <a:off x="9205905" y="2152680"/>
            <a:ext cx="152430" cy="152430"/>
          </a:xfrm>
          <a:prstGeom prst="ellipse">
            <a:avLst/>
          </a:prstGeom>
          <a:solidFill>
            <a:srgbClr val="EDA100"/>
          </a:solidFill>
          <a:ln/>
        </p:spPr>
      </p:sp>
      <p:sp>
        <p:nvSpPr>
          <p:cNvPr id="22" name="text-198"/>
          <p:cNvSpPr txBox="1"/>
          <p:nvPr/>
        </p:nvSpPr>
        <p:spPr>
          <a:xfrm>
            <a:off x="9453524" y="2095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Quill</a:t>
            </a:r>
            <a:endParaRPr lang="en-US" sz="1875" dirty="0"/>
          </a:p>
        </p:txBody>
      </p:sp>
      <p:sp>
        <p:nvSpPr>
          <p:cNvPr id="23" name="text-199"/>
          <p:cNvSpPr txBox="1"/>
          <p:nvPr/>
        </p:nvSpPr>
        <p:spPr>
          <a:xfrm>
            <a:off x="9205905" y="2457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ESSAYS</a:t>
            </a:r>
            <a:endParaRPr lang="en-US" sz="938" dirty="0"/>
          </a:p>
        </p:txBody>
      </p:sp>
      <p:sp>
        <p:nvSpPr>
          <p:cNvPr id="24" name="text-200"/>
          <p:cNvSpPr txBox="1"/>
          <p:nvPr/>
        </p:nvSpPr>
        <p:spPr>
          <a:xfrm>
            <a:off x="9205905" y="2743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Story Bank, story matching, and questions about your draft. Never writes the essay.</a:t>
            </a:r>
            <a:endParaRPr lang="en-US" sz="1275" dirty="0"/>
          </a:p>
        </p:txBody>
      </p:sp>
      <p:sp>
        <p:nvSpPr>
          <p:cNvPr id="25" name="rect-201"/>
          <p:cNvSpPr/>
          <p:nvPr/>
        </p:nvSpPr>
        <p:spPr>
          <a:xfrm>
            <a:off x="609630" y="4190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oval-202"/>
          <p:cNvSpPr/>
          <p:nvPr/>
        </p:nvSpPr>
        <p:spPr>
          <a:xfrm>
            <a:off x="819120" y="4438680"/>
            <a:ext cx="152430" cy="152430"/>
          </a:xfrm>
          <a:prstGeom prst="ellipse">
            <a:avLst/>
          </a:prstGeom>
          <a:solidFill>
            <a:srgbClr val="E87BA4"/>
          </a:solidFill>
          <a:ln/>
        </p:spPr>
      </p:sp>
      <p:sp>
        <p:nvSpPr>
          <p:cNvPr id="27" name="text-203"/>
          <p:cNvSpPr txBox="1"/>
          <p:nvPr/>
        </p:nvSpPr>
        <p:spPr>
          <a:xfrm>
            <a:off x="1066830" y="4381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Aid</a:t>
            </a:r>
            <a:endParaRPr lang="en-US" sz="1875" dirty="0"/>
          </a:p>
        </p:txBody>
      </p:sp>
      <p:sp>
        <p:nvSpPr>
          <p:cNvPr id="28" name="text-204"/>
          <p:cNvSpPr txBox="1"/>
          <p:nvPr/>
        </p:nvSpPr>
        <p:spPr>
          <a:xfrm>
            <a:off x="819120" y="4743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FINANCIAL AID</a:t>
            </a:r>
            <a:endParaRPr lang="en-US" sz="938" dirty="0"/>
          </a:p>
        </p:txBody>
      </p:sp>
      <p:sp>
        <p:nvSpPr>
          <p:cNvPr id="29" name="text-205"/>
          <p:cNvSpPr txBox="1"/>
          <p:nvPr/>
        </p:nvSpPr>
        <p:spPr>
          <a:xfrm>
            <a:off x="819120" y="5029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FAFSA and CSS checklists, award letters, appeals, and special circumstances.</a:t>
            </a:r>
            <a:endParaRPr lang="en-US" sz="1275" dirty="0"/>
          </a:p>
        </p:txBody>
      </p:sp>
      <p:sp>
        <p:nvSpPr>
          <p:cNvPr id="30" name="rect-206"/>
          <p:cNvSpPr/>
          <p:nvPr/>
        </p:nvSpPr>
        <p:spPr>
          <a:xfrm>
            <a:off x="3405226" y="4190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1" name="oval-207"/>
          <p:cNvSpPr/>
          <p:nvPr/>
        </p:nvSpPr>
        <p:spPr>
          <a:xfrm>
            <a:off x="3614715" y="4438680"/>
            <a:ext cx="152430" cy="152430"/>
          </a:xfrm>
          <a:prstGeom prst="ellipse">
            <a:avLst/>
          </a:prstGeom>
          <a:solidFill>
            <a:srgbClr val="008300"/>
          </a:solidFill>
          <a:ln/>
        </p:spPr>
      </p:sp>
      <p:sp>
        <p:nvSpPr>
          <p:cNvPr id="32" name="text-208"/>
          <p:cNvSpPr txBox="1"/>
          <p:nvPr/>
        </p:nvSpPr>
        <p:spPr>
          <a:xfrm>
            <a:off x="3862426" y="4381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Ledger</a:t>
            </a:r>
            <a:endParaRPr lang="en-US" sz="1875" dirty="0"/>
          </a:p>
        </p:txBody>
      </p:sp>
      <p:sp>
        <p:nvSpPr>
          <p:cNvPr id="33" name="text-209"/>
          <p:cNvSpPr txBox="1"/>
          <p:nvPr/>
        </p:nvSpPr>
        <p:spPr>
          <a:xfrm>
            <a:off x="3614715" y="4743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MONEY MATH</a:t>
            </a:r>
            <a:endParaRPr lang="en-US" sz="938" dirty="0"/>
          </a:p>
        </p:txBody>
      </p:sp>
      <p:sp>
        <p:nvSpPr>
          <p:cNvPr id="34" name="text-210"/>
          <p:cNvSpPr txBox="1"/>
          <p:nvPr/>
        </p:nvSpPr>
        <p:spPr>
          <a:xfrm>
            <a:off x="3614715" y="5029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Net cost, the gap, offer comparisons, and loan payments, all calculated by code.</a:t>
            </a:r>
            <a:endParaRPr lang="en-US" sz="1275" dirty="0"/>
          </a:p>
        </p:txBody>
      </p:sp>
      <p:sp>
        <p:nvSpPr>
          <p:cNvPr id="35" name="rect-211"/>
          <p:cNvSpPr/>
          <p:nvPr/>
        </p:nvSpPr>
        <p:spPr>
          <a:xfrm>
            <a:off x="6200821" y="4190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6" name="oval-212"/>
          <p:cNvSpPr/>
          <p:nvPr/>
        </p:nvSpPr>
        <p:spPr>
          <a:xfrm>
            <a:off x="6410310" y="4438680"/>
            <a:ext cx="152430" cy="152430"/>
          </a:xfrm>
          <a:prstGeom prst="ellipse">
            <a:avLst/>
          </a:prstGeom>
          <a:solidFill>
            <a:srgbClr val="4A3AA7"/>
          </a:solidFill>
          <a:ln/>
        </p:spPr>
      </p:sp>
      <p:sp>
        <p:nvSpPr>
          <p:cNvPr id="37" name="text-213"/>
          <p:cNvSpPr txBox="1"/>
          <p:nvPr/>
        </p:nvSpPr>
        <p:spPr>
          <a:xfrm>
            <a:off x="6658021" y="4381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Prep</a:t>
            </a:r>
            <a:endParaRPr lang="en-US" sz="1875" dirty="0"/>
          </a:p>
        </p:txBody>
      </p:sp>
      <p:sp>
        <p:nvSpPr>
          <p:cNvPr id="38" name="text-214"/>
          <p:cNvSpPr txBox="1"/>
          <p:nvPr/>
        </p:nvSpPr>
        <p:spPr>
          <a:xfrm>
            <a:off x="6410310" y="4743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TEST PREP</a:t>
            </a:r>
            <a:endParaRPr lang="en-US" sz="938" dirty="0"/>
          </a:p>
        </p:txBody>
      </p:sp>
      <p:sp>
        <p:nvSpPr>
          <p:cNvPr id="39" name="text-215"/>
          <p:cNvSpPr txBox="1"/>
          <p:nvPr/>
        </p:nvSpPr>
        <p:spPr>
          <a:xfrm>
            <a:off x="6410310" y="5029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ACT, SAT and PSAT scores, superscores, and whether a retake pays. Optional.</a:t>
            </a:r>
            <a:endParaRPr lang="en-US" sz="1275" dirty="0"/>
          </a:p>
        </p:txBody>
      </p:sp>
      <p:sp>
        <p:nvSpPr>
          <p:cNvPr id="40" name="rect-216"/>
          <p:cNvSpPr/>
          <p:nvPr/>
        </p:nvSpPr>
        <p:spPr>
          <a:xfrm>
            <a:off x="8996324" y="4190970"/>
            <a:ext cx="2586015" cy="2076420"/>
          </a:xfrm>
          <a:prstGeom prst="roundRect">
            <a:avLst>
              <a:gd name="adj" fmla="val 7341"/>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41" name="oval-217"/>
          <p:cNvSpPr/>
          <p:nvPr/>
        </p:nvSpPr>
        <p:spPr>
          <a:xfrm>
            <a:off x="9205905" y="4438680"/>
            <a:ext cx="152430" cy="152430"/>
          </a:xfrm>
          <a:prstGeom prst="ellipse">
            <a:avLst/>
          </a:prstGeom>
          <a:solidFill>
            <a:srgbClr val="E34948"/>
          </a:solidFill>
          <a:ln/>
        </p:spPr>
      </p:sp>
      <p:sp>
        <p:nvSpPr>
          <p:cNvPr id="42" name="text-218"/>
          <p:cNvSpPr txBox="1"/>
          <p:nvPr/>
        </p:nvSpPr>
        <p:spPr>
          <a:xfrm>
            <a:off x="9453524" y="4381530"/>
            <a:ext cx="1919326" cy="285750"/>
          </a:xfrm>
          <a:prstGeom prst="rect">
            <a:avLst/>
          </a:prstGeom>
          <a:noFill/>
          <a:ln/>
        </p:spPr>
        <p:txBody>
          <a:bodyPr wrap="square" lIns="0" tIns="0" rIns="0" bIns="0" rtlCol="0" anchor="t"/>
          <a:lstStyle/>
          <a:p>
            <a:pPr algn="l" indent="0" marL="0">
              <a:lnSpc>
                <a:spcPct val="120000"/>
              </a:lnSpc>
              <a:buNone/>
            </a:pPr>
            <a:r>
              <a:rPr lang="en-US" sz="1875" b="1" dirty="0">
                <a:solidFill>
                  <a:srgbClr val="14202F"/>
                </a:solidFill>
                <a:latin typeface="Arial" pitchFamily="34" charset="0"/>
                <a:ea typeface="Arial" pitchFamily="34" charset="-122"/>
                <a:cs typeface="Arial" pitchFamily="34" charset="-120"/>
              </a:rPr>
              <a:t>Impact</a:t>
            </a:r>
            <a:endParaRPr lang="en-US" sz="1875" dirty="0"/>
          </a:p>
        </p:txBody>
      </p:sp>
      <p:sp>
        <p:nvSpPr>
          <p:cNvPr id="43" name="text-219"/>
          <p:cNvSpPr txBox="1"/>
          <p:nvPr/>
        </p:nvSpPr>
        <p:spPr>
          <a:xfrm>
            <a:off x="9205905" y="4743450"/>
            <a:ext cx="2166945" cy="171450"/>
          </a:xfrm>
          <a:prstGeom prst="rect">
            <a:avLst/>
          </a:prstGeom>
          <a:noFill/>
          <a:ln/>
        </p:spPr>
        <p:txBody>
          <a:bodyPr wrap="square" lIns="0" tIns="0" rIns="0" bIns="0" rtlCol="0" anchor="t"/>
          <a:lstStyle/>
          <a:p>
            <a:pPr algn="l" indent="0" marL="0">
              <a:lnSpc>
                <a:spcPct val="120000"/>
              </a:lnSpc>
              <a:buNone/>
            </a:pPr>
            <a:r>
              <a:rPr lang="en-US" sz="938" b="1" spc="113" kern="0" dirty="0">
                <a:solidFill>
                  <a:srgbClr val="8C929C"/>
                </a:solidFill>
                <a:latin typeface="Arial" pitchFamily="34" charset="0"/>
                <a:ea typeface="Arial" pitchFamily="34" charset="-122"/>
                <a:cs typeface="Arial" pitchFamily="34" charset="-120"/>
              </a:rPr>
              <a:t>SERVICE</a:t>
            </a:r>
            <a:endParaRPr lang="en-US" sz="938" dirty="0"/>
          </a:p>
        </p:txBody>
      </p:sp>
      <p:sp>
        <p:nvSpPr>
          <p:cNvPr id="44" name="text-220"/>
          <p:cNvSpPr txBox="1"/>
          <p:nvPr/>
        </p:nvSpPr>
        <p:spPr>
          <a:xfrm>
            <a:off x="9205905" y="5029200"/>
            <a:ext cx="2166945" cy="1123980"/>
          </a:xfrm>
          <a:prstGeom prst="rect">
            <a:avLst/>
          </a:prstGeom>
          <a:noFill/>
          <a:ln/>
        </p:spPr>
        <p:txBody>
          <a:bodyPr wrap="square" lIns="0" tIns="0" rIns="0" bIns="0" rtlCol="0" anchor="t"/>
          <a:lstStyle/>
          <a:p>
            <a:pPr algn="l" indent="0" marL="0">
              <a:lnSpc>
                <a:spcPct val="142000"/>
              </a:lnSpc>
              <a:buNone/>
            </a:pPr>
            <a:r>
              <a:rPr lang="en-US" sz="1275" dirty="0">
                <a:solidFill>
                  <a:srgbClr val="3B4555"/>
                </a:solidFill>
                <a:latin typeface="Arial" pitchFamily="34" charset="0"/>
                <a:ea typeface="Arial" pitchFamily="34" charset="-122"/>
                <a:cs typeface="Arial" pitchFamily="34" charset="-120"/>
              </a:rPr>
              <a:t>Service hours, supervisor confirmation, and 150-character activities. Optional.</a:t>
            </a:r>
            <a:endParaRPr lang="en-US" sz="1275"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221"/>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HOW THE AI WORKS</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How one question becomes one answer</a:t>
            </a:r>
            <a:endParaRPr lang="en-US" sz="3600" dirty="0"/>
          </a:p>
        </p:txBody>
      </p:sp>
      <p:sp>
        <p:nvSpPr>
          <p:cNvPr id="4" name="text-223"/>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Requests run as background jobs, so closing the tab doesn't stop the work.</a:t>
            </a:r>
            <a:endParaRPr lang="en-US" sz="1575" dirty="0"/>
          </a:p>
        </p:txBody>
      </p:sp>
      <p:sp>
        <p:nvSpPr>
          <p:cNvPr id="5" name="rect-224"/>
          <p:cNvSpPr/>
          <p:nvPr/>
        </p:nvSpPr>
        <p:spPr>
          <a:xfrm>
            <a:off x="609630" y="188595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225"/>
          <p:cNvSpPr/>
          <p:nvPr/>
        </p:nvSpPr>
        <p:spPr>
          <a:xfrm>
            <a:off x="781080" y="2057400"/>
            <a:ext cx="285750" cy="285750"/>
          </a:xfrm>
          <a:prstGeom prst="ellipse">
            <a:avLst/>
          </a:prstGeom>
          <a:solidFill>
            <a:srgbClr val="1E3A5F"/>
          </a:solidFill>
          <a:ln/>
        </p:spPr>
      </p:sp>
      <p:sp>
        <p:nvSpPr>
          <p:cNvPr id="7" name="text-226"/>
          <p:cNvSpPr txBox="1"/>
          <p:nvPr/>
        </p:nvSpPr>
        <p:spPr>
          <a:xfrm>
            <a:off x="781080" y="211455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8" name="rect-227"/>
          <p:cNvSpPr/>
          <p:nvPr/>
        </p:nvSpPr>
        <p:spPr>
          <a:xfrm>
            <a:off x="2419320" y="2086021"/>
            <a:ext cx="447690" cy="228600"/>
          </a:xfrm>
          <a:prstGeom prst="roundRect">
            <a:avLst>
              <a:gd name="adj" fmla="val 50000"/>
            </a:avLst>
          </a:prstGeom>
          <a:solidFill>
            <a:srgbClr val="EEF0F3"/>
          </a:solidFill>
          <a:ln/>
        </p:spPr>
      </p:sp>
      <p:sp>
        <p:nvSpPr>
          <p:cNvPr id="9" name="text-228"/>
          <p:cNvSpPr txBox="1"/>
          <p:nvPr/>
        </p:nvSpPr>
        <p:spPr>
          <a:xfrm>
            <a:off x="2419320" y="2124060"/>
            <a:ext cx="44769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3B4555"/>
                </a:solidFill>
                <a:latin typeface="Arial" pitchFamily="34" charset="0"/>
                <a:ea typeface="Arial" pitchFamily="34" charset="-122"/>
                <a:cs typeface="Arial" pitchFamily="34" charset="-120"/>
              </a:rPr>
              <a:t>YOU</a:t>
            </a:r>
            <a:endParaRPr lang="en-US" sz="863" dirty="0"/>
          </a:p>
        </p:txBody>
      </p:sp>
      <p:sp>
        <p:nvSpPr>
          <p:cNvPr id="10" name="text-229"/>
          <p:cNvSpPr txBox="1"/>
          <p:nvPr/>
        </p:nvSpPr>
        <p:spPr>
          <a:xfrm>
            <a:off x="781080" y="247647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You ask</a:t>
            </a:r>
            <a:endParaRPr lang="en-US" sz="1538" dirty="0"/>
          </a:p>
        </p:txBody>
      </p:sp>
      <p:sp>
        <p:nvSpPr>
          <p:cNvPr id="11" name="text-230"/>
          <p:cNvSpPr txBox="1"/>
          <p:nvPr/>
        </p:nvSpPr>
        <p:spPr>
          <a:xfrm>
            <a:off x="781080" y="278133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In chat, with an @mention, or from a scholarship, college, or essay page.</a:t>
            </a:r>
            <a:endParaRPr lang="en-US" sz="1238" dirty="0"/>
          </a:p>
        </p:txBody>
      </p:sp>
      <p:sp>
        <p:nvSpPr>
          <p:cNvPr id="12" name="text-231"/>
          <p:cNvSpPr txBox="1"/>
          <p:nvPr/>
        </p:nvSpPr>
        <p:spPr>
          <a:xfrm>
            <a:off x="3038460" y="263841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13" name="rect-232"/>
          <p:cNvSpPr/>
          <p:nvPr/>
        </p:nvSpPr>
        <p:spPr>
          <a:xfrm>
            <a:off x="3457621" y="188595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4" name="oval-233"/>
          <p:cNvSpPr/>
          <p:nvPr/>
        </p:nvSpPr>
        <p:spPr>
          <a:xfrm>
            <a:off x="3629071" y="2057400"/>
            <a:ext cx="285750" cy="285750"/>
          </a:xfrm>
          <a:prstGeom prst="ellipse">
            <a:avLst/>
          </a:prstGeom>
          <a:solidFill>
            <a:srgbClr val="1E3A5F"/>
          </a:solidFill>
          <a:ln/>
        </p:spPr>
      </p:sp>
      <p:sp>
        <p:nvSpPr>
          <p:cNvPr id="15" name="text-234"/>
          <p:cNvSpPr txBox="1"/>
          <p:nvPr/>
        </p:nvSpPr>
        <p:spPr>
          <a:xfrm>
            <a:off x="3629071" y="211455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16" name="rect-235"/>
          <p:cNvSpPr/>
          <p:nvPr/>
        </p:nvSpPr>
        <p:spPr>
          <a:xfrm>
            <a:off x="5181630" y="2086021"/>
            <a:ext cx="533370" cy="228600"/>
          </a:xfrm>
          <a:prstGeom prst="roundRect">
            <a:avLst>
              <a:gd name="adj" fmla="val 50000"/>
            </a:avLst>
          </a:prstGeom>
          <a:solidFill>
            <a:srgbClr val="E6F4EC"/>
          </a:solidFill>
          <a:ln/>
        </p:spPr>
      </p:sp>
      <p:sp>
        <p:nvSpPr>
          <p:cNvPr id="17" name="text-236"/>
          <p:cNvSpPr txBox="1"/>
          <p:nvPr/>
        </p:nvSpPr>
        <p:spPr>
          <a:xfrm>
            <a:off x="5181630" y="212406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18" name="text-237"/>
          <p:cNvSpPr txBox="1"/>
          <p:nvPr/>
        </p:nvSpPr>
        <p:spPr>
          <a:xfrm>
            <a:off x="3629071" y="247647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Crisis check</a:t>
            </a:r>
            <a:endParaRPr lang="en-US" sz="1538" dirty="0"/>
          </a:p>
        </p:txBody>
      </p:sp>
      <p:sp>
        <p:nvSpPr>
          <p:cNvPr id="19" name="text-238"/>
          <p:cNvSpPr txBox="1"/>
          <p:nvPr/>
        </p:nvSpPr>
        <p:spPr>
          <a:xfrm>
            <a:off x="3629071" y="278133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Runs first. A crisis gets reviewed 988 support, with no model call.</a:t>
            </a:r>
            <a:endParaRPr lang="en-US" sz="1238" dirty="0"/>
          </a:p>
        </p:txBody>
      </p:sp>
      <p:sp>
        <p:nvSpPr>
          <p:cNvPr id="20" name="text-239"/>
          <p:cNvSpPr txBox="1"/>
          <p:nvPr/>
        </p:nvSpPr>
        <p:spPr>
          <a:xfrm>
            <a:off x="5886450" y="263841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21" name="rect-240"/>
          <p:cNvSpPr/>
          <p:nvPr/>
        </p:nvSpPr>
        <p:spPr>
          <a:xfrm>
            <a:off x="6305520" y="188595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2" name="oval-241"/>
          <p:cNvSpPr/>
          <p:nvPr/>
        </p:nvSpPr>
        <p:spPr>
          <a:xfrm>
            <a:off x="6476970" y="2057400"/>
            <a:ext cx="285750" cy="285750"/>
          </a:xfrm>
          <a:prstGeom prst="ellipse">
            <a:avLst/>
          </a:prstGeom>
          <a:solidFill>
            <a:srgbClr val="1E3A5F"/>
          </a:solidFill>
          <a:ln/>
        </p:spPr>
      </p:sp>
      <p:sp>
        <p:nvSpPr>
          <p:cNvPr id="23" name="text-242"/>
          <p:cNvSpPr txBox="1"/>
          <p:nvPr/>
        </p:nvSpPr>
        <p:spPr>
          <a:xfrm>
            <a:off x="6476970" y="211455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24" name="rect-243"/>
          <p:cNvSpPr/>
          <p:nvPr/>
        </p:nvSpPr>
        <p:spPr>
          <a:xfrm>
            <a:off x="8201071" y="2086021"/>
            <a:ext cx="361920" cy="228600"/>
          </a:xfrm>
          <a:prstGeom prst="roundRect">
            <a:avLst>
              <a:gd name="adj" fmla="val 50000"/>
            </a:avLst>
          </a:prstGeom>
          <a:solidFill>
            <a:srgbClr val="E8F0FB"/>
          </a:solidFill>
          <a:ln/>
        </p:spPr>
      </p:sp>
      <p:sp>
        <p:nvSpPr>
          <p:cNvPr id="25" name="text-244"/>
          <p:cNvSpPr txBox="1"/>
          <p:nvPr/>
        </p:nvSpPr>
        <p:spPr>
          <a:xfrm>
            <a:off x="8201071" y="212406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26" name="text-245"/>
          <p:cNvSpPr txBox="1"/>
          <p:nvPr/>
        </p:nvSpPr>
        <p:spPr>
          <a:xfrm>
            <a:off x="6476970" y="247647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Compass plans</a:t>
            </a:r>
            <a:endParaRPr lang="en-US" sz="1538" dirty="0"/>
          </a:p>
        </p:txBody>
      </p:sp>
      <p:sp>
        <p:nvSpPr>
          <p:cNvPr id="27" name="text-246"/>
          <p:cNvSpPr txBox="1"/>
          <p:nvPr/>
        </p:nvSpPr>
        <p:spPr>
          <a:xfrm>
            <a:off x="6476970" y="278133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Reads your profile as data. Up to 4 model calls in a 120-second budget.</a:t>
            </a:r>
            <a:endParaRPr lang="en-US" sz="1238" dirty="0"/>
          </a:p>
        </p:txBody>
      </p:sp>
      <p:sp>
        <p:nvSpPr>
          <p:cNvPr id="28" name="text-247"/>
          <p:cNvSpPr txBox="1"/>
          <p:nvPr/>
        </p:nvSpPr>
        <p:spPr>
          <a:xfrm>
            <a:off x="8734440" y="263841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29" name="rect-248"/>
          <p:cNvSpPr/>
          <p:nvPr/>
        </p:nvSpPr>
        <p:spPr>
          <a:xfrm>
            <a:off x="9153510" y="188595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0" name="oval-249"/>
          <p:cNvSpPr/>
          <p:nvPr/>
        </p:nvSpPr>
        <p:spPr>
          <a:xfrm>
            <a:off x="9324960" y="2057400"/>
            <a:ext cx="285750" cy="285750"/>
          </a:xfrm>
          <a:prstGeom prst="ellipse">
            <a:avLst/>
          </a:prstGeom>
          <a:solidFill>
            <a:srgbClr val="1E3A5F"/>
          </a:solidFill>
          <a:ln/>
        </p:spPr>
      </p:sp>
      <p:sp>
        <p:nvSpPr>
          <p:cNvPr id="31" name="text-250"/>
          <p:cNvSpPr txBox="1"/>
          <p:nvPr/>
        </p:nvSpPr>
        <p:spPr>
          <a:xfrm>
            <a:off x="9324960" y="211455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4</a:t>
            </a:r>
            <a:endParaRPr lang="en-US" sz="1050" dirty="0"/>
          </a:p>
        </p:txBody>
      </p:sp>
      <p:sp>
        <p:nvSpPr>
          <p:cNvPr id="32" name="rect-251"/>
          <p:cNvSpPr/>
          <p:nvPr/>
        </p:nvSpPr>
        <p:spPr>
          <a:xfrm>
            <a:off x="11048970" y="2086021"/>
            <a:ext cx="361920" cy="228600"/>
          </a:xfrm>
          <a:prstGeom prst="roundRect">
            <a:avLst>
              <a:gd name="adj" fmla="val 50000"/>
            </a:avLst>
          </a:prstGeom>
          <a:solidFill>
            <a:srgbClr val="E8F0FB"/>
          </a:solidFill>
          <a:ln/>
        </p:spPr>
      </p:sp>
      <p:sp>
        <p:nvSpPr>
          <p:cNvPr id="33" name="text-252"/>
          <p:cNvSpPr txBox="1"/>
          <p:nvPr/>
        </p:nvSpPr>
        <p:spPr>
          <a:xfrm>
            <a:off x="11048970" y="212406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34" name="text-253"/>
          <p:cNvSpPr txBox="1"/>
          <p:nvPr/>
        </p:nvSpPr>
        <p:spPr>
          <a:xfrm>
            <a:off x="9324960" y="247647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Specialists consult</a:t>
            </a:r>
            <a:endParaRPr lang="en-US" sz="1538" dirty="0"/>
          </a:p>
        </p:txBody>
      </p:sp>
      <p:sp>
        <p:nvSpPr>
          <p:cNvPr id="35" name="text-254"/>
          <p:cNvSpPr txBox="1"/>
          <p:nvPr/>
        </p:nvSpPr>
        <p:spPr>
          <a:xfrm>
            <a:off x="9324960" y="278133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Up to 4 consults. Each has its own prompt and read-only tools.</a:t>
            </a:r>
            <a:endParaRPr lang="en-US" sz="1238" dirty="0"/>
          </a:p>
        </p:txBody>
      </p:sp>
      <p:sp>
        <p:nvSpPr>
          <p:cNvPr id="36" name="rect-255"/>
          <p:cNvSpPr/>
          <p:nvPr/>
        </p:nvSpPr>
        <p:spPr>
          <a:xfrm>
            <a:off x="609630" y="398148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7" name="oval-256"/>
          <p:cNvSpPr/>
          <p:nvPr/>
        </p:nvSpPr>
        <p:spPr>
          <a:xfrm>
            <a:off x="781080" y="4152930"/>
            <a:ext cx="285750" cy="285750"/>
          </a:xfrm>
          <a:prstGeom prst="ellipse">
            <a:avLst/>
          </a:prstGeom>
          <a:solidFill>
            <a:srgbClr val="1E3A5F"/>
          </a:solidFill>
          <a:ln/>
        </p:spPr>
      </p:sp>
      <p:sp>
        <p:nvSpPr>
          <p:cNvPr id="38" name="text-257"/>
          <p:cNvSpPr txBox="1"/>
          <p:nvPr/>
        </p:nvSpPr>
        <p:spPr>
          <a:xfrm>
            <a:off x="781080" y="421008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5</a:t>
            </a:r>
            <a:endParaRPr lang="en-US" sz="1050" dirty="0"/>
          </a:p>
        </p:txBody>
      </p:sp>
      <p:sp>
        <p:nvSpPr>
          <p:cNvPr id="39" name="rect-258"/>
          <p:cNvSpPr/>
          <p:nvPr/>
        </p:nvSpPr>
        <p:spPr>
          <a:xfrm>
            <a:off x="2333640" y="4181460"/>
            <a:ext cx="533370" cy="228600"/>
          </a:xfrm>
          <a:prstGeom prst="roundRect">
            <a:avLst>
              <a:gd name="adj" fmla="val 50000"/>
            </a:avLst>
          </a:prstGeom>
          <a:solidFill>
            <a:srgbClr val="E6F4EC"/>
          </a:solidFill>
          <a:ln/>
        </p:spPr>
      </p:sp>
      <p:sp>
        <p:nvSpPr>
          <p:cNvPr id="40" name="text-259"/>
          <p:cNvSpPr txBox="1"/>
          <p:nvPr/>
        </p:nvSpPr>
        <p:spPr>
          <a:xfrm>
            <a:off x="2333640" y="421959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41" name="text-260"/>
          <p:cNvSpPr txBox="1"/>
          <p:nvPr/>
        </p:nvSpPr>
        <p:spPr>
          <a:xfrm>
            <a:off x="781080" y="457200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Calculators</a:t>
            </a:r>
            <a:endParaRPr lang="en-US" sz="1538" dirty="0"/>
          </a:p>
        </p:txBody>
      </p:sp>
      <p:sp>
        <p:nvSpPr>
          <p:cNvPr id="42" name="text-261"/>
          <p:cNvSpPr txBox="1"/>
          <p:nvPr/>
        </p:nvSpPr>
        <p:spPr>
          <a:xfrm>
            <a:off x="781080" y="487677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Gap, offers, loan payments, word counts, and dates come from code.</a:t>
            </a:r>
            <a:endParaRPr lang="en-US" sz="1238" dirty="0"/>
          </a:p>
        </p:txBody>
      </p:sp>
      <p:sp>
        <p:nvSpPr>
          <p:cNvPr id="43" name="text-262"/>
          <p:cNvSpPr txBox="1"/>
          <p:nvPr/>
        </p:nvSpPr>
        <p:spPr>
          <a:xfrm>
            <a:off x="3038460" y="473394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44" name="rect-263"/>
          <p:cNvSpPr/>
          <p:nvPr/>
        </p:nvSpPr>
        <p:spPr>
          <a:xfrm>
            <a:off x="3457621" y="398148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45" name="oval-264"/>
          <p:cNvSpPr/>
          <p:nvPr/>
        </p:nvSpPr>
        <p:spPr>
          <a:xfrm>
            <a:off x="3629071" y="4152930"/>
            <a:ext cx="285750" cy="285750"/>
          </a:xfrm>
          <a:prstGeom prst="ellipse">
            <a:avLst/>
          </a:prstGeom>
          <a:solidFill>
            <a:srgbClr val="1E3A5F"/>
          </a:solidFill>
          <a:ln/>
        </p:spPr>
      </p:sp>
      <p:sp>
        <p:nvSpPr>
          <p:cNvPr id="46" name="text-265"/>
          <p:cNvSpPr txBox="1"/>
          <p:nvPr/>
        </p:nvSpPr>
        <p:spPr>
          <a:xfrm>
            <a:off x="3629071" y="421008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6</a:t>
            </a:r>
            <a:endParaRPr lang="en-US" sz="1050" dirty="0"/>
          </a:p>
        </p:txBody>
      </p:sp>
      <p:sp>
        <p:nvSpPr>
          <p:cNvPr id="47" name="rect-266"/>
          <p:cNvSpPr/>
          <p:nvPr/>
        </p:nvSpPr>
        <p:spPr>
          <a:xfrm>
            <a:off x="5181630" y="4181460"/>
            <a:ext cx="533370" cy="228600"/>
          </a:xfrm>
          <a:prstGeom prst="roundRect">
            <a:avLst>
              <a:gd name="adj" fmla="val 50000"/>
            </a:avLst>
          </a:prstGeom>
          <a:solidFill>
            <a:srgbClr val="E6F4EC"/>
          </a:solidFill>
          <a:ln/>
        </p:spPr>
      </p:sp>
      <p:sp>
        <p:nvSpPr>
          <p:cNvPr id="48" name="text-267"/>
          <p:cNvSpPr txBox="1"/>
          <p:nvPr/>
        </p:nvSpPr>
        <p:spPr>
          <a:xfrm>
            <a:off x="5181630" y="421959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49" name="text-268"/>
          <p:cNvSpPr txBox="1"/>
          <p:nvPr/>
        </p:nvSpPr>
        <p:spPr>
          <a:xfrm>
            <a:off x="3629071" y="457200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Guards</a:t>
            </a:r>
            <a:endParaRPr lang="en-US" sz="1538" dirty="0"/>
          </a:p>
        </p:txBody>
      </p:sp>
      <p:sp>
        <p:nvSpPr>
          <p:cNvPr id="50" name="text-269"/>
          <p:cNvSpPr txBox="1"/>
          <p:nvPr/>
        </p:nvSpPr>
        <p:spPr>
          <a:xfrm>
            <a:off x="3629071" y="487677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Sources, privacy, and integrity checks. One retry, then strip.</a:t>
            </a:r>
            <a:endParaRPr lang="en-US" sz="1238" dirty="0"/>
          </a:p>
        </p:txBody>
      </p:sp>
      <p:sp>
        <p:nvSpPr>
          <p:cNvPr id="51" name="text-270"/>
          <p:cNvSpPr txBox="1"/>
          <p:nvPr/>
        </p:nvSpPr>
        <p:spPr>
          <a:xfrm>
            <a:off x="5886450" y="473394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52" name="rect-271"/>
          <p:cNvSpPr/>
          <p:nvPr/>
        </p:nvSpPr>
        <p:spPr>
          <a:xfrm>
            <a:off x="6305520" y="398148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53" name="oval-272"/>
          <p:cNvSpPr/>
          <p:nvPr/>
        </p:nvSpPr>
        <p:spPr>
          <a:xfrm>
            <a:off x="6476970" y="4152930"/>
            <a:ext cx="285750" cy="285750"/>
          </a:xfrm>
          <a:prstGeom prst="ellipse">
            <a:avLst/>
          </a:prstGeom>
          <a:solidFill>
            <a:srgbClr val="1E3A5F"/>
          </a:solidFill>
          <a:ln/>
        </p:spPr>
      </p:sp>
      <p:sp>
        <p:nvSpPr>
          <p:cNvPr id="54" name="text-273"/>
          <p:cNvSpPr txBox="1"/>
          <p:nvPr/>
        </p:nvSpPr>
        <p:spPr>
          <a:xfrm>
            <a:off x="6476970" y="421008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7</a:t>
            </a:r>
            <a:endParaRPr lang="en-US" sz="1050" dirty="0"/>
          </a:p>
        </p:txBody>
      </p:sp>
      <p:sp>
        <p:nvSpPr>
          <p:cNvPr id="55" name="rect-274"/>
          <p:cNvSpPr/>
          <p:nvPr/>
        </p:nvSpPr>
        <p:spPr>
          <a:xfrm>
            <a:off x="8115300" y="4181460"/>
            <a:ext cx="447690" cy="228600"/>
          </a:xfrm>
          <a:prstGeom prst="roundRect">
            <a:avLst>
              <a:gd name="adj" fmla="val 50000"/>
            </a:avLst>
          </a:prstGeom>
          <a:solidFill>
            <a:srgbClr val="EEF0F3"/>
          </a:solidFill>
          <a:ln/>
        </p:spPr>
      </p:sp>
      <p:sp>
        <p:nvSpPr>
          <p:cNvPr id="56" name="text-275"/>
          <p:cNvSpPr txBox="1"/>
          <p:nvPr/>
        </p:nvSpPr>
        <p:spPr>
          <a:xfrm>
            <a:off x="8115300" y="4219590"/>
            <a:ext cx="44769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3B4555"/>
                </a:solidFill>
                <a:latin typeface="Arial" pitchFamily="34" charset="0"/>
                <a:ea typeface="Arial" pitchFamily="34" charset="-122"/>
                <a:cs typeface="Arial" pitchFamily="34" charset="-120"/>
              </a:rPr>
              <a:t>YOU</a:t>
            </a:r>
            <a:endParaRPr lang="en-US" sz="863" dirty="0"/>
          </a:p>
        </p:txBody>
      </p:sp>
      <p:sp>
        <p:nvSpPr>
          <p:cNvPr id="57" name="text-276"/>
          <p:cNvSpPr txBox="1"/>
          <p:nvPr/>
        </p:nvSpPr>
        <p:spPr>
          <a:xfrm>
            <a:off x="6476970" y="457200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One reply</a:t>
            </a:r>
            <a:endParaRPr lang="en-US" sz="1538" dirty="0"/>
          </a:p>
        </p:txBody>
      </p:sp>
      <p:sp>
        <p:nvSpPr>
          <p:cNvPr id="58" name="text-277"/>
          <p:cNvSpPr txBox="1"/>
          <p:nvPr/>
        </p:nvSpPr>
        <p:spPr>
          <a:xfrm>
            <a:off x="6476970" y="487677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Names who helped, asks at most one question, and lists what it used.</a:t>
            </a:r>
            <a:endParaRPr lang="en-US" sz="1238" dirty="0"/>
          </a:p>
        </p:txBody>
      </p:sp>
      <p:sp>
        <p:nvSpPr>
          <p:cNvPr id="59" name="text-278"/>
          <p:cNvSpPr txBox="1"/>
          <p:nvPr/>
        </p:nvSpPr>
        <p:spPr>
          <a:xfrm>
            <a:off x="8734440" y="4733940"/>
            <a:ext cx="419070" cy="266730"/>
          </a:xfrm>
          <a:prstGeom prst="rect">
            <a:avLst/>
          </a:prstGeom>
          <a:noFill/>
          <a:ln/>
        </p:spPr>
        <p:txBody>
          <a:bodyPr wrap="square" lIns="0" tIns="0" rIns="0" bIns="0" rtlCol="0" anchor="t"/>
          <a:lstStyle/>
          <a:p>
            <a:pPr algn="ctr" indent="0" marL="0">
              <a:lnSpc>
                <a:spcPct val="120000"/>
              </a:lnSpc>
              <a:buNone/>
            </a:pPr>
            <a:r>
              <a:rPr lang="en-US" sz="1650" dirty="0">
                <a:solidFill>
                  <a:srgbClr val="8C929C"/>
                </a:solidFill>
                <a:latin typeface="Arial" pitchFamily="34" charset="0"/>
                <a:ea typeface="Arial" pitchFamily="34" charset="-122"/>
                <a:cs typeface="Arial" pitchFamily="34" charset="-120"/>
              </a:rPr>
              <a:t>→</a:t>
            </a:r>
            <a:endParaRPr lang="en-US" sz="1650" dirty="0"/>
          </a:p>
        </p:txBody>
      </p:sp>
      <p:sp>
        <p:nvSpPr>
          <p:cNvPr id="60" name="rect-279"/>
          <p:cNvSpPr/>
          <p:nvPr/>
        </p:nvSpPr>
        <p:spPr>
          <a:xfrm>
            <a:off x="9153510" y="3981480"/>
            <a:ext cx="2428921"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1" name="oval-280"/>
          <p:cNvSpPr/>
          <p:nvPr/>
        </p:nvSpPr>
        <p:spPr>
          <a:xfrm>
            <a:off x="9324960" y="4152930"/>
            <a:ext cx="285750" cy="285750"/>
          </a:xfrm>
          <a:prstGeom prst="ellipse">
            <a:avLst/>
          </a:prstGeom>
          <a:solidFill>
            <a:srgbClr val="1E3A5F"/>
          </a:solidFill>
          <a:ln/>
        </p:spPr>
      </p:sp>
      <p:sp>
        <p:nvSpPr>
          <p:cNvPr id="62" name="text-281"/>
          <p:cNvSpPr txBox="1"/>
          <p:nvPr/>
        </p:nvSpPr>
        <p:spPr>
          <a:xfrm>
            <a:off x="9324960" y="4210080"/>
            <a:ext cx="285750" cy="171450"/>
          </a:xfrm>
          <a:prstGeom prst="rect">
            <a:avLst/>
          </a:prstGeom>
          <a:noFill/>
          <a:ln/>
        </p:spPr>
        <p:txBody>
          <a:bodyPr wrap="square" lIns="0" tIns="0" rIns="0" bIns="0" rtlCol="0" anchor="t"/>
          <a:lstStyle/>
          <a:p>
            <a:pPr algn="ctr" indent="0" marL="0">
              <a:lnSpc>
                <a:spcPct val="120000"/>
              </a:lnSpc>
              <a:buNone/>
            </a:pPr>
            <a:r>
              <a:rPr lang="en-US" sz="1050" b="1" dirty="0">
                <a:solidFill>
                  <a:srgbClr val="FFFFFF"/>
                </a:solidFill>
                <a:latin typeface="Arial" pitchFamily="34" charset="0"/>
                <a:ea typeface="Arial" pitchFamily="34" charset="-122"/>
                <a:cs typeface="Arial" pitchFamily="34" charset="-120"/>
              </a:rPr>
              <a:t>8</a:t>
            </a:r>
            <a:endParaRPr lang="en-US" sz="1050" dirty="0"/>
          </a:p>
        </p:txBody>
      </p:sp>
      <p:sp>
        <p:nvSpPr>
          <p:cNvPr id="63" name="rect-282"/>
          <p:cNvSpPr/>
          <p:nvPr/>
        </p:nvSpPr>
        <p:spPr>
          <a:xfrm>
            <a:off x="10963290" y="4181460"/>
            <a:ext cx="447690" cy="228600"/>
          </a:xfrm>
          <a:prstGeom prst="roundRect">
            <a:avLst>
              <a:gd name="adj" fmla="val 50000"/>
            </a:avLst>
          </a:prstGeom>
          <a:solidFill>
            <a:srgbClr val="EEF0F3"/>
          </a:solidFill>
          <a:ln/>
        </p:spPr>
      </p:sp>
      <p:sp>
        <p:nvSpPr>
          <p:cNvPr id="64" name="text-283"/>
          <p:cNvSpPr txBox="1"/>
          <p:nvPr/>
        </p:nvSpPr>
        <p:spPr>
          <a:xfrm>
            <a:off x="10963290" y="4219590"/>
            <a:ext cx="44769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3B4555"/>
                </a:solidFill>
                <a:latin typeface="Arial" pitchFamily="34" charset="0"/>
                <a:ea typeface="Arial" pitchFamily="34" charset="-122"/>
                <a:cs typeface="Arial" pitchFamily="34" charset="-120"/>
              </a:rPr>
              <a:t>YOU</a:t>
            </a:r>
            <a:endParaRPr lang="en-US" sz="863" dirty="0"/>
          </a:p>
        </p:txBody>
      </p:sp>
      <p:sp>
        <p:nvSpPr>
          <p:cNvPr id="65" name="text-284"/>
          <p:cNvSpPr txBox="1"/>
          <p:nvPr/>
        </p:nvSpPr>
        <p:spPr>
          <a:xfrm>
            <a:off x="9324960" y="4572000"/>
            <a:ext cx="2086021" cy="247620"/>
          </a:xfrm>
          <a:prstGeom prst="rect">
            <a:avLst/>
          </a:prstGeom>
          <a:noFill/>
          <a:ln/>
        </p:spPr>
        <p:txBody>
          <a:bodyPr wrap="square" lIns="0" tIns="0" rIns="0" bIns="0" rtlCol="0" anchor="t"/>
          <a:lstStyle/>
          <a:p>
            <a:pPr algn="l" indent="0" marL="0">
              <a:lnSpc>
                <a:spcPct val="120000"/>
              </a:lnSpc>
              <a:buNone/>
            </a:pPr>
            <a:r>
              <a:rPr lang="en-US" sz="1538" b="1" dirty="0">
                <a:solidFill>
                  <a:srgbClr val="14202F"/>
                </a:solidFill>
                <a:latin typeface="Arial" pitchFamily="34" charset="0"/>
                <a:ea typeface="Arial" pitchFamily="34" charset="-122"/>
                <a:cs typeface="Arial" pitchFamily="34" charset="-120"/>
              </a:rPr>
              <a:t>You click</a:t>
            </a:r>
            <a:endParaRPr lang="en-US" sz="1538" dirty="0"/>
          </a:p>
        </p:txBody>
      </p:sp>
      <p:sp>
        <p:nvSpPr>
          <p:cNvPr id="66" name="text-285"/>
          <p:cNvSpPr txBox="1"/>
          <p:nvPr/>
        </p:nvSpPr>
        <p:spPr>
          <a:xfrm>
            <a:off x="9324960" y="4876770"/>
            <a:ext cx="2086021" cy="819120"/>
          </a:xfrm>
          <a:prstGeom prst="rect">
            <a:avLst/>
          </a:prstGeom>
          <a:noFill/>
          <a:ln/>
        </p:spPr>
        <p:txBody>
          <a:bodyPr wrap="square" lIns="0" tIns="0" rIns="0" bIns="0" rtlCol="0" anchor="t"/>
          <a:lstStyle/>
          <a:p>
            <a:pPr algn="l" indent="0" marL="0">
              <a:lnSpc>
                <a:spcPct val="140000"/>
              </a:lnSpc>
              <a:buNone/>
            </a:pPr>
            <a:r>
              <a:rPr lang="en-US" sz="1238" dirty="0">
                <a:solidFill>
                  <a:srgbClr val="3B4555"/>
                </a:solidFill>
                <a:latin typeface="Arial" pitchFamily="34" charset="0"/>
                <a:ea typeface="Arial" pitchFamily="34" charset="-122"/>
                <a:cs typeface="Arial" pitchFamily="34" charset="-120"/>
              </a:rPr>
              <a:t>Action cards change nothing until you apply them. Twice is a no-op.</a:t>
            </a:r>
            <a:endParaRPr lang="en-US" sz="1238" dirty="0"/>
          </a:p>
        </p:txBody>
      </p:sp>
      <p:sp>
        <p:nvSpPr>
          <p:cNvPr id="67" name="rect-286"/>
          <p:cNvSpPr/>
          <p:nvPr/>
        </p:nvSpPr>
        <p:spPr>
          <a:xfrm>
            <a:off x="609630" y="6057900"/>
            <a:ext cx="361920" cy="228600"/>
          </a:xfrm>
          <a:prstGeom prst="roundRect">
            <a:avLst>
              <a:gd name="adj" fmla="val 50000"/>
            </a:avLst>
          </a:prstGeom>
          <a:solidFill>
            <a:srgbClr val="E8F0FB"/>
          </a:solidFill>
          <a:ln/>
        </p:spPr>
      </p:sp>
      <p:sp>
        <p:nvSpPr>
          <p:cNvPr id="68" name="text-287"/>
          <p:cNvSpPr txBox="1"/>
          <p:nvPr/>
        </p:nvSpPr>
        <p:spPr>
          <a:xfrm>
            <a:off x="609630" y="609603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69" name="text-288"/>
          <p:cNvSpPr txBox="1"/>
          <p:nvPr/>
        </p:nvSpPr>
        <p:spPr>
          <a:xfrm>
            <a:off x="1066830" y="6086521"/>
            <a:ext cx="2286000" cy="190470"/>
          </a:xfrm>
          <a:prstGeom prst="rect">
            <a:avLst/>
          </a:prstGeom>
          <a:noFill/>
          <a:ln/>
        </p:spPr>
        <p:txBody>
          <a:bodyPr wrap="square" lIns="0" tIns="0" rIns="0" bIns="0" rtlCol="0" anchor="t"/>
          <a:lstStyle/>
          <a:p>
            <a:pPr algn="l" indent="0" marL="0">
              <a:lnSpc>
                <a:spcPct val="120000"/>
              </a:lnSpc>
              <a:buNone/>
            </a:pPr>
            <a:r>
              <a:rPr lang="en-US" sz="1125" dirty="0">
                <a:solidFill>
                  <a:srgbClr val="636B78"/>
                </a:solidFill>
                <a:latin typeface="Arial" pitchFamily="34" charset="0"/>
                <a:ea typeface="Arial" pitchFamily="34" charset="-122"/>
                <a:cs typeface="Arial" pitchFamily="34" charset="-120"/>
              </a:rPr>
              <a:t>A model call</a:t>
            </a:r>
            <a:endParaRPr lang="en-US" sz="1125" dirty="0"/>
          </a:p>
        </p:txBody>
      </p:sp>
      <p:sp>
        <p:nvSpPr>
          <p:cNvPr id="70" name="rect-289"/>
          <p:cNvSpPr/>
          <p:nvPr/>
        </p:nvSpPr>
        <p:spPr>
          <a:xfrm>
            <a:off x="2257471" y="6057900"/>
            <a:ext cx="533370" cy="228600"/>
          </a:xfrm>
          <a:prstGeom prst="roundRect">
            <a:avLst>
              <a:gd name="adj" fmla="val 50000"/>
            </a:avLst>
          </a:prstGeom>
          <a:solidFill>
            <a:srgbClr val="E6F4EC"/>
          </a:solidFill>
          <a:ln/>
        </p:spPr>
      </p:sp>
      <p:sp>
        <p:nvSpPr>
          <p:cNvPr id="71" name="text-290"/>
          <p:cNvSpPr txBox="1"/>
          <p:nvPr/>
        </p:nvSpPr>
        <p:spPr>
          <a:xfrm>
            <a:off x="2257471" y="609603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72" name="text-291"/>
          <p:cNvSpPr txBox="1"/>
          <p:nvPr/>
        </p:nvSpPr>
        <p:spPr>
          <a:xfrm>
            <a:off x="2886121" y="6086521"/>
            <a:ext cx="2286000" cy="190470"/>
          </a:xfrm>
          <a:prstGeom prst="rect">
            <a:avLst/>
          </a:prstGeom>
          <a:noFill/>
          <a:ln/>
        </p:spPr>
        <p:txBody>
          <a:bodyPr wrap="square" lIns="0" tIns="0" rIns="0" bIns="0" rtlCol="0" anchor="t"/>
          <a:lstStyle/>
          <a:p>
            <a:pPr algn="l" indent="0" marL="0">
              <a:lnSpc>
                <a:spcPct val="120000"/>
              </a:lnSpc>
              <a:buNone/>
            </a:pPr>
            <a:r>
              <a:rPr lang="en-US" sz="1125" dirty="0">
                <a:solidFill>
                  <a:srgbClr val="636B78"/>
                </a:solidFill>
                <a:latin typeface="Arial" pitchFamily="34" charset="0"/>
                <a:ea typeface="Arial" pitchFamily="34" charset="-122"/>
                <a:cs typeface="Arial" pitchFamily="34" charset="-120"/>
              </a:rPr>
              <a:t>Plain code, checked by tests</a:t>
            </a:r>
            <a:endParaRPr lang="en-US" sz="1125" dirty="0"/>
          </a:p>
        </p:txBody>
      </p:sp>
      <p:sp>
        <p:nvSpPr>
          <p:cNvPr id="73" name="rect-292"/>
          <p:cNvSpPr/>
          <p:nvPr/>
        </p:nvSpPr>
        <p:spPr>
          <a:xfrm>
            <a:off x="5238780" y="6057900"/>
            <a:ext cx="447690" cy="228600"/>
          </a:xfrm>
          <a:prstGeom prst="roundRect">
            <a:avLst>
              <a:gd name="adj" fmla="val 50000"/>
            </a:avLst>
          </a:prstGeom>
          <a:solidFill>
            <a:srgbClr val="EEF0F3"/>
          </a:solidFill>
          <a:ln/>
        </p:spPr>
      </p:sp>
      <p:sp>
        <p:nvSpPr>
          <p:cNvPr id="74" name="text-293"/>
          <p:cNvSpPr txBox="1"/>
          <p:nvPr/>
        </p:nvSpPr>
        <p:spPr>
          <a:xfrm>
            <a:off x="5238780" y="6096030"/>
            <a:ext cx="44769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3B4555"/>
                </a:solidFill>
                <a:latin typeface="Arial" pitchFamily="34" charset="0"/>
                <a:ea typeface="Arial" pitchFamily="34" charset="-122"/>
                <a:cs typeface="Arial" pitchFamily="34" charset="-120"/>
              </a:rPr>
              <a:t>YOU</a:t>
            </a:r>
            <a:endParaRPr lang="en-US" sz="863" dirty="0"/>
          </a:p>
        </p:txBody>
      </p:sp>
      <p:sp>
        <p:nvSpPr>
          <p:cNvPr id="75" name="text-294"/>
          <p:cNvSpPr txBox="1"/>
          <p:nvPr/>
        </p:nvSpPr>
        <p:spPr>
          <a:xfrm>
            <a:off x="5781660" y="6086521"/>
            <a:ext cx="2286000" cy="190470"/>
          </a:xfrm>
          <a:prstGeom prst="rect">
            <a:avLst/>
          </a:prstGeom>
          <a:noFill/>
          <a:ln/>
        </p:spPr>
        <p:txBody>
          <a:bodyPr wrap="square" lIns="0" tIns="0" rIns="0" bIns="0" rtlCol="0" anchor="t"/>
          <a:lstStyle/>
          <a:p>
            <a:pPr algn="l" indent="0" marL="0">
              <a:lnSpc>
                <a:spcPct val="120000"/>
              </a:lnSpc>
              <a:buNone/>
            </a:pPr>
            <a:r>
              <a:rPr lang="en-US" sz="1125" dirty="0">
                <a:solidFill>
                  <a:srgbClr val="636B78"/>
                </a:solidFill>
                <a:latin typeface="Arial" pitchFamily="34" charset="0"/>
                <a:ea typeface="Arial" pitchFamily="34" charset="-122"/>
                <a:cs typeface="Arial" pitchFamily="34" charset="-120"/>
              </a:rPr>
              <a:t>The student</a:t>
            </a:r>
            <a:endParaRPr lang="en-US" sz="1125"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295"/>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UNDER THE HOOD</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Four kinds of agents</a:t>
            </a:r>
            <a:endParaRPr lang="en-US" sz="3600" dirty="0"/>
          </a:p>
        </p:txBody>
      </p:sp>
      <p:sp>
        <p:nvSpPr>
          <p:cNvPr id="4" name="text-297"/>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Models explain and coordinate. Code calculates, checks, and decides what's allowed.</a:t>
            </a:r>
            <a:endParaRPr lang="en-US" sz="1575" dirty="0"/>
          </a:p>
        </p:txBody>
      </p:sp>
      <p:sp>
        <p:nvSpPr>
          <p:cNvPr id="5" name="rect-298"/>
          <p:cNvSpPr/>
          <p:nvPr/>
        </p:nvSpPr>
        <p:spPr>
          <a:xfrm>
            <a:off x="609630" y="1904970"/>
            <a:ext cx="2571750" cy="2705070"/>
          </a:xfrm>
          <a:prstGeom prst="roundRect">
            <a:avLst>
              <a:gd name="adj" fmla="val 592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rect-299"/>
          <p:cNvSpPr/>
          <p:nvPr/>
        </p:nvSpPr>
        <p:spPr>
          <a:xfrm>
            <a:off x="819120" y="2114550"/>
            <a:ext cx="361920" cy="228600"/>
          </a:xfrm>
          <a:prstGeom prst="roundRect">
            <a:avLst>
              <a:gd name="adj" fmla="val 50000"/>
            </a:avLst>
          </a:prstGeom>
          <a:solidFill>
            <a:srgbClr val="E8F0FB"/>
          </a:solidFill>
          <a:ln/>
        </p:spPr>
      </p:sp>
      <p:sp>
        <p:nvSpPr>
          <p:cNvPr id="7" name="text-300"/>
          <p:cNvSpPr txBox="1"/>
          <p:nvPr/>
        </p:nvSpPr>
        <p:spPr>
          <a:xfrm>
            <a:off x="819120" y="215268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8" name="text-301"/>
          <p:cNvSpPr txBox="1"/>
          <p:nvPr/>
        </p:nvSpPr>
        <p:spPr>
          <a:xfrm>
            <a:off x="819120" y="249558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Crew</a:t>
            </a:r>
            <a:endParaRPr lang="en-US" sz="1500" dirty="0"/>
          </a:p>
        </p:txBody>
      </p:sp>
      <p:sp>
        <p:nvSpPr>
          <p:cNvPr id="9" name="text-302"/>
          <p:cNvSpPr txBox="1"/>
          <p:nvPr/>
        </p:nvSpPr>
        <p:spPr>
          <a:xfrm>
            <a:off x="819120" y="2828971"/>
            <a:ext cx="2152680" cy="164784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Compass and seven specialists. Narrow prompts, read-only tools, structured results checked against a schema.</a:t>
            </a:r>
            <a:endParaRPr lang="en-US" sz="1313" dirty="0"/>
          </a:p>
        </p:txBody>
      </p:sp>
      <p:sp>
        <p:nvSpPr>
          <p:cNvPr id="10" name="rect-303"/>
          <p:cNvSpPr/>
          <p:nvPr/>
        </p:nvSpPr>
        <p:spPr>
          <a:xfrm>
            <a:off x="3409980" y="1904970"/>
            <a:ext cx="2571750" cy="2705070"/>
          </a:xfrm>
          <a:prstGeom prst="roundRect">
            <a:avLst>
              <a:gd name="adj" fmla="val 592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rect-304"/>
          <p:cNvSpPr/>
          <p:nvPr/>
        </p:nvSpPr>
        <p:spPr>
          <a:xfrm>
            <a:off x="3619470" y="2114550"/>
            <a:ext cx="533370" cy="228600"/>
          </a:xfrm>
          <a:prstGeom prst="roundRect">
            <a:avLst>
              <a:gd name="adj" fmla="val 50000"/>
            </a:avLst>
          </a:prstGeom>
          <a:solidFill>
            <a:srgbClr val="E6F4EC"/>
          </a:solidFill>
          <a:ln/>
        </p:spPr>
      </p:sp>
      <p:sp>
        <p:nvSpPr>
          <p:cNvPr id="12" name="text-305"/>
          <p:cNvSpPr txBox="1"/>
          <p:nvPr/>
        </p:nvSpPr>
        <p:spPr>
          <a:xfrm>
            <a:off x="3619470" y="215268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13" name="text-306"/>
          <p:cNvSpPr txBox="1"/>
          <p:nvPr/>
        </p:nvSpPr>
        <p:spPr>
          <a:xfrm>
            <a:off x="3619470" y="249558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Calculators</a:t>
            </a:r>
            <a:endParaRPr lang="en-US" sz="1500" dirty="0"/>
          </a:p>
        </p:txBody>
      </p:sp>
      <p:sp>
        <p:nvSpPr>
          <p:cNvPr id="14" name="text-307"/>
          <p:cNvSpPr txBox="1"/>
          <p:nvPr/>
        </p:nvSpPr>
        <p:spPr>
          <a:xfrm>
            <a:off x="3619470" y="2828971"/>
            <a:ext cx="2152680" cy="164784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Gap, offer comparison, loan payment, word and character counts, days until, and retake value.</a:t>
            </a:r>
            <a:endParaRPr lang="en-US" sz="1313" dirty="0"/>
          </a:p>
        </p:txBody>
      </p:sp>
      <p:sp>
        <p:nvSpPr>
          <p:cNvPr id="15" name="rect-308"/>
          <p:cNvSpPr/>
          <p:nvPr/>
        </p:nvSpPr>
        <p:spPr>
          <a:xfrm>
            <a:off x="6210330" y="1904970"/>
            <a:ext cx="2571750" cy="2705070"/>
          </a:xfrm>
          <a:prstGeom prst="roundRect">
            <a:avLst>
              <a:gd name="adj" fmla="val 592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rect-309"/>
          <p:cNvSpPr/>
          <p:nvPr/>
        </p:nvSpPr>
        <p:spPr>
          <a:xfrm>
            <a:off x="6419820" y="2114550"/>
            <a:ext cx="533370" cy="228600"/>
          </a:xfrm>
          <a:prstGeom prst="roundRect">
            <a:avLst>
              <a:gd name="adj" fmla="val 50000"/>
            </a:avLst>
          </a:prstGeom>
          <a:solidFill>
            <a:srgbClr val="E6F4EC"/>
          </a:solidFill>
          <a:ln/>
        </p:spPr>
      </p:sp>
      <p:sp>
        <p:nvSpPr>
          <p:cNvPr id="17" name="text-310"/>
          <p:cNvSpPr txBox="1"/>
          <p:nvPr/>
        </p:nvSpPr>
        <p:spPr>
          <a:xfrm>
            <a:off x="6419820" y="215268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18" name="text-311"/>
          <p:cNvSpPr txBox="1"/>
          <p:nvPr/>
        </p:nvSpPr>
        <p:spPr>
          <a:xfrm>
            <a:off x="6419820" y="249558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Guards</a:t>
            </a:r>
            <a:endParaRPr lang="en-US" sz="1500" dirty="0"/>
          </a:p>
        </p:txBody>
      </p:sp>
      <p:sp>
        <p:nvSpPr>
          <p:cNvPr id="19" name="text-312"/>
          <p:cNvSpPr txBox="1"/>
          <p:nvPr/>
        </p:nvSpPr>
        <p:spPr>
          <a:xfrm>
            <a:off x="6419820" y="2828971"/>
            <a:ext cx="2152680" cy="164784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Crisis, integrity, sources, privacy, and untrusted-content wrapping on every request and reply.</a:t>
            </a:r>
            <a:endParaRPr lang="en-US" sz="1313" dirty="0"/>
          </a:p>
        </p:txBody>
      </p:sp>
      <p:sp>
        <p:nvSpPr>
          <p:cNvPr id="20" name="rect-313"/>
          <p:cNvSpPr/>
          <p:nvPr/>
        </p:nvSpPr>
        <p:spPr>
          <a:xfrm>
            <a:off x="9010680" y="1904970"/>
            <a:ext cx="2571750" cy="2705070"/>
          </a:xfrm>
          <a:prstGeom prst="roundRect">
            <a:avLst>
              <a:gd name="adj" fmla="val 592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rect-314"/>
          <p:cNvSpPr/>
          <p:nvPr/>
        </p:nvSpPr>
        <p:spPr>
          <a:xfrm>
            <a:off x="9220170" y="2114550"/>
            <a:ext cx="533370" cy="228600"/>
          </a:xfrm>
          <a:prstGeom prst="roundRect">
            <a:avLst>
              <a:gd name="adj" fmla="val 50000"/>
            </a:avLst>
          </a:prstGeom>
          <a:solidFill>
            <a:srgbClr val="FDF1E8"/>
          </a:solidFill>
          <a:ln/>
        </p:spPr>
      </p:sp>
      <p:sp>
        <p:nvSpPr>
          <p:cNvPr id="22" name="text-315"/>
          <p:cNvSpPr txBox="1"/>
          <p:nvPr/>
        </p:nvSpPr>
        <p:spPr>
          <a:xfrm>
            <a:off x="9220170" y="215268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9A4A12"/>
                </a:solidFill>
                <a:latin typeface="Arial" pitchFamily="34" charset="0"/>
                <a:ea typeface="Arial" pitchFamily="34" charset="-122"/>
                <a:cs typeface="Arial" pitchFamily="34" charset="-120"/>
              </a:rPr>
              <a:t>JOBS</a:t>
            </a:r>
            <a:endParaRPr lang="en-US" sz="863" dirty="0"/>
          </a:p>
        </p:txBody>
      </p:sp>
      <p:sp>
        <p:nvSpPr>
          <p:cNvPr id="23" name="text-316"/>
          <p:cNvSpPr txBox="1"/>
          <p:nvPr/>
        </p:nvSpPr>
        <p:spPr>
          <a:xfrm>
            <a:off x="9220170" y="249558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Workers</a:t>
            </a:r>
            <a:endParaRPr lang="en-US" sz="1500" dirty="0"/>
          </a:p>
        </p:txBody>
      </p:sp>
      <p:sp>
        <p:nvSpPr>
          <p:cNvPr id="24" name="text-317"/>
          <p:cNvSpPr txBox="1"/>
          <p:nvPr/>
        </p:nvSpPr>
        <p:spPr>
          <a:xfrm>
            <a:off x="9220170" y="2828971"/>
            <a:ext cx="2152680" cy="164784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Crew requests, weekly plans, essay reviews, letter parsing, sweeps, reminders, and catalog re-checks.</a:t>
            </a:r>
            <a:endParaRPr lang="en-US" sz="13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318"/>
          <p:cNvSpPr txBox="1"/>
          <p:nvPr/>
        </p:nvSpPr>
        <p:spPr>
          <a:xfrm>
            <a:off x="609630" y="2343150"/>
            <a:ext cx="57150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9FB0C6"/>
                </a:solidFill>
                <a:latin typeface="Arial" pitchFamily="34" charset="0"/>
                <a:ea typeface="Arial" pitchFamily="34" charset="-122"/>
                <a:cs typeface="Arial" pitchFamily="34" charset="-120"/>
              </a:rPr>
              <a:t>PART 2</a:t>
            </a:r>
            <a:endParaRPr lang="en-US" sz="1013" dirty="0"/>
          </a:p>
        </p:txBody>
      </p:sp>
      <p:sp>
        <p:nvSpPr>
          <p:cNvPr id="3" name="Text 0"/>
          <p:cNvSpPr/>
          <p:nvPr>
            <p:ph idx="100" type="title" hasCustomPrompt="1"/>
          </p:nvPr>
        </p:nvSpPr>
        <p:spPr>
          <a:xfrm>
            <a:off x="609630" y="2609880"/>
            <a:ext cx="10972800" cy="952530"/>
          </a:xfrm>
          <a:prstGeom prst="rect">
            <a:avLst/>
          </a:prstGeom>
          <a:noFill/>
          <a:ln/>
        </p:spPr>
        <p:txBody>
          <a:bodyPr wrap="square" lIns="0" tIns="0" rIns="0" bIns="0" rtlCol="0" anchor="t"/>
          <a:lstStyle/>
          <a:p>
            <a:pPr algn="l" indent="0" marL="0">
              <a:buNone/>
            </a:pPr>
            <a:r>
              <a:rPr lang="en-US" sz="6000" b="1" dirty="0">
                <a:solidFill>
                  <a:srgbClr val="FFFFFF"/>
                </a:solidFill>
                <a:latin typeface="Arial" pitchFamily="34" charset="0"/>
                <a:ea typeface="Arial" pitchFamily="34" charset="-122"/>
                <a:cs typeface="Arial" pitchFamily="34" charset="-120"/>
              </a:rPr>
              <a:t>Every workflow</a:t>
            </a:r>
            <a:endParaRPr lang="en-US" sz="6000" dirty="0"/>
          </a:p>
        </p:txBody>
      </p:sp>
      <p:sp>
        <p:nvSpPr>
          <p:cNvPr id="4" name="text-320"/>
          <p:cNvSpPr txBox="1"/>
          <p:nvPr/>
        </p:nvSpPr>
        <p:spPr>
          <a:xfrm>
            <a:off x="609630" y="3733770"/>
            <a:ext cx="8191470" cy="685800"/>
          </a:xfrm>
          <a:prstGeom prst="rect">
            <a:avLst/>
          </a:prstGeom>
          <a:noFill/>
          <a:ln/>
        </p:spPr>
        <p:txBody>
          <a:bodyPr wrap="square" lIns="0" tIns="0" rIns="0" bIns="0" rtlCol="0" anchor="t"/>
          <a:lstStyle/>
          <a:p>
            <a:pPr algn="l" indent="0" marL="0">
              <a:lnSpc>
                <a:spcPct val="135000"/>
              </a:lnSpc>
              <a:buNone/>
            </a:pPr>
            <a:r>
              <a:rPr lang="en-US" sz="1950" dirty="0">
                <a:solidFill>
                  <a:srgbClr val="C9D3E0"/>
                </a:solidFill>
                <a:latin typeface="Arial" pitchFamily="34" charset="0"/>
                <a:ea typeface="Arial" pitchFamily="34" charset="-122"/>
                <a:cs typeface="Arial" pitchFamily="34" charset="-120"/>
              </a:rPr>
              <a:t>Sixteen workflows, shown with Jordan, a sample student, and their parent Dana. Their story could be anyone's.</a:t>
            </a:r>
            <a:endParaRPr lang="en-US" sz="1950" dirty="0"/>
          </a:p>
        </p:txBody>
      </p:sp>
      <p:sp>
        <p:nvSpPr>
          <p:cNvPr id="5" name="oval-321"/>
          <p:cNvSpPr/>
          <p:nvPr/>
        </p:nvSpPr>
        <p:spPr>
          <a:xfrm>
            <a:off x="609630" y="5333970"/>
            <a:ext cx="133320" cy="133320"/>
          </a:xfrm>
          <a:prstGeom prst="ellipse">
            <a:avLst/>
          </a:prstGeom>
          <a:solidFill>
            <a:srgbClr val="2A78D6"/>
          </a:solidFill>
          <a:ln/>
        </p:spPr>
      </p:sp>
      <p:sp>
        <p:nvSpPr>
          <p:cNvPr id="6" name="oval-322"/>
          <p:cNvSpPr/>
          <p:nvPr/>
        </p:nvSpPr>
        <p:spPr>
          <a:xfrm>
            <a:off x="857250" y="5333970"/>
            <a:ext cx="133320" cy="133320"/>
          </a:xfrm>
          <a:prstGeom prst="ellipse">
            <a:avLst/>
          </a:prstGeom>
          <a:solidFill>
            <a:srgbClr val="EB6834"/>
          </a:solidFill>
          <a:ln/>
        </p:spPr>
      </p:sp>
      <p:sp>
        <p:nvSpPr>
          <p:cNvPr id="7" name="oval-323"/>
          <p:cNvSpPr/>
          <p:nvPr/>
        </p:nvSpPr>
        <p:spPr>
          <a:xfrm>
            <a:off x="1104870" y="5333970"/>
            <a:ext cx="133320" cy="133320"/>
          </a:xfrm>
          <a:prstGeom prst="ellipse">
            <a:avLst/>
          </a:prstGeom>
          <a:solidFill>
            <a:srgbClr val="1BAF7A"/>
          </a:solidFill>
          <a:ln/>
        </p:spPr>
      </p:sp>
      <p:sp>
        <p:nvSpPr>
          <p:cNvPr id="8" name="oval-324"/>
          <p:cNvSpPr/>
          <p:nvPr/>
        </p:nvSpPr>
        <p:spPr>
          <a:xfrm>
            <a:off x="1352580" y="5333970"/>
            <a:ext cx="133320" cy="133320"/>
          </a:xfrm>
          <a:prstGeom prst="ellipse">
            <a:avLst/>
          </a:prstGeom>
          <a:solidFill>
            <a:srgbClr val="EDA100"/>
          </a:solidFill>
          <a:ln/>
        </p:spPr>
      </p:sp>
      <p:sp>
        <p:nvSpPr>
          <p:cNvPr id="9" name="oval-325"/>
          <p:cNvSpPr/>
          <p:nvPr/>
        </p:nvSpPr>
        <p:spPr>
          <a:xfrm>
            <a:off x="1600200" y="5333970"/>
            <a:ext cx="133320" cy="133320"/>
          </a:xfrm>
          <a:prstGeom prst="ellipse">
            <a:avLst/>
          </a:prstGeom>
          <a:solidFill>
            <a:srgbClr val="E87BA4"/>
          </a:solidFill>
          <a:ln/>
        </p:spPr>
      </p:sp>
      <p:sp>
        <p:nvSpPr>
          <p:cNvPr id="10" name="oval-326"/>
          <p:cNvSpPr/>
          <p:nvPr/>
        </p:nvSpPr>
        <p:spPr>
          <a:xfrm>
            <a:off x="1847820" y="5333970"/>
            <a:ext cx="133320" cy="133320"/>
          </a:xfrm>
          <a:prstGeom prst="ellipse">
            <a:avLst/>
          </a:prstGeom>
          <a:solidFill>
            <a:srgbClr val="008300"/>
          </a:solidFill>
          <a:ln/>
        </p:spPr>
      </p:sp>
      <p:sp>
        <p:nvSpPr>
          <p:cNvPr id="11" name="oval-327"/>
          <p:cNvSpPr/>
          <p:nvPr/>
        </p:nvSpPr>
        <p:spPr>
          <a:xfrm>
            <a:off x="2095530" y="5333970"/>
            <a:ext cx="133320" cy="133320"/>
          </a:xfrm>
          <a:prstGeom prst="ellipse">
            <a:avLst/>
          </a:prstGeom>
          <a:solidFill>
            <a:srgbClr val="4A3AA7"/>
          </a:solidFill>
          <a:ln/>
        </p:spPr>
      </p:sp>
      <p:sp>
        <p:nvSpPr>
          <p:cNvPr id="12" name="oval-328"/>
          <p:cNvSpPr/>
          <p:nvPr/>
        </p:nvSpPr>
        <p:spPr>
          <a:xfrm>
            <a:off x="2343150" y="5333970"/>
            <a:ext cx="133320" cy="133320"/>
          </a:xfrm>
          <a:prstGeom prst="ellipse">
            <a:avLst/>
          </a:prstGeom>
          <a:solidFill>
            <a:srgbClr val="E34948"/>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329"/>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01</a:t>
            </a:r>
            <a:pPr algn="l" indent="0" marL="0">
              <a:lnSpc>
                <a:spcPct val="120000"/>
              </a:lnSpc>
              <a:buNone/>
            </a:pPr>
            <a:r>
              <a:rPr lang="en-US" sz="1013" b="1" spc="122" kern="0" dirty="0">
                <a:solidFill>
                  <a:srgbClr val="2A78D6"/>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COMPASS</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Set up in a few minutes</a:t>
            </a:r>
            <a:endParaRPr lang="en-US" sz="3600" dirty="0"/>
          </a:p>
        </p:txBody>
      </p:sp>
      <p:sp>
        <p:nvSpPr>
          <p:cNvPr id="4" name="text-331"/>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Five short steps build the profile the crew works from.</a:t>
            </a:r>
            <a:endParaRPr lang="en-US" sz="1575" dirty="0"/>
          </a:p>
        </p:txBody>
      </p:sp>
      <p:sp>
        <p:nvSpPr>
          <p:cNvPr id="5" name="rect-332"/>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333"/>
          <p:cNvSpPr/>
          <p:nvPr/>
        </p:nvSpPr>
        <p:spPr>
          <a:xfrm>
            <a:off x="742950" y="1924080"/>
            <a:ext cx="85771" cy="85771"/>
          </a:xfrm>
          <a:prstGeom prst="ellipse">
            <a:avLst/>
          </a:prstGeom>
          <a:solidFill>
            <a:srgbClr val="FF5F57"/>
          </a:solidFill>
          <a:ln/>
        </p:spPr>
      </p:sp>
      <p:sp>
        <p:nvSpPr>
          <p:cNvPr id="7" name="oval-334"/>
          <p:cNvSpPr/>
          <p:nvPr/>
        </p:nvSpPr>
        <p:spPr>
          <a:xfrm>
            <a:off x="876270" y="1924080"/>
            <a:ext cx="85771" cy="85771"/>
          </a:xfrm>
          <a:prstGeom prst="ellipse">
            <a:avLst/>
          </a:prstGeom>
          <a:solidFill>
            <a:srgbClr val="FEBC2E"/>
          </a:solidFill>
          <a:ln/>
        </p:spPr>
      </p:sp>
      <p:sp>
        <p:nvSpPr>
          <p:cNvPr id="8" name="oval-335"/>
          <p:cNvSpPr/>
          <p:nvPr/>
        </p:nvSpPr>
        <p:spPr>
          <a:xfrm>
            <a:off x="1009680" y="1924080"/>
            <a:ext cx="85771" cy="85771"/>
          </a:xfrm>
          <a:prstGeom prst="ellipse">
            <a:avLst/>
          </a:prstGeom>
          <a:solidFill>
            <a:srgbClr val="28C840"/>
          </a:solidFill>
          <a:ln/>
        </p:spPr>
      </p:sp>
      <p:sp>
        <p:nvSpPr>
          <p:cNvPr id="9" name="text-336"/>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/onboarding</a:t>
            </a:r>
            <a:endParaRPr lang="en-US" sz="900" dirty="0"/>
          </a:p>
        </p:txBody>
      </p:sp>
      <p:pic>
        <p:nvPicPr>
          <p:cNvPr id="10" name="image-337" descr="Screenshot: Set up in a few minutes">    </p:cNvPr>
          <p:cNvPicPr>
            <a:picLocks noChangeAspect="1"/>
          </p:cNvPicPr>
          <p:nvPr/>
        </p:nvPicPr>
        <p:blipFill>
          <a:blip r:embed="rId1"/>
          <a:stretch>
            <a:fillRect/>
          </a:stretch>
        </p:blipFill>
        <p:spPr>
          <a:xfrm>
            <a:off x="685800" y="2095530"/>
            <a:ext cx="5715000" cy="3571921"/>
          </a:xfrm>
          <a:prstGeom prst="rect">
            <a:avLst/>
          </a:prstGeom>
        </p:spPr>
      </p:pic>
      <p:sp>
        <p:nvSpPr>
          <p:cNvPr id="11" name="oval-338"/>
          <p:cNvSpPr/>
          <p:nvPr/>
        </p:nvSpPr>
        <p:spPr>
          <a:xfrm>
            <a:off x="6781830" y="2141708"/>
            <a:ext cx="104790" cy="104790"/>
          </a:xfrm>
          <a:prstGeom prst="ellipse">
            <a:avLst/>
          </a:prstGeom>
          <a:solidFill>
            <a:srgbClr val="EB6834"/>
          </a:solidFill>
          <a:ln/>
        </p:spPr>
      </p:sp>
      <p:sp>
        <p:nvSpPr>
          <p:cNvPr id="12" name="text-339"/>
          <p:cNvSpPr txBox="1"/>
          <p:nvPr/>
        </p:nvSpPr>
        <p:spPr>
          <a:xfrm>
            <a:off x="6972300" y="210357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340"/>
          <p:cNvSpPr txBox="1"/>
          <p:nvPr/>
        </p:nvSpPr>
        <p:spPr>
          <a:xfrm>
            <a:off x="6781830" y="237030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Starting is the hardest part. Students don't know which facts matter, or which are safe to share.</a:t>
            </a:r>
            <a:endParaRPr lang="en-US" sz="1388" dirty="0"/>
          </a:p>
        </p:txBody>
      </p:sp>
      <p:sp>
        <p:nvSpPr>
          <p:cNvPr id="14" name="oval-341"/>
          <p:cNvSpPr/>
          <p:nvPr/>
        </p:nvSpPr>
        <p:spPr>
          <a:xfrm>
            <a:off x="6781830" y="3320918"/>
            <a:ext cx="104790" cy="104790"/>
          </a:xfrm>
          <a:prstGeom prst="ellipse">
            <a:avLst/>
          </a:prstGeom>
          <a:solidFill>
            <a:srgbClr val="2A78D6"/>
          </a:solidFill>
          <a:ln/>
        </p:spPr>
      </p:sp>
      <p:sp>
        <p:nvSpPr>
          <p:cNvPr id="15" name="text-342"/>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343"/>
          <p:cNvSpPr txBox="1"/>
          <p:nvPr/>
        </p:nvSpPr>
        <p:spPr>
          <a:xfrm>
            <a:off x="6781830" y="354951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No AI during setup. Finishing it queues Scout's first scholarship sweep and Compass's first weekly plan.</a:t>
            </a:r>
            <a:endParaRPr lang="en-US" sz="1388" dirty="0"/>
          </a:p>
        </p:txBody>
      </p:sp>
      <p:sp>
        <p:nvSpPr>
          <p:cNvPr id="17" name="oval-344"/>
          <p:cNvSpPr/>
          <p:nvPr/>
        </p:nvSpPr>
        <p:spPr>
          <a:xfrm>
            <a:off x="6781830" y="4500128"/>
            <a:ext cx="104790" cy="104790"/>
          </a:xfrm>
          <a:prstGeom prst="ellipse">
            <a:avLst/>
          </a:prstGeom>
          <a:solidFill>
            <a:srgbClr val="1BAF7A"/>
          </a:solidFill>
          <a:ln/>
        </p:spPr>
      </p:sp>
      <p:sp>
        <p:nvSpPr>
          <p:cNvPr id="18" name="text-345"/>
          <p:cNvSpPr txBox="1"/>
          <p:nvPr/>
        </p:nvSpPr>
        <p:spPr>
          <a:xfrm>
            <a:off x="6972300" y="4461998"/>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346"/>
          <p:cNvSpPr txBox="1"/>
          <p:nvPr/>
        </p:nvSpPr>
        <p:spPr>
          <a:xfrm>
            <a:off x="6781830" y="472872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Sensitive matching facts start off and are explained before use. Every answer is saved as something you said.</a:t>
            </a:r>
            <a:endParaRPr lang="en-US" sz="1388" dirty="0"/>
          </a:p>
        </p:txBody>
      </p:sp>
      <p:sp>
        <p:nvSpPr>
          <p:cNvPr id="20" name="text-347"/>
          <p:cNvSpPr txBox="1"/>
          <p:nvPr/>
        </p:nvSpPr>
        <p:spPr>
          <a:xfrm>
            <a:off x="609630" y="600075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348"/>
          <p:cNvSpPr/>
          <p:nvPr/>
        </p:nvSpPr>
        <p:spPr>
          <a:xfrm>
            <a:off x="1485900" y="5924580"/>
            <a:ext cx="838230" cy="285750"/>
          </a:xfrm>
          <a:prstGeom prst="roundRect">
            <a:avLst>
              <a:gd name="adj" fmla="val 50016"/>
            </a:avLst>
          </a:prstGeom>
          <a:solidFill>
            <a:srgbClr val="FFFFFF"/>
          </a:solidFill>
          <a:ln w="9525">
            <a:solidFill>
              <a:srgbClr val="E5E1D7"/>
            </a:solidFill>
            <a:prstDash val="solid"/>
          </a:ln>
        </p:spPr>
      </p:sp>
      <p:sp>
        <p:nvSpPr>
          <p:cNvPr id="22" name="text-349"/>
          <p:cNvSpPr txBox="1"/>
          <p:nvPr/>
        </p:nvSpPr>
        <p:spPr>
          <a:xfrm>
            <a:off x="1485900" y="599124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About you</a:t>
            </a:r>
            <a:endParaRPr lang="en-US" sz="1013" dirty="0"/>
          </a:p>
        </p:txBody>
      </p:sp>
      <p:sp>
        <p:nvSpPr>
          <p:cNvPr id="23" name="rect-350"/>
          <p:cNvSpPr/>
          <p:nvPr/>
        </p:nvSpPr>
        <p:spPr>
          <a:xfrm>
            <a:off x="2400300" y="5924580"/>
            <a:ext cx="1590690" cy="285750"/>
          </a:xfrm>
          <a:prstGeom prst="roundRect">
            <a:avLst>
              <a:gd name="adj" fmla="val 50016"/>
            </a:avLst>
          </a:prstGeom>
          <a:solidFill>
            <a:srgbClr val="FFFFFF"/>
          </a:solidFill>
          <a:ln w="9525">
            <a:solidFill>
              <a:srgbClr val="E5E1D7"/>
            </a:solidFill>
            <a:prstDash val="solid"/>
          </a:ln>
        </p:spPr>
      </p:sp>
      <p:sp>
        <p:nvSpPr>
          <p:cNvPr id="24" name="text-351"/>
          <p:cNvSpPr txBox="1"/>
          <p:nvPr/>
        </p:nvSpPr>
        <p:spPr>
          <a:xfrm>
            <a:off x="2400300" y="5991240"/>
            <a:ext cx="15906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Grades and interests</a:t>
            </a:r>
            <a:endParaRPr lang="en-US" sz="1013" dirty="0"/>
          </a:p>
        </p:txBody>
      </p:sp>
      <p:sp>
        <p:nvSpPr>
          <p:cNvPr id="25" name="rect-352"/>
          <p:cNvSpPr/>
          <p:nvPr/>
        </p:nvSpPr>
        <p:spPr>
          <a:xfrm>
            <a:off x="4067160" y="5924580"/>
            <a:ext cx="1933590" cy="285750"/>
          </a:xfrm>
          <a:prstGeom prst="roundRect">
            <a:avLst>
              <a:gd name="adj" fmla="val 50016"/>
            </a:avLst>
          </a:prstGeom>
          <a:solidFill>
            <a:srgbClr val="FFFFFF"/>
          </a:solidFill>
          <a:ln w="9525">
            <a:solidFill>
              <a:srgbClr val="E5E1D7"/>
            </a:solidFill>
            <a:prstDash val="solid"/>
          </a:ln>
        </p:spPr>
      </p:sp>
      <p:sp>
        <p:nvSpPr>
          <p:cNvPr id="26" name="text-353"/>
          <p:cNvSpPr txBox="1"/>
          <p:nvPr/>
        </p:nvSpPr>
        <p:spPr>
          <a:xfrm>
            <a:off x="4067160" y="5991240"/>
            <a:ext cx="19335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Matching opt-ins, all off</a:t>
            </a:r>
            <a:endParaRPr lang="en-US" sz="1013" dirty="0"/>
          </a:p>
        </p:txBody>
      </p:sp>
      <p:sp>
        <p:nvSpPr>
          <p:cNvPr id="27" name="rect-354"/>
          <p:cNvSpPr/>
          <p:nvPr/>
        </p:nvSpPr>
        <p:spPr>
          <a:xfrm>
            <a:off x="6076920" y="5924580"/>
            <a:ext cx="1247790" cy="285750"/>
          </a:xfrm>
          <a:prstGeom prst="roundRect">
            <a:avLst>
              <a:gd name="adj" fmla="val 50016"/>
            </a:avLst>
          </a:prstGeom>
          <a:solidFill>
            <a:srgbClr val="FFFFFF"/>
          </a:solidFill>
          <a:ln w="9525">
            <a:solidFill>
              <a:srgbClr val="E5E1D7"/>
            </a:solidFill>
            <a:prstDash val="solid"/>
          </a:ln>
        </p:spPr>
      </p:sp>
      <p:sp>
        <p:nvSpPr>
          <p:cNvPr id="28" name="text-355"/>
          <p:cNvSpPr txBox="1"/>
          <p:nvPr/>
        </p:nvSpPr>
        <p:spPr>
          <a:xfrm>
            <a:off x="6076920" y="599124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Starter uploads</a:t>
            </a:r>
            <a:endParaRPr lang="en-US" sz="1013" dirty="0"/>
          </a:p>
        </p:txBody>
      </p:sp>
      <p:sp>
        <p:nvSpPr>
          <p:cNvPr id="29" name="rect-356"/>
          <p:cNvSpPr/>
          <p:nvPr/>
        </p:nvSpPr>
        <p:spPr>
          <a:xfrm>
            <a:off x="7400971" y="5924580"/>
            <a:ext cx="1590690" cy="285750"/>
          </a:xfrm>
          <a:prstGeom prst="roundRect">
            <a:avLst>
              <a:gd name="adj" fmla="val 50016"/>
            </a:avLst>
          </a:prstGeom>
          <a:solidFill>
            <a:srgbClr val="FFFFFF"/>
          </a:solidFill>
          <a:ln w="9525">
            <a:solidFill>
              <a:srgbClr val="E5E1D7"/>
            </a:solidFill>
            <a:prstDash val="solid"/>
          </a:ln>
        </p:spPr>
      </p:sp>
      <p:sp>
        <p:nvSpPr>
          <p:cNvPr id="30" name="text-357"/>
          <p:cNvSpPr txBox="1"/>
          <p:nvPr/>
        </p:nvSpPr>
        <p:spPr>
          <a:xfrm>
            <a:off x="7400971" y="5991240"/>
            <a:ext cx="15906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Starter college list</a:t>
            </a:r>
            <a:endParaRPr lang="en-US" sz="1013" dirty="0"/>
          </a:p>
        </p:txBody>
      </p:sp>
      <p:sp>
        <p:nvSpPr>
          <p:cNvPr id="31" name="rect-358"/>
          <p:cNvSpPr/>
          <p:nvPr/>
        </p:nvSpPr>
        <p:spPr>
          <a:xfrm>
            <a:off x="9067830" y="5924580"/>
            <a:ext cx="1247790" cy="285750"/>
          </a:xfrm>
          <a:prstGeom prst="roundRect">
            <a:avLst>
              <a:gd name="adj" fmla="val 50016"/>
            </a:avLst>
          </a:prstGeom>
          <a:solidFill>
            <a:srgbClr val="FFFFFF"/>
          </a:solidFill>
          <a:ln w="9525">
            <a:solidFill>
              <a:srgbClr val="E5E1D7"/>
            </a:solidFill>
            <a:prstDash val="solid"/>
          </a:ln>
        </p:spPr>
      </p:sp>
      <p:sp>
        <p:nvSpPr>
          <p:cNvPr id="32" name="text-359"/>
          <p:cNvSpPr txBox="1"/>
          <p:nvPr/>
        </p:nvSpPr>
        <p:spPr>
          <a:xfrm>
            <a:off x="9067830" y="599124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Invite a parent</a:t>
            </a:r>
            <a:endParaRPr lang="en-US" sz="1013" dirty="0"/>
          </a:p>
        </p:txBody>
      </p:sp>
      <p:sp>
        <p:nvSpPr>
          <p:cNvPr id="33" name="rect-360"/>
          <p:cNvSpPr/>
          <p:nvPr/>
        </p:nvSpPr>
        <p:spPr>
          <a:xfrm>
            <a:off x="1485900" y="6267480"/>
            <a:ext cx="1390620" cy="285750"/>
          </a:xfrm>
          <a:prstGeom prst="roundRect">
            <a:avLst>
              <a:gd name="adj" fmla="val 50016"/>
            </a:avLst>
          </a:prstGeom>
          <a:solidFill>
            <a:srgbClr val="FFFFFF"/>
          </a:solidFill>
          <a:ln w="9525">
            <a:solidFill>
              <a:srgbClr val="E5E1D7"/>
            </a:solidFill>
            <a:prstDash val="solid"/>
          </a:ln>
        </p:spPr>
      </p:sp>
      <p:sp>
        <p:nvSpPr>
          <p:cNvPr id="34" name="text-361"/>
          <p:cNvSpPr txBox="1"/>
          <p:nvPr/>
        </p:nvSpPr>
        <p:spPr>
          <a:xfrm>
            <a:off x="1485900" y="6334140"/>
            <a:ext cx="13906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Under-13 age gate</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362"/>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02</a:t>
            </a:r>
            <a:pPr algn="l" indent="0" marL="0">
              <a:lnSpc>
                <a:spcPct val="120000"/>
              </a:lnSpc>
              <a:buNone/>
            </a:pPr>
            <a:r>
              <a:rPr lang="en-US" sz="1013" b="1" spc="122" kern="0" dirty="0">
                <a:solidFill>
                  <a:srgbClr val="2A78D6"/>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COMPASS</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One plan for the week</a:t>
            </a:r>
            <a:endParaRPr lang="en-US" sz="3600" dirty="0"/>
          </a:p>
        </p:txBody>
      </p:sp>
      <p:sp>
        <p:nvSpPr>
          <p:cNvPr id="4" name="text-364"/>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The next step, the week's tasks, the real cost, and what's due.</a:t>
            </a:r>
            <a:endParaRPr lang="en-US" sz="1575" dirty="0"/>
          </a:p>
        </p:txBody>
      </p:sp>
      <p:sp>
        <p:nvSpPr>
          <p:cNvPr id="5" name="rect-365"/>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366"/>
          <p:cNvSpPr/>
          <p:nvPr/>
        </p:nvSpPr>
        <p:spPr>
          <a:xfrm>
            <a:off x="742950" y="1924080"/>
            <a:ext cx="85771" cy="85771"/>
          </a:xfrm>
          <a:prstGeom prst="ellipse">
            <a:avLst/>
          </a:prstGeom>
          <a:solidFill>
            <a:srgbClr val="FF5F57"/>
          </a:solidFill>
          <a:ln/>
        </p:spPr>
      </p:sp>
      <p:sp>
        <p:nvSpPr>
          <p:cNvPr id="7" name="oval-367"/>
          <p:cNvSpPr/>
          <p:nvPr/>
        </p:nvSpPr>
        <p:spPr>
          <a:xfrm>
            <a:off x="876270" y="1924080"/>
            <a:ext cx="85771" cy="85771"/>
          </a:xfrm>
          <a:prstGeom prst="ellipse">
            <a:avLst/>
          </a:prstGeom>
          <a:solidFill>
            <a:srgbClr val="FEBC2E"/>
          </a:solidFill>
          <a:ln/>
        </p:spPr>
      </p:sp>
      <p:sp>
        <p:nvSpPr>
          <p:cNvPr id="8" name="oval-368"/>
          <p:cNvSpPr/>
          <p:nvPr/>
        </p:nvSpPr>
        <p:spPr>
          <a:xfrm>
            <a:off x="1009680" y="1924080"/>
            <a:ext cx="85771" cy="85771"/>
          </a:xfrm>
          <a:prstGeom prst="ellipse">
            <a:avLst/>
          </a:prstGeom>
          <a:solidFill>
            <a:srgbClr val="28C840"/>
          </a:solidFill>
          <a:ln/>
        </p:spPr>
      </p:sp>
      <p:sp>
        <p:nvSpPr>
          <p:cNvPr id="9" name="text-369"/>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/week</a:t>
            </a:r>
            <a:endParaRPr lang="en-US" sz="900" dirty="0"/>
          </a:p>
        </p:txBody>
      </p:sp>
      <p:pic>
        <p:nvPicPr>
          <p:cNvPr id="10" name="image-370" descr="Screenshot: One plan for the week">    </p:cNvPr>
          <p:cNvPicPr>
            <a:picLocks noChangeAspect="1"/>
          </p:cNvPicPr>
          <p:nvPr/>
        </p:nvPicPr>
        <p:blipFill>
          <a:blip r:embed="rId1"/>
          <a:stretch>
            <a:fillRect/>
          </a:stretch>
        </p:blipFill>
        <p:spPr>
          <a:xfrm>
            <a:off x="685800" y="2095530"/>
            <a:ext cx="5715000" cy="3571921"/>
          </a:xfrm>
          <a:prstGeom prst="rect">
            <a:avLst/>
          </a:prstGeom>
        </p:spPr>
      </p:pic>
      <p:sp>
        <p:nvSpPr>
          <p:cNvPr id="11" name="oval-371"/>
          <p:cNvSpPr/>
          <p:nvPr/>
        </p:nvSpPr>
        <p:spPr>
          <a:xfrm>
            <a:off x="6781830" y="2018355"/>
            <a:ext cx="104790" cy="104790"/>
          </a:xfrm>
          <a:prstGeom prst="ellipse">
            <a:avLst/>
          </a:prstGeom>
          <a:solidFill>
            <a:srgbClr val="EB6834"/>
          </a:solidFill>
          <a:ln/>
        </p:spPr>
      </p:sp>
      <p:sp>
        <p:nvSpPr>
          <p:cNvPr id="12" name="text-372"/>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373"/>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Deadlines live in many places, and students can't tell which task is worth their limited time.</a:t>
            </a:r>
            <a:endParaRPr lang="en-US" sz="1388" dirty="0"/>
          </a:p>
        </p:txBody>
      </p:sp>
      <p:sp>
        <p:nvSpPr>
          <p:cNvPr id="14" name="oval-374"/>
          <p:cNvSpPr/>
          <p:nvPr/>
        </p:nvSpPr>
        <p:spPr>
          <a:xfrm>
            <a:off x="6781830" y="3197565"/>
            <a:ext cx="104790" cy="104790"/>
          </a:xfrm>
          <a:prstGeom prst="ellipse">
            <a:avLst/>
          </a:prstGeom>
          <a:solidFill>
            <a:srgbClr val="2A78D6"/>
          </a:solidFill>
          <a:ln/>
        </p:spPr>
      </p:sp>
      <p:sp>
        <p:nvSpPr>
          <p:cNvPr id="15" name="text-375"/>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376"/>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Compass picks up to 8 tasks from deadlines, matches, and drafts. Code pins them to the week and drops duplicates.</a:t>
            </a:r>
            <a:endParaRPr lang="en-US" sz="1388" dirty="0"/>
          </a:p>
        </p:txBody>
      </p:sp>
      <p:sp>
        <p:nvSpPr>
          <p:cNvPr id="17" name="oval-377"/>
          <p:cNvSpPr/>
          <p:nvPr/>
        </p:nvSpPr>
        <p:spPr>
          <a:xfrm>
            <a:off x="6781830" y="4623389"/>
            <a:ext cx="104790" cy="104790"/>
          </a:xfrm>
          <a:prstGeom prst="ellipse">
            <a:avLst/>
          </a:prstGeom>
          <a:solidFill>
            <a:srgbClr val="1BAF7A"/>
          </a:solidFill>
          <a:ln/>
        </p:spPr>
      </p:sp>
      <p:sp>
        <p:nvSpPr>
          <p:cNvPr id="18" name="text-378"/>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379"/>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Nobody has to know the whole system. The week shows just the next few steps, ranked, with the real cost beside them.</a:t>
            </a:r>
            <a:endParaRPr lang="en-US" sz="1388" dirty="0"/>
          </a:p>
        </p:txBody>
      </p:sp>
      <p:sp>
        <p:nvSpPr>
          <p:cNvPr id="20" name="text-380"/>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381"/>
          <p:cNvSpPr/>
          <p:nvPr/>
        </p:nvSpPr>
        <p:spPr>
          <a:xfrm>
            <a:off x="1485900" y="6057900"/>
            <a:ext cx="838230" cy="285750"/>
          </a:xfrm>
          <a:prstGeom prst="roundRect">
            <a:avLst>
              <a:gd name="adj" fmla="val 50016"/>
            </a:avLst>
          </a:prstGeom>
          <a:solidFill>
            <a:srgbClr val="FFFFFF"/>
          </a:solidFill>
          <a:ln w="9525">
            <a:solidFill>
              <a:srgbClr val="E5E1D7"/>
            </a:solidFill>
            <a:prstDash val="solid"/>
          </a:ln>
        </p:spPr>
      </p:sp>
      <p:sp>
        <p:nvSpPr>
          <p:cNvPr id="22" name="text-382"/>
          <p:cNvSpPr txBox="1"/>
          <p:nvPr/>
        </p:nvSpPr>
        <p:spPr>
          <a:xfrm>
            <a:off x="1485900" y="612456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Next step</a:t>
            </a:r>
            <a:endParaRPr lang="en-US" sz="1013" dirty="0"/>
          </a:p>
        </p:txBody>
      </p:sp>
      <p:sp>
        <p:nvSpPr>
          <p:cNvPr id="23" name="rect-383"/>
          <p:cNvSpPr/>
          <p:nvPr/>
        </p:nvSpPr>
        <p:spPr>
          <a:xfrm>
            <a:off x="2400300" y="6057900"/>
            <a:ext cx="981060" cy="285750"/>
          </a:xfrm>
          <a:prstGeom prst="roundRect">
            <a:avLst>
              <a:gd name="adj" fmla="val 50016"/>
            </a:avLst>
          </a:prstGeom>
          <a:solidFill>
            <a:srgbClr val="FFFFFF"/>
          </a:solidFill>
          <a:ln w="9525">
            <a:solidFill>
              <a:srgbClr val="E5E1D7"/>
            </a:solidFill>
            <a:prstDash val="solid"/>
          </a:ln>
        </p:spPr>
      </p:sp>
      <p:sp>
        <p:nvSpPr>
          <p:cNvPr id="24" name="text-384"/>
          <p:cNvSpPr txBox="1"/>
          <p:nvPr/>
        </p:nvSpPr>
        <p:spPr>
          <a:xfrm>
            <a:off x="240030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Weekly plan</a:t>
            </a:r>
            <a:endParaRPr lang="en-US" sz="1013" dirty="0"/>
          </a:p>
        </p:txBody>
      </p:sp>
      <p:sp>
        <p:nvSpPr>
          <p:cNvPr id="25" name="rect-385"/>
          <p:cNvSpPr/>
          <p:nvPr/>
        </p:nvSpPr>
        <p:spPr>
          <a:xfrm>
            <a:off x="3457621" y="6057900"/>
            <a:ext cx="914400" cy="285750"/>
          </a:xfrm>
          <a:prstGeom prst="roundRect">
            <a:avLst>
              <a:gd name="adj" fmla="val 50016"/>
            </a:avLst>
          </a:prstGeom>
          <a:solidFill>
            <a:srgbClr val="FFFFFF"/>
          </a:solidFill>
          <a:ln w="9525">
            <a:solidFill>
              <a:srgbClr val="E5E1D7"/>
            </a:solidFill>
            <a:prstDash val="solid"/>
          </a:ln>
        </p:spPr>
      </p:sp>
      <p:sp>
        <p:nvSpPr>
          <p:cNvPr id="26" name="text-386"/>
          <p:cNvSpPr txBox="1"/>
          <p:nvPr/>
        </p:nvSpPr>
        <p:spPr>
          <a:xfrm>
            <a:off x="3457621"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Year-1 gap</a:t>
            </a:r>
            <a:endParaRPr lang="en-US" sz="1013" dirty="0"/>
          </a:p>
        </p:txBody>
      </p:sp>
      <p:sp>
        <p:nvSpPr>
          <p:cNvPr id="27" name="rect-387"/>
          <p:cNvSpPr/>
          <p:nvPr/>
        </p:nvSpPr>
        <p:spPr>
          <a:xfrm>
            <a:off x="4448190" y="6057900"/>
            <a:ext cx="838230" cy="285750"/>
          </a:xfrm>
          <a:prstGeom prst="roundRect">
            <a:avLst>
              <a:gd name="adj" fmla="val 50016"/>
            </a:avLst>
          </a:prstGeom>
          <a:solidFill>
            <a:srgbClr val="FFFFFF"/>
          </a:solidFill>
          <a:ln w="9525">
            <a:solidFill>
              <a:srgbClr val="E5E1D7"/>
            </a:solidFill>
            <a:prstDash val="solid"/>
          </a:ln>
        </p:spPr>
      </p:sp>
      <p:sp>
        <p:nvSpPr>
          <p:cNvPr id="28" name="text-388"/>
          <p:cNvSpPr txBox="1"/>
          <p:nvPr/>
        </p:nvSpPr>
        <p:spPr>
          <a:xfrm>
            <a:off x="4448190" y="612456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Coming up</a:t>
            </a:r>
            <a:endParaRPr lang="en-US" sz="1013" dirty="0"/>
          </a:p>
        </p:txBody>
      </p:sp>
      <p:sp>
        <p:nvSpPr>
          <p:cNvPr id="29" name="rect-389"/>
          <p:cNvSpPr/>
          <p:nvPr/>
        </p:nvSpPr>
        <p:spPr>
          <a:xfrm>
            <a:off x="5362590" y="6057900"/>
            <a:ext cx="1047720" cy="285750"/>
          </a:xfrm>
          <a:prstGeom prst="roundRect">
            <a:avLst>
              <a:gd name="adj" fmla="val 50016"/>
            </a:avLst>
          </a:prstGeom>
          <a:solidFill>
            <a:srgbClr val="FFFFFF"/>
          </a:solidFill>
          <a:ln w="9525">
            <a:solidFill>
              <a:srgbClr val="E5E1D7"/>
            </a:solidFill>
            <a:prstDash val="solid"/>
          </a:ln>
        </p:spPr>
      </p:sp>
      <p:sp>
        <p:nvSpPr>
          <p:cNvPr id="30" name="text-390"/>
          <p:cNvSpPr txBox="1"/>
          <p:nvPr/>
        </p:nvSpPr>
        <p:spPr>
          <a:xfrm>
            <a:off x="536259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Sunday sweep</a:t>
            </a:r>
            <a:endParaRPr lang="en-US" sz="1013" dirty="0"/>
          </a:p>
        </p:txBody>
      </p:sp>
      <p:sp>
        <p:nvSpPr>
          <p:cNvPr id="31" name="rect-391"/>
          <p:cNvSpPr/>
          <p:nvPr/>
        </p:nvSpPr>
        <p:spPr>
          <a:xfrm>
            <a:off x="6486571" y="6057900"/>
            <a:ext cx="704820" cy="285750"/>
          </a:xfrm>
          <a:prstGeom prst="roundRect">
            <a:avLst>
              <a:gd name="adj" fmla="val 50016"/>
            </a:avLst>
          </a:prstGeom>
          <a:solidFill>
            <a:srgbClr val="FFFFFF"/>
          </a:solidFill>
          <a:ln w="9525">
            <a:solidFill>
              <a:srgbClr val="E5E1D7"/>
            </a:solidFill>
            <a:prstDash val="solid"/>
          </a:ln>
        </p:spPr>
      </p:sp>
      <p:sp>
        <p:nvSpPr>
          <p:cNvPr id="32" name="text-392"/>
          <p:cNvSpPr txBox="1"/>
          <p:nvPr/>
        </p:nvSpPr>
        <p:spPr>
          <a:xfrm>
            <a:off x="6486571" y="6124560"/>
            <a:ext cx="7048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Ask bar</a:t>
            </a:r>
            <a:endParaRPr lang="en-US" sz="1013" dirty="0"/>
          </a:p>
        </p:txBody>
      </p:sp>
      <p:sp>
        <p:nvSpPr>
          <p:cNvPr id="33" name="rect-393"/>
          <p:cNvSpPr/>
          <p:nvPr/>
        </p:nvSpPr>
        <p:spPr>
          <a:xfrm>
            <a:off x="7267560" y="6057900"/>
            <a:ext cx="1047720" cy="285750"/>
          </a:xfrm>
          <a:prstGeom prst="roundRect">
            <a:avLst>
              <a:gd name="adj" fmla="val 50016"/>
            </a:avLst>
          </a:prstGeom>
          <a:solidFill>
            <a:srgbClr val="FFFFFF"/>
          </a:solidFill>
          <a:ln w="9525">
            <a:solidFill>
              <a:srgbClr val="E5E1D7"/>
            </a:solidFill>
            <a:prstDash val="solid"/>
          </a:ln>
        </p:spPr>
      </p:sp>
      <p:sp>
        <p:nvSpPr>
          <p:cNvPr id="34" name="text-394"/>
          <p:cNvSpPr txBox="1"/>
          <p:nvPr/>
        </p:nvSpPr>
        <p:spPr>
          <a:xfrm>
            <a:off x="726756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Plan my week</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395"/>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03</a:t>
            </a:r>
            <a:pPr algn="l" indent="0" marL="0">
              <a:lnSpc>
                <a:spcPct val="120000"/>
              </a:lnSpc>
              <a:buNone/>
            </a:pPr>
            <a:r>
              <a:rPr lang="en-US" sz="1013" b="1" spc="122" kern="0" dirty="0">
                <a:solidFill>
                  <a:srgbClr val="2A78D6"/>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COMPASS</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pPr algn="l" indent="0" marL="0">
              <a:lnSpc>
                <a:spcPct val="120000"/>
              </a:lnSpc>
              <a:buNone/>
            </a:pPr>
            <a:r>
              <a:rPr lang="en-US" sz="1013" b="1" spc="122" kern="0" dirty="0">
                <a:solidFill>
                  <a:srgbClr val="1BAF7A"/>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ATLAS</a:t>
            </a:r>
            <a:pPr algn="l" indent="0" marL="0">
              <a:lnSpc>
                <a:spcPct val="120000"/>
              </a:lnSpc>
              <a:buNone/>
            </a:pPr>
            <a:r>
              <a:rPr lang="en-US" sz="1013" b="1" spc="122" kern="0" dirty="0">
                <a:solidFill>
                  <a:srgbClr val="EDA1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QUILL</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Ask once. The right specialists answer</a:t>
            </a:r>
            <a:endParaRPr lang="en-US" sz="3600" dirty="0"/>
          </a:p>
        </p:txBody>
      </p:sp>
      <p:sp>
        <p:nvSpPr>
          <p:cNvPr id="4" name="text-397"/>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Compass coordinates the crew and writes one reply you can act on.</a:t>
            </a:r>
            <a:endParaRPr lang="en-US" sz="1575" dirty="0"/>
          </a:p>
        </p:txBody>
      </p:sp>
      <p:sp>
        <p:nvSpPr>
          <p:cNvPr id="5" name="rect-398"/>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399"/>
          <p:cNvSpPr/>
          <p:nvPr/>
        </p:nvSpPr>
        <p:spPr>
          <a:xfrm>
            <a:off x="742950" y="1924080"/>
            <a:ext cx="85771" cy="85771"/>
          </a:xfrm>
          <a:prstGeom prst="ellipse">
            <a:avLst/>
          </a:prstGeom>
          <a:solidFill>
            <a:srgbClr val="FF5F57"/>
          </a:solidFill>
          <a:ln/>
        </p:spPr>
      </p:sp>
      <p:sp>
        <p:nvSpPr>
          <p:cNvPr id="7" name="oval-400"/>
          <p:cNvSpPr/>
          <p:nvPr/>
        </p:nvSpPr>
        <p:spPr>
          <a:xfrm>
            <a:off x="876270" y="1924080"/>
            <a:ext cx="85771" cy="85771"/>
          </a:xfrm>
          <a:prstGeom prst="ellipse">
            <a:avLst/>
          </a:prstGeom>
          <a:solidFill>
            <a:srgbClr val="FEBC2E"/>
          </a:solidFill>
          <a:ln/>
        </p:spPr>
      </p:sp>
      <p:sp>
        <p:nvSpPr>
          <p:cNvPr id="8" name="oval-401"/>
          <p:cNvSpPr/>
          <p:nvPr/>
        </p:nvSpPr>
        <p:spPr>
          <a:xfrm>
            <a:off x="1009680" y="1924080"/>
            <a:ext cx="85771" cy="85771"/>
          </a:xfrm>
          <a:prstGeom prst="ellipse">
            <a:avLst/>
          </a:prstGeom>
          <a:solidFill>
            <a:srgbClr val="28C840"/>
          </a:solidFill>
          <a:ln/>
        </p:spPr>
      </p:sp>
      <p:sp>
        <p:nvSpPr>
          <p:cNvPr id="9" name="text-402"/>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/crew</a:t>
            </a:r>
            <a:endParaRPr lang="en-US" sz="900" dirty="0"/>
          </a:p>
        </p:txBody>
      </p:sp>
      <p:pic>
        <p:nvPicPr>
          <p:cNvPr id="10" name="image-403" descr="Screenshot: Ask once. The right specialists answer">    </p:cNvPr>
          <p:cNvPicPr>
            <a:picLocks noChangeAspect="1"/>
          </p:cNvPicPr>
          <p:nvPr/>
        </p:nvPicPr>
        <p:blipFill>
          <a:blip r:embed="rId1"/>
          <a:stretch>
            <a:fillRect/>
          </a:stretch>
        </p:blipFill>
        <p:spPr>
          <a:xfrm>
            <a:off x="685800" y="2095530"/>
            <a:ext cx="5715000" cy="3571921"/>
          </a:xfrm>
          <a:prstGeom prst="rect">
            <a:avLst/>
          </a:prstGeom>
        </p:spPr>
      </p:pic>
      <p:sp>
        <p:nvSpPr>
          <p:cNvPr id="11" name="oval-404"/>
          <p:cNvSpPr/>
          <p:nvPr/>
        </p:nvSpPr>
        <p:spPr>
          <a:xfrm>
            <a:off x="6781830" y="1895003"/>
            <a:ext cx="104790" cy="104790"/>
          </a:xfrm>
          <a:prstGeom prst="ellipse">
            <a:avLst/>
          </a:prstGeom>
          <a:solidFill>
            <a:srgbClr val="EB6834"/>
          </a:solidFill>
          <a:ln/>
        </p:spPr>
      </p:sp>
      <p:sp>
        <p:nvSpPr>
          <p:cNvPr id="12" name="text-405"/>
          <p:cNvSpPr txBox="1"/>
          <p:nvPr/>
        </p:nvSpPr>
        <p:spPr>
          <a:xfrm>
            <a:off x="6972300" y="1856872"/>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406"/>
          <p:cNvSpPr txBox="1"/>
          <p:nvPr/>
        </p:nvSpPr>
        <p:spPr>
          <a:xfrm>
            <a:off x="6781830" y="2123603"/>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Advice is scattered across counselors, forums, and websites, and none of it knows the student's situation.</a:t>
            </a:r>
            <a:endParaRPr lang="en-US" sz="1388" dirty="0"/>
          </a:p>
        </p:txBody>
      </p:sp>
      <p:sp>
        <p:nvSpPr>
          <p:cNvPr id="14" name="oval-407"/>
          <p:cNvSpPr/>
          <p:nvPr/>
        </p:nvSpPr>
        <p:spPr>
          <a:xfrm>
            <a:off x="6781830" y="3320918"/>
            <a:ext cx="104790" cy="104790"/>
          </a:xfrm>
          <a:prstGeom prst="ellipse">
            <a:avLst/>
          </a:prstGeom>
          <a:solidFill>
            <a:srgbClr val="2A78D6"/>
          </a:solidFill>
          <a:ln/>
        </p:spPr>
      </p:sp>
      <p:sp>
        <p:nvSpPr>
          <p:cNvPr id="15" name="text-408"/>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409"/>
          <p:cNvSpPr txBox="1"/>
          <p:nvPr/>
        </p:nvSpPr>
        <p:spPr>
          <a:xfrm>
            <a:off x="6781830" y="354951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Compass reads the profile as data, consults up to four specialists, uses calculators for numbers, and cites what it used.</a:t>
            </a:r>
            <a:endParaRPr lang="en-US" sz="1388" dirty="0"/>
          </a:p>
        </p:txBody>
      </p:sp>
      <p:sp>
        <p:nvSpPr>
          <p:cNvPr id="17" name="oval-410"/>
          <p:cNvSpPr/>
          <p:nvPr/>
        </p:nvSpPr>
        <p:spPr>
          <a:xfrm>
            <a:off x="6781830" y="4746742"/>
            <a:ext cx="104790" cy="104790"/>
          </a:xfrm>
          <a:prstGeom prst="ellipse">
            <a:avLst/>
          </a:prstGeom>
          <a:solidFill>
            <a:srgbClr val="1BAF7A"/>
          </a:solidFill>
          <a:ln/>
        </p:spPr>
      </p:sp>
      <p:sp>
        <p:nvSpPr>
          <p:cNvPr id="18" name="text-411"/>
          <p:cNvSpPr txBox="1"/>
          <p:nvPr/>
        </p:nvSpPr>
        <p:spPr>
          <a:xfrm>
            <a:off x="6972300" y="4708703"/>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412"/>
          <p:cNvSpPr txBox="1"/>
          <p:nvPr/>
        </p:nvSpPr>
        <p:spPr>
          <a:xfrm>
            <a:off x="6781830" y="4975342"/>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Questions a student might feel shy asking get a patient answer, any time, with sources. Nothing changes until they click.</a:t>
            </a:r>
            <a:endParaRPr lang="en-US" sz="1388" dirty="0"/>
          </a:p>
        </p:txBody>
      </p:sp>
      <p:sp>
        <p:nvSpPr>
          <p:cNvPr id="20" name="text-413"/>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414"/>
          <p:cNvSpPr/>
          <p:nvPr/>
        </p:nvSpPr>
        <p:spPr>
          <a:xfrm>
            <a:off x="1485900" y="6057900"/>
            <a:ext cx="838230" cy="285750"/>
          </a:xfrm>
          <a:prstGeom prst="roundRect">
            <a:avLst>
              <a:gd name="adj" fmla="val 50016"/>
            </a:avLst>
          </a:prstGeom>
          <a:solidFill>
            <a:srgbClr val="FFFFFF"/>
          </a:solidFill>
          <a:ln w="9525">
            <a:solidFill>
              <a:srgbClr val="E5E1D7"/>
            </a:solidFill>
            <a:prstDash val="solid"/>
          </a:ln>
        </p:spPr>
      </p:sp>
      <p:sp>
        <p:nvSpPr>
          <p:cNvPr id="22" name="text-415"/>
          <p:cNvSpPr txBox="1"/>
          <p:nvPr/>
        </p:nvSpPr>
        <p:spPr>
          <a:xfrm>
            <a:off x="1485900" y="612456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@mentions</a:t>
            </a:r>
            <a:endParaRPr lang="en-US" sz="1013" dirty="0"/>
          </a:p>
        </p:txBody>
      </p:sp>
      <p:sp>
        <p:nvSpPr>
          <p:cNvPr id="23" name="rect-416"/>
          <p:cNvSpPr/>
          <p:nvPr/>
        </p:nvSpPr>
        <p:spPr>
          <a:xfrm>
            <a:off x="2400300" y="6057900"/>
            <a:ext cx="771571" cy="285750"/>
          </a:xfrm>
          <a:prstGeom prst="roundRect">
            <a:avLst>
              <a:gd name="adj" fmla="val 50016"/>
            </a:avLst>
          </a:prstGeom>
          <a:solidFill>
            <a:srgbClr val="FFFFFF"/>
          </a:solidFill>
          <a:ln w="9525">
            <a:solidFill>
              <a:srgbClr val="E5E1D7"/>
            </a:solidFill>
            <a:prstDash val="solid"/>
          </a:ln>
        </p:spPr>
      </p:sp>
      <p:sp>
        <p:nvSpPr>
          <p:cNvPr id="24" name="text-417"/>
          <p:cNvSpPr txBox="1"/>
          <p:nvPr/>
        </p:nvSpPr>
        <p:spPr>
          <a:xfrm>
            <a:off x="2400300" y="6124560"/>
            <a:ext cx="7715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Receipts</a:t>
            </a:r>
            <a:endParaRPr lang="en-US" sz="1013" dirty="0"/>
          </a:p>
        </p:txBody>
      </p:sp>
      <p:sp>
        <p:nvSpPr>
          <p:cNvPr id="25" name="rect-418"/>
          <p:cNvSpPr/>
          <p:nvPr/>
        </p:nvSpPr>
        <p:spPr>
          <a:xfrm>
            <a:off x="3248040" y="6057900"/>
            <a:ext cx="1047720" cy="285750"/>
          </a:xfrm>
          <a:prstGeom prst="roundRect">
            <a:avLst>
              <a:gd name="adj" fmla="val 50016"/>
            </a:avLst>
          </a:prstGeom>
          <a:solidFill>
            <a:srgbClr val="FFFFFF"/>
          </a:solidFill>
          <a:ln w="9525">
            <a:solidFill>
              <a:srgbClr val="E5E1D7"/>
            </a:solidFill>
            <a:prstDash val="solid"/>
          </a:ln>
        </p:spPr>
      </p:sp>
      <p:sp>
        <p:nvSpPr>
          <p:cNvPr id="26" name="text-419"/>
          <p:cNvSpPr txBox="1"/>
          <p:nvPr/>
        </p:nvSpPr>
        <p:spPr>
          <a:xfrm>
            <a:off x="324804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Action cards</a:t>
            </a:r>
            <a:endParaRPr lang="en-US" sz="1013" dirty="0"/>
          </a:p>
        </p:txBody>
      </p:sp>
      <p:sp>
        <p:nvSpPr>
          <p:cNvPr id="27" name="rect-420"/>
          <p:cNvSpPr/>
          <p:nvPr/>
        </p:nvSpPr>
        <p:spPr>
          <a:xfrm>
            <a:off x="4372021" y="6057900"/>
            <a:ext cx="1114471" cy="285750"/>
          </a:xfrm>
          <a:prstGeom prst="roundRect">
            <a:avLst>
              <a:gd name="adj" fmla="val 50016"/>
            </a:avLst>
          </a:prstGeom>
          <a:solidFill>
            <a:srgbClr val="FFFFFF"/>
          </a:solidFill>
          <a:ln w="9525">
            <a:solidFill>
              <a:srgbClr val="E5E1D7"/>
            </a:solidFill>
            <a:prstDash val="solid"/>
          </a:ln>
        </p:spPr>
      </p:sp>
      <p:sp>
        <p:nvSpPr>
          <p:cNvPr id="28" name="text-421"/>
          <p:cNvSpPr txBox="1"/>
          <p:nvPr/>
        </p:nvSpPr>
        <p:spPr>
          <a:xfrm>
            <a:off x="4372021"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Live progress</a:t>
            </a:r>
            <a:endParaRPr lang="en-US" sz="1013" dirty="0"/>
          </a:p>
        </p:txBody>
      </p:sp>
      <p:sp>
        <p:nvSpPr>
          <p:cNvPr id="29" name="rect-422"/>
          <p:cNvSpPr/>
          <p:nvPr/>
        </p:nvSpPr>
        <p:spPr>
          <a:xfrm>
            <a:off x="5562570" y="6057900"/>
            <a:ext cx="1114471" cy="285750"/>
          </a:xfrm>
          <a:prstGeom prst="roundRect">
            <a:avLst>
              <a:gd name="adj" fmla="val 50016"/>
            </a:avLst>
          </a:prstGeom>
          <a:solidFill>
            <a:srgbClr val="FFFFFF"/>
          </a:solidFill>
          <a:ln w="9525">
            <a:solidFill>
              <a:srgbClr val="E5E1D7"/>
            </a:solidFill>
            <a:prstDash val="solid"/>
          </a:ln>
        </p:spPr>
      </p:sp>
      <p:sp>
        <p:nvSpPr>
          <p:cNvPr id="30" name="text-423"/>
          <p:cNvSpPr txBox="1"/>
          <p:nvPr/>
        </p:nvSpPr>
        <p:spPr>
          <a:xfrm>
            <a:off x="556257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Context rooms</a:t>
            </a:r>
            <a:endParaRPr lang="en-US" sz="1013" dirty="0"/>
          </a:p>
        </p:txBody>
      </p:sp>
      <p:sp>
        <p:nvSpPr>
          <p:cNvPr id="31" name="rect-424"/>
          <p:cNvSpPr/>
          <p:nvPr/>
        </p:nvSpPr>
        <p:spPr>
          <a:xfrm>
            <a:off x="6753210" y="6057900"/>
            <a:ext cx="1181130" cy="285750"/>
          </a:xfrm>
          <a:prstGeom prst="roundRect">
            <a:avLst>
              <a:gd name="adj" fmla="val 50016"/>
            </a:avLst>
          </a:prstGeom>
          <a:solidFill>
            <a:srgbClr val="FFFFFF"/>
          </a:solidFill>
          <a:ln w="9525">
            <a:solidFill>
              <a:srgbClr val="E5E1D7"/>
            </a:solidFill>
            <a:prstDash val="solid"/>
          </a:ln>
        </p:spPr>
      </p:sp>
      <p:sp>
        <p:nvSpPr>
          <p:cNvPr id="32" name="text-425"/>
          <p:cNvSpPr txBox="1"/>
          <p:nvPr/>
        </p:nvSpPr>
        <p:spPr>
          <a:xfrm>
            <a:off x="675321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Temporary chat</a:t>
            </a:r>
            <a:endParaRPr lang="en-US" sz="1013" dirty="0"/>
          </a:p>
        </p:txBody>
      </p:sp>
      <p:sp>
        <p:nvSpPr>
          <p:cNvPr id="33" name="rect-426"/>
          <p:cNvSpPr/>
          <p:nvPr/>
        </p:nvSpPr>
        <p:spPr>
          <a:xfrm>
            <a:off x="8010510" y="6057900"/>
            <a:ext cx="1181130" cy="285750"/>
          </a:xfrm>
          <a:prstGeom prst="roundRect">
            <a:avLst>
              <a:gd name="adj" fmla="val 50016"/>
            </a:avLst>
          </a:prstGeom>
          <a:solidFill>
            <a:srgbClr val="FFFFFF"/>
          </a:solidFill>
          <a:ln w="9525">
            <a:solidFill>
              <a:srgbClr val="E5E1D7"/>
            </a:solidFill>
            <a:prstDash val="solid"/>
          </a:ln>
        </p:spPr>
      </p:sp>
      <p:sp>
        <p:nvSpPr>
          <p:cNvPr id="34" name="text-427"/>
          <p:cNvSpPr txBox="1"/>
          <p:nvPr/>
        </p:nvSpPr>
        <p:spPr>
          <a:xfrm>
            <a:off x="801051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Crisis support</a:t>
            </a:r>
            <a:endParaRPr lang="en-US" sz="1013" dirty="0"/>
          </a:p>
        </p:txBody>
      </p:sp>
      <p:sp>
        <p:nvSpPr>
          <p:cNvPr id="35" name="rect-428"/>
          <p:cNvSpPr/>
          <p:nvPr/>
        </p:nvSpPr>
        <p:spPr>
          <a:xfrm>
            <a:off x="9267810" y="6057900"/>
            <a:ext cx="1390620" cy="285750"/>
          </a:xfrm>
          <a:prstGeom prst="roundRect">
            <a:avLst>
              <a:gd name="adj" fmla="val 50016"/>
            </a:avLst>
          </a:prstGeom>
          <a:solidFill>
            <a:srgbClr val="FFFFFF"/>
          </a:solidFill>
          <a:ln w="9525">
            <a:solidFill>
              <a:srgbClr val="E5E1D7"/>
            </a:solidFill>
            <a:prstDash val="solid"/>
          </a:ln>
        </p:spPr>
      </p:sp>
      <p:sp>
        <p:nvSpPr>
          <p:cNvPr id="36" name="text-429"/>
          <p:cNvSpPr txBox="1"/>
          <p:nvPr/>
        </p:nvSpPr>
        <p:spPr>
          <a:xfrm>
            <a:off x="9267810" y="6124560"/>
            <a:ext cx="13906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Monthly allowance</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430"/>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04</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Scholarships you actually qualify for</a:t>
            </a:r>
            <a:endParaRPr lang="en-US" sz="3600" dirty="0"/>
          </a:p>
        </p:txBody>
      </p:sp>
      <p:sp>
        <p:nvSpPr>
          <p:cNvPr id="4" name="text-432"/>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Matched by rule, ranked by dollars per hour, screened for scams.</a:t>
            </a:r>
            <a:endParaRPr lang="en-US" sz="1575" dirty="0"/>
          </a:p>
        </p:txBody>
      </p:sp>
      <p:sp>
        <p:nvSpPr>
          <p:cNvPr id="5" name="rect-433"/>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434"/>
          <p:cNvSpPr/>
          <p:nvPr/>
        </p:nvSpPr>
        <p:spPr>
          <a:xfrm>
            <a:off x="742950" y="1924080"/>
            <a:ext cx="85771" cy="85771"/>
          </a:xfrm>
          <a:prstGeom prst="ellipse">
            <a:avLst/>
          </a:prstGeom>
          <a:solidFill>
            <a:srgbClr val="FF5F57"/>
          </a:solidFill>
          <a:ln/>
        </p:spPr>
      </p:sp>
      <p:sp>
        <p:nvSpPr>
          <p:cNvPr id="7" name="oval-435"/>
          <p:cNvSpPr/>
          <p:nvPr/>
        </p:nvSpPr>
        <p:spPr>
          <a:xfrm>
            <a:off x="876270" y="1924080"/>
            <a:ext cx="85771" cy="85771"/>
          </a:xfrm>
          <a:prstGeom prst="ellipse">
            <a:avLst/>
          </a:prstGeom>
          <a:solidFill>
            <a:srgbClr val="FEBC2E"/>
          </a:solidFill>
          <a:ln/>
        </p:spPr>
      </p:sp>
      <p:sp>
        <p:nvSpPr>
          <p:cNvPr id="8" name="oval-436"/>
          <p:cNvSpPr/>
          <p:nvPr/>
        </p:nvSpPr>
        <p:spPr>
          <a:xfrm>
            <a:off x="1009680" y="1924080"/>
            <a:ext cx="85771" cy="85771"/>
          </a:xfrm>
          <a:prstGeom prst="ellipse">
            <a:avLst/>
          </a:prstGeom>
          <a:solidFill>
            <a:srgbClr val="28C840"/>
          </a:solidFill>
          <a:ln/>
        </p:spPr>
      </p:sp>
      <p:sp>
        <p:nvSpPr>
          <p:cNvPr id="9" name="text-437"/>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/scholarships</a:t>
            </a:r>
            <a:endParaRPr lang="en-US" sz="900" dirty="0"/>
          </a:p>
        </p:txBody>
      </p:sp>
      <p:pic>
        <p:nvPicPr>
          <p:cNvPr id="10" name="image-438" descr="Screenshot: Scholarships you actually qualify for">    </p:cNvPr>
          <p:cNvPicPr>
            <a:picLocks noChangeAspect="1"/>
          </p:cNvPicPr>
          <p:nvPr/>
        </p:nvPicPr>
        <p:blipFill>
          <a:blip r:embed="rId1"/>
          <a:stretch>
            <a:fillRect/>
          </a:stretch>
        </p:blipFill>
        <p:spPr>
          <a:xfrm>
            <a:off x="685800" y="2095530"/>
            <a:ext cx="5715000" cy="3571921"/>
          </a:xfrm>
          <a:prstGeom prst="rect">
            <a:avLst/>
          </a:prstGeom>
        </p:spPr>
      </p:pic>
      <p:sp>
        <p:nvSpPr>
          <p:cNvPr id="11" name="oval-439"/>
          <p:cNvSpPr/>
          <p:nvPr/>
        </p:nvSpPr>
        <p:spPr>
          <a:xfrm>
            <a:off x="6781830" y="2018355"/>
            <a:ext cx="104790" cy="104790"/>
          </a:xfrm>
          <a:prstGeom prst="ellipse">
            <a:avLst/>
          </a:prstGeom>
          <a:solidFill>
            <a:srgbClr val="EB6834"/>
          </a:solidFill>
          <a:ln/>
        </p:spPr>
      </p:sp>
      <p:sp>
        <p:nvSpPr>
          <p:cNvPr id="12" name="text-440"/>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441"/>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Search sites list thousands of awards. Most don't fit, some are stale, and some are scams.</a:t>
            </a:r>
            <a:endParaRPr lang="en-US" sz="1388" dirty="0"/>
          </a:p>
        </p:txBody>
      </p:sp>
      <p:sp>
        <p:nvSpPr>
          <p:cNvPr id="14" name="oval-442"/>
          <p:cNvSpPr/>
          <p:nvPr/>
        </p:nvSpPr>
        <p:spPr>
          <a:xfrm>
            <a:off x="6781830" y="3197565"/>
            <a:ext cx="104790" cy="104790"/>
          </a:xfrm>
          <a:prstGeom prst="ellipse">
            <a:avLst/>
          </a:prstGeom>
          <a:solidFill>
            <a:srgbClr val="2A78D6"/>
          </a:solidFill>
          <a:ln/>
        </p:spPr>
      </p:sp>
      <p:sp>
        <p:nvSpPr>
          <p:cNvPr id="15" name="text-443"/>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444"/>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Matching is code: each listing rule is checked against your profile, with reasons. Scout explains and prioritizes in chat.</a:t>
            </a:r>
            <a:endParaRPr lang="en-US" sz="1388" dirty="0"/>
          </a:p>
        </p:txBody>
      </p:sp>
      <p:sp>
        <p:nvSpPr>
          <p:cNvPr id="17" name="oval-445"/>
          <p:cNvSpPr/>
          <p:nvPr/>
        </p:nvSpPr>
        <p:spPr>
          <a:xfrm>
            <a:off x="6781830" y="4623389"/>
            <a:ext cx="104790" cy="104790"/>
          </a:xfrm>
          <a:prstGeom prst="ellipse">
            <a:avLst/>
          </a:prstGeom>
          <a:solidFill>
            <a:srgbClr val="1BAF7A"/>
          </a:solidFill>
          <a:ln/>
        </p:spPr>
      </p:sp>
      <p:sp>
        <p:nvSpPr>
          <p:cNvPr id="18" name="text-446"/>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447"/>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It finds local awards a family new to town wouldn't know to look for, ranks them by value per hour, and hides scams.</a:t>
            </a:r>
            <a:endParaRPr lang="en-US" sz="1388" dirty="0"/>
          </a:p>
        </p:txBody>
      </p:sp>
      <p:sp>
        <p:nvSpPr>
          <p:cNvPr id="20" name="text-448"/>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449"/>
          <p:cNvSpPr/>
          <p:nvPr/>
        </p:nvSpPr>
        <p:spPr>
          <a:xfrm>
            <a:off x="1485900" y="6057900"/>
            <a:ext cx="704820" cy="285750"/>
          </a:xfrm>
          <a:prstGeom prst="roundRect">
            <a:avLst>
              <a:gd name="adj" fmla="val 50016"/>
            </a:avLst>
          </a:prstGeom>
          <a:solidFill>
            <a:srgbClr val="FFFFFF"/>
          </a:solidFill>
          <a:ln w="9525">
            <a:solidFill>
              <a:srgbClr val="E5E1D7"/>
            </a:solidFill>
            <a:prstDash val="solid"/>
          </a:ln>
        </p:spPr>
      </p:sp>
      <p:sp>
        <p:nvSpPr>
          <p:cNvPr id="22" name="text-450"/>
          <p:cNvSpPr txBox="1"/>
          <p:nvPr/>
        </p:nvSpPr>
        <p:spPr>
          <a:xfrm>
            <a:off x="1485900" y="6124560"/>
            <a:ext cx="7048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Matched</a:t>
            </a:r>
            <a:endParaRPr lang="en-US" sz="1013" dirty="0"/>
          </a:p>
        </p:txBody>
      </p:sp>
      <p:sp>
        <p:nvSpPr>
          <p:cNvPr id="23" name="rect-451"/>
          <p:cNvSpPr/>
          <p:nvPr/>
        </p:nvSpPr>
        <p:spPr>
          <a:xfrm>
            <a:off x="2266980" y="6057900"/>
            <a:ext cx="914400" cy="285750"/>
          </a:xfrm>
          <a:prstGeom prst="roundRect">
            <a:avLst>
              <a:gd name="adj" fmla="val 50016"/>
            </a:avLst>
          </a:prstGeom>
          <a:solidFill>
            <a:srgbClr val="FFFFFF"/>
          </a:solidFill>
          <a:ln w="9525">
            <a:solidFill>
              <a:srgbClr val="E5E1D7"/>
            </a:solidFill>
            <a:prstDash val="solid"/>
          </a:ln>
        </p:spPr>
      </p:sp>
      <p:sp>
        <p:nvSpPr>
          <p:cNvPr id="24" name="text-452"/>
          <p:cNvSpPr txBox="1"/>
          <p:nvPr/>
        </p:nvSpPr>
        <p:spPr>
          <a:xfrm>
            <a:off x="2266980"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Working on</a:t>
            </a:r>
            <a:endParaRPr lang="en-US" sz="1013" dirty="0"/>
          </a:p>
        </p:txBody>
      </p:sp>
      <p:sp>
        <p:nvSpPr>
          <p:cNvPr id="25" name="rect-453"/>
          <p:cNvSpPr/>
          <p:nvPr/>
        </p:nvSpPr>
        <p:spPr>
          <a:xfrm>
            <a:off x="3257550" y="6057900"/>
            <a:ext cx="838230" cy="285750"/>
          </a:xfrm>
          <a:prstGeom prst="roundRect">
            <a:avLst>
              <a:gd name="adj" fmla="val 50016"/>
            </a:avLst>
          </a:prstGeom>
          <a:solidFill>
            <a:srgbClr val="FFFFFF"/>
          </a:solidFill>
          <a:ln w="9525">
            <a:solidFill>
              <a:srgbClr val="E5E1D7"/>
            </a:solidFill>
            <a:prstDash val="solid"/>
          </a:ln>
        </p:spPr>
      </p:sp>
      <p:sp>
        <p:nvSpPr>
          <p:cNvPr id="26" name="text-454"/>
          <p:cNvSpPr txBox="1"/>
          <p:nvPr/>
        </p:nvSpPr>
        <p:spPr>
          <a:xfrm>
            <a:off x="3257550" y="612456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Submitted</a:t>
            </a:r>
            <a:endParaRPr lang="en-US" sz="1013" dirty="0"/>
          </a:p>
        </p:txBody>
      </p:sp>
      <p:sp>
        <p:nvSpPr>
          <p:cNvPr id="27" name="rect-455"/>
          <p:cNvSpPr/>
          <p:nvPr/>
        </p:nvSpPr>
        <p:spPr>
          <a:xfrm>
            <a:off x="4171950" y="6057900"/>
            <a:ext cx="428671" cy="285750"/>
          </a:xfrm>
          <a:prstGeom prst="roundRect">
            <a:avLst>
              <a:gd name="adj" fmla="val 50016"/>
            </a:avLst>
          </a:prstGeom>
          <a:solidFill>
            <a:srgbClr val="FFFFFF"/>
          </a:solidFill>
          <a:ln w="9525">
            <a:solidFill>
              <a:srgbClr val="E5E1D7"/>
            </a:solidFill>
            <a:prstDash val="solid"/>
          </a:ln>
        </p:spPr>
      </p:sp>
      <p:sp>
        <p:nvSpPr>
          <p:cNvPr id="28" name="text-456"/>
          <p:cNvSpPr txBox="1"/>
          <p:nvPr/>
        </p:nvSpPr>
        <p:spPr>
          <a:xfrm>
            <a:off x="4171950" y="6124560"/>
            <a:ext cx="4286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Won</a:t>
            </a:r>
            <a:endParaRPr lang="en-US" sz="1013" dirty="0"/>
          </a:p>
        </p:txBody>
      </p:sp>
      <p:sp>
        <p:nvSpPr>
          <p:cNvPr id="29" name="rect-457"/>
          <p:cNvSpPr/>
          <p:nvPr/>
        </p:nvSpPr>
        <p:spPr>
          <a:xfrm>
            <a:off x="4676790" y="6057900"/>
            <a:ext cx="1181130" cy="285750"/>
          </a:xfrm>
          <a:prstGeom prst="roundRect">
            <a:avLst>
              <a:gd name="adj" fmla="val 50016"/>
            </a:avLst>
          </a:prstGeom>
          <a:solidFill>
            <a:srgbClr val="FFFFFF"/>
          </a:solidFill>
          <a:ln w="9525">
            <a:solidFill>
              <a:srgbClr val="E5E1D7"/>
            </a:solidFill>
            <a:prstDash val="solid"/>
          </a:ln>
        </p:spPr>
      </p:sp>
      <p:sp>
        <p:nvSpPr>
          <p:cNvPr id="30" name="text-458"/>
          <p:cNvSpPr txBox="1"/>
          <p:nvPr/>
        </p:nvSpPr>
        <p:spPr>
          <a:xfrm>
            <a:off x="467679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Value per hour</a:t>
            </a:r>
            <a:endParaRPr lang="en-US" sz="1013" dirty="0"/>
          </a:p>
        </p:txBody>
      </p:sp>
      <p:sp>
        <p:nvSpPr>
          <p:cNvPr id="31" name="rect-459"/>
          <p:cNvSpPr/>
          <p:nvPr/>
        </p:nvSpPr>
        <p:spPr>
          <a:xfrm>
            <a:off x="5934090" y="6057900"/>
            <a:ext cx="981060" cy="285750"/>
          </a:xfrm>
          <a:prstGeom prst="roundRect">
            <a:avLst>
              <a:gd name="adj" fmla="val 50016"/>
            </a:avLst>
          </a:prstGeom>
          <a:solidFill>
            <a:srgbClr val="FFFFFF"/>
          </a:solidFill>
          <a:ln w="9525">
            <a:solidFill>
              <a:srgbClr val="E5E1D7"/>
            </a:solidFill>
            <a:prstDash val="solid"/>
          </a:ln>
        </p:spPr>
      </p:sp>
      <p:sp>
        <p:nvSpPr>
          <p:cNvPr id="32" name="text-460"/>
          <p:cNvSpPr txBox="1"/>
          <p:nvPr/>
        </p:nvSpPr>
        <p:spPr>
          <a:xfrm>
            <a:off x="593409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Scam shield</a:t>
            </a:r>
            <a:endParaRPr lang="en-US" sz="1013" dirty="0"/>
          </a:p>
        </p:txBody>
      </p:sp>
      <p:sp>
        <p:nvSpPr>
          <p:cNvPr id="33" name="rect-461"/>
          <p:cNvSpPr/>
          <p:nvPr/>
        </p:nvSpPr>
        <p:spPr>
          <a:xfrm>
            <a:off x="6991320" y="6057900"/>
            <a:ext cx="1790670" cy="285750"/>
          </a:xfrm>
          <a:prstGeom prst="roundRect">
            <a:avLst>
              <a:gd name="adj" fmla="val 50016"/>
            </a:avLst>
          </a:prstGeom>
          <a:solidFill>
            <a:srgbClr val="FFFFFF"/>
          </a:solidFill>
          <a:ln w="9525">
            <a:solidFill>
              <a:srgbClr val="E5E1D7"/>
            </a:solidFill>
            <a:prstDash val="solid"/>
          </a:ln>
        </p:spPr>
      </p:sp>
      <p:sp>
        <p:nvSpPr>
          <p:cNvPr id="34" name="text-462"/>
          <p:cNvSpPr txBox="1"/>
          <p:nvPr/>
        </p:nvSpPr>
        <p:spPr>
          <a:xfrm>
            <a:off x="6991320" y="6124560"/>
            <a:ext cx="179067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Add a local scholarship</a:t>
            </a:r>
            <a:endParaRPr lang="en-US" sz="1013" dirty="0"/>
          </a:p>
        </p:txBody>
      </p:sp>
      <p:sp>
        <p:nvSpPr>
          <p:cNvPr id="35" name="rect-463"/>
          <p:cNvSpPr/>
          <p:nvPr/>
        </p:nvSpPr>
        <p:spPr>
          <a:xfrm>
            <a:off x="8858250" y="6057900"/>
            <a:ext cx="1047720" cy="285750"/>
          </a:xfrm>
          <a:prstGeom prst="roundRect">
            <a:avLst>
              <a:gd name="adj" fmla="val 50016"/>
            </a:avLst>
          </a:prstGeom>
          <a:solidFill>
            <a:srgbClr val="FFFFFF"/>
          </a:solidFill>
          <a:ln w="9525">
            <a:solidFill>
              <a:srgbClr val="E5E1D7"/>
            </a:solidFill>
            <a:prstDash val="solid"/>
          </a:ln>
        </p:spPr>
      </p:sp>
      <p:sp>
        <p:nvSpPr>
          <p:cNvPr id="36" name="text-464"/>
          <p:cNvSpPr txBox="1"/>
          <p:nvPr/>
        </p:nvSpPr>
        <p:spPr>
          <a:xfrm>
            <a:off x="885825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Sunday sweep</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465"/>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05</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pPr algn="l" indent="0" marL="0">
              <a:lnSpc>
                <a:spcPct val="120000"/>
              </a:lnSpc>
              <a:buNone/>
            </a:pPr>
            <a:r>
              <a:rPr lang="en-US" sz="1013" b="1" spc="122" kern="0" dirty="0">
                <a:solidFill>
                  <a:srgbClr val="EDA1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QUILL</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Every rule, every source, every date</a:t>
            </a:r>
            <a:endParaRPr lang="en-US" sz="3600" dirty="0"/>
          </a:p>
        </p:txBody>
      </p:sp>
      <p:sp>
        <p:nvSpPr>
          <p:cNvPr id="4" name="text-467"/>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Why you match, what to send, and when it was last checked.</a:t>
            </a:r>
            <a:endParaRPr lang="en-US" sz="1575" dirty="0"/>
          </a:p>
        </p:txBody>
      </p:sp>
      <p:sp>
        <p:nvSpPr>
          <p:cNvPr id="5" name="rect-468"/>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469"/>
          <p:cNvSpPr/>
          <p:nvPr/>
        </p:nvSpPr>
        <p:spPr>
          <a:xfrm>
            <a:off x="742950" y="1924080"/>
            <a:ext cx="85771" cy="85771"/>
          </a:xfrm>
          <a:prstGeom prst="ellipse">
            <a:avLst/>
          </a:prstGeom>
          <a:solidFill>
            <a:srgbClr val="FF5F57"/>
          </a:solidFill>
          <a:ln/>
        </p:spPr>
      </p:sp>
      <p:sp>
        <p:nvSpPr>
          <p:cNvPr id="7" name="oval-470"/>
          <p:cNvSpPr/>
          <p:nvPr/>
        </p:nvSpPr>
        <p:spPr>
          <a:xfrm>
            <a:off x="876270" y="1924080"/>
            <a:ext cx="85771" cy="85771"/>
          </a:xfrm>
          <a:prstGeom prst="ellipse">
            <a:avLst/>
          </a:prstGeom>
          <a:solidFill>
            <a:srgbClr val="FEBC2E"/>
          </a:solidFill>
          <a:ln/>
        </p:spPr>
      </p:sp>
      <p:sp>
        <p:nvSpPr>
          <p:cNvPr id="8" name="oval-471"/>
          <p:cNvSpPr/>
          <p:nvPr/>
        </p:nvSpPr>
        <p:spPr>
          <a:xfrm>
            <a:off x="1009680" y="1924080"/>
            <a:ext cx="85771" cy="85771"/>
          </a:xfrm>
          <a:prstGeom prst="ellipse">
            <a:avLst/>
          </a:prstGeom>
          <a:solidFill>
            <a:srgbClr val="28C840"/>
          </a:solidFill>
          <a:ln/>
        </p:spPr>
      </p:sp>
      <p:sp>
        <p:nvSpPr>
          <p:cNvPr id="9" name="text-472"/>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/scholarships/rotary-club-of-eastside</a:t>
            </a:r>
            <a:endParaRPr lang="en-US" sz="900" dirty="0"/>
          </a:p>
        </p:txBody>
      </p:sp>
      <p:pic>
        <p:nvPicPr>
          <p:cNvPr id="10" name="image-473" descr="Screenshot: Every rule, every source, every date">    </p:cNvPr>
          <p:cNvPicPr>
            <a:picLocks noChangeAspect="1"/>
          </p:cNvPicPr>
          <p:nvPr/>
        </p:nvPicPr>
        <p:blipFill>
          <a:blip r:embed="rId1"/>
          <a:stretch>
            <a:fillRect/>
          </a:stretch>
        </p:blipFill>
        <p:spPr>
          <a:xfrm>
            <a:off x="685800" y="2095530"/>
            <a:ext cx="5715000" cy="3571921"/>
          </a:xfrm>
          <a:prstGeom prst="rect">
            <a:avLst/>
          </a:prstGeom>
        </p:spPr>
      </p:pic>
      <p:sp>
        <p:nvSpPr>
          <p:cNvPr id="11" name="oval-474"/>
          <p:cNvSpPr/>
          <p:nvPr/>
        </p:nvSpPr>
        <p:spPr>
          <a:xfrm>
            <a:off x="6781830" y="2018355"/>
            <a:ext cx="104790" cy="104790"/>
          </a:xfrm>
          <a:prstGeom prst="ellipse">
            <a:avLst/>
          </a:prstGeom>
          <a:solidFill>
            <a:srgbClr val="EB6834"/>
          </a:solidFill>
          <a:ln/>
        </p:spPr>
      </p:sp>
      <p:sp>
        <p:nvSpPr>
          <p:cNvPr id="12" name="text-475"/>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476"/>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Students waste hours on awards they can't win, or miss a requirement buried in a long page.</a:t>
            </a:r>
            <a:endParaRPr lang="en-US" sz="1388" dirty="0"/>
          </a:p>
        </p:txBody>
      </p:sp>
      <p:sp>
        <p:nvSpPr>
          <p:cNvPr id="14" name="oval-477"/>
          <p:cNvSpPr/>
          <p:nvPr/>
        </p:nvSpPr>
        <p:spPr>
          <a:xfrm>
            <a:off x="6781830" y="3197565"/>
            <a:ext cx="104790" cy="104790"/>
          </a:xfrm>
          <a:prstGeom prst="ellipse">
            <a:avLst/>
          </a:prstGeom>
          <a:solidFill>
            <a:srgbClr val="2A78D6"/>
          </a:solidFill>
          <a:ln/>
        </p:spPr>
      </p:sp>
      <p:sp>
        <p:nvSpPr>
          <p:cNvPr id="15" name="text-478"/>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479"/>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Rules come from a source checked by a person. A crew room for this scholarship lets you ask Scout, Quill, or Ledger.</a:t>
            </a:r>
            <a:endParaRPr lang="en-US" sz="1388" dirty="0"/>
          </a:p>
        </p:txBody>
      </p:sp>
      <p:sp>
        <p:nvSpPr>
          <p:cNvPr id="17" name="oval-480"/>
          <p:cNvSpPr/>
          <p:nvPr/>
        </p:nvSpPr>
        <p:spPr>
          <a:xfrm>
            <a:off x="6781830" y="4623389"/>
            <a:ext cx="104790" cy="104790"/>
          </a:xfrm>
          <a:prstGeom prst="ellipse">
            <a:avLst/>
          </a:prstGeom>
          <a:solidFill>
            <a:srgbClr val="1BAF7A"/>
          </a:solidFill>
          <a:ln/>
        </p:spPr>
      </p:sp>
      <p:sp>
        <p:nvSpPr>
          <p:cNvPr id="18" name="text-481"/>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482"/>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Each listing rule sits beside your matching fact. Verified, stale, unverified, and flagged labels pair an icon with words.</a:t>
            </a:r>
            <a:endParaRPr lang="en-US" sz="1388" dirty="0"/>
          </a:p>
        </p:txBody>
      </p:sp>
      <p:sp>
        <p:nvSpPr>
          <p:cNvPr id="20" name="text-483"/>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484"/>
          <p:cNvSpPr/>
          <p:nvPr/>
        </p:nvSpPr>
        <p:spPr>
          <a:xfrm>
            <a:off x="1485900" y="6057900"/>
            <a:ext cx="1047720" cy="285750"/>
          </a:xfrm>
          <a:prstGeom prst="roundRect">
            <a:avLst>
              <a:gd name="adj" fmla="val 50016"/>
            </a:avLst>
          </a:prstGeom>
          <a:solidFill>
            <a:srgbClr val="FFFFFF"/>
          </a:solidFill>
          <a:ln w="9525">
            <a:solidFill>
              <a:srgbClr val="E5E1D7"/>
            </a:solidFill>
            <a:prstDash val="solid"/>
          </a:ln>
        </p:spPr>
      </p:sp>
      <p:sp>
        <p:nvSpPr>
          <p:cNvPr id="22" name="text-485"/>
          <p:cNvSpPr txBox="1"/>
          <p:nvPr/>
        </p:nvSpPr>
        <p:spPr>
          <a:xfrm>
            <a:off x="148590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Rules vs you</a:t>
            </a:r>
            <a:endParaRPr lang="en-US" sz="1013" dirty="0"/>
          </a:p>
        </p:txBody>
      </p:sp>
      <p:sp>
        <p:nvSpPr>
          <p:cNvPr id="23" name="rect-486"/>
          <p:cNvSpPr/>
          <p:nvPr/>
        </p:nvSpPr>
        <p:spPr>
          <a:xfrm>
            <a:off x="2609880" y="6057900"/>
            <a:ext cx="1047720" cy="285750"/>
          </a:xfrm>
          <a:prstGeom prst="roundRect">
            <a:avLst>
              <a:gd name="adj" fmla="val 50016"/>
            </a:avLst>
          </a:prstGeom>
          <a:solidFill>
            <a:srgbClr val="FFFFFF"/>
          </a:solidFill>
          <a:ln w="9525">
            <a:solidFill>
              <a:srgbClr val="E5E1D7"/>
            </a:solidFill>
            <a:prstDash val="solid"/>
          </a:ln>
        </p:spPr>
      </p:sp>
      <p:sp>
        <p:nvSpPr>
          <p:cNvPr id="24" name="text-487"/>
          <p:cNvSpPr txBox="1"/>
          <p:nvPr/>
        </p:nvSpPr>
        <p:spPr>
          <a:xfrm>
            <a:off x="260988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What to send</a:t>
            </a:r>
            <a:endParaRPr lang="en-US" sz="1013" dirty="0"/>
          </a:p>
        </p:txBody>
      </p:sp>
      <p:sp>
        <p:nvSpPr>
          <p:cNvPr id="25" name="rect-488"/>
          <p:cNvSpPr/>
          <p:nvPr/>
        </p:nvSpPr>
        <p:spPr>
          <a:xfrm>
            <a:off x="3733770" y="6057900"/>
            <a:ext cx="1114471" cy="285750"/>
          </a:xfrm>
          <a:prstGeom prst="roundRect">
            <a:avLst>
              <a:gd name="adj" fmla="val 50016"/>
            </a:avLst>
          </a:prstGeom>
          <a:solidFill>
            <a:srgbClr val="FFFFFF"/>
          </a:solidFill>
          <a:ln w="9525">
            <a:solidFill>
              <a:srgbClr val="E5E1D7"/>
            </a:solidFill>
            <a:prstDash val="solid"/>
          </a:ln>
        </p:spPr>
      </p:sp>
      <p:sp>
        <p:nvSpPr>
          <p:cNvPr id="26" name="text-489"/>
          <p:cNvSpPr txBox="1"/>
          <p:nvPr/>
        </p:nvSpPr>
        <p:spPr>
          <a:xfrm>
            <a:off x="373377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Essay prompts</a:t>
            </a:r>
            <a:endParaRPr lang="en-US" sz="1013" dirty="0"/>
          </a:p>
        </p:txBody>
      </p:sp>
      <p:sp>
        <p:nvSpPr>
          <p:cNvPr id="27" name="rect-490"/>
          <p:cNvSpPr/>
          <p:nvPr/>
        </p:nvSpPr>
        <p:spPr>
          <a:xfrm>
            <a:off x="4924410" y="6057900"/>
            <a:ext cx="981060" cy="285750"/>
          </a:xfrm>
          <a:prstGeom prst="roundRect">
            <a:avLst>
              <a:gd name="adj" fmla="val 50016"/>
            </a:avLst>
          </a:prstGeom>
          <a:solidFill>
            <a:srgbClr val="FFFFFF"/>
          </a:solidFill>
          <a:ln w="9525">
            <a:solidFill>
              <a:srgbClr val="E5E1D7"/>
            </a:solidFill>
            <a:prstDash val="solid"/>
          </a:ln>
        </p:spPr>
      </p:sp>
      <p:sp>
        <p:nvSpPr>
          <p:cNvPr id="28" name="text-491"/>
          <p:cNvSpPr txBox="1"/>
          <p:nvPr/>
        </p:nvSpPr>
        <p:spPr>
          <a:xfrm>
            <a:off x="492441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Source link</a:t>
            </a:r>
            <a:endParaRPr lang="en-US" sz="1013" dirty="0"/>
          </a:p>
        </p:txBody>
      </p:sp>
      <p:sp>
        <p:nvSpPr>
          <p:cNvPr id="29" name="rect-492"/>
          <p:cNvSpPr/>
          <p:nvPr/>
        </p:nvSpPr>
        <p:spPr>
          <a:xfrm>
            <a:off x="5981730" y="6057900"/>
            <a:ext cx="1114471" cy="285750"/>
          </a:xfrm>
          <a:prstGeom prst="roundRect">
            <a:avLst>
              <a:gd name="adj" fmla="val 50016"/>
            </a:avLst>
          </a:prstGeom>
          <a:solidFill>
            <a:srgbClr val="FFFFFF"/>
          </a:solidFill>
          <a:ln w="9525">
            <a:solidFill>
              <a:srgbClr val="E5E1D7"/>
            </a:solidFill>
            <a:prstDash val="solid"/>
          </a:ln>
        </p:spPr>
      </p:sp>
      <p:sp>
        <p:nvSpPr>
          <p:cNvPr id="30" name="text-493"/>
          <p:cNvSpPr txBox="1"/>
          <p:nvPr/>
        </p:nvSpPr>
        <p:spPr>
          <a:xfrm>
            <a:off x="598173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Verified date</a:t>
            </a:r>
            <a:endParaRPr lang="en-US" sz="1013" dirty="0"/>
          </a:p>
        </p:txBody>
      </p:sp>
      <p:sp>
        <p:nvSpPr>
          <p:cNvPr id="31" name="rect-494"/>
          <p:cNvSpPr/>
          <p:nvPr/>
        </p:nvSpPr>
        <p:spPr>
          <a:xfrm>
            <a:off x="7172371" y="6057900"/>
            <a:ext cx="1314450" cy="285750"/>
          </a:xfrm>
          <a:prstGeom prst="roundRect">
            <a:avLst>
              <a:gd name="adj" fmla="val 50016"/>
            </a:avLst>
          </a:prstGeom>
          <a:solidFill>
            <a:srgbClr val="FFFFFF"/>
          </a:solidFill>
          <a:ln w="9525">
            <a:solidFill>
              <a:srgbClr val="E5E1D7"/>
            </a:solidFill>
            <a:prstDash val="solid"/>
          </a:ln>
        </p:spPr>
      </p:sp>
      <p:sp>
        <p:nvSpPr>
          <p:cNvPr id="32" name="text-495"/>
          <p:cNvSpPr txBox="1"/>
          <p:nvPr/>
        </p:nvSpPr>
        <p:spPr>
          <a:xfrm>
            <a:off x="7172371" y="6124560"/>
            <a:ext cx="13144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Report a problem</a:t>
            </a:r>
            <a:endParaRPr lang="en-US" sz="1013" dirty="0"/>
          </a:p>
        </p:txBody>
      </p:sp>
      <p:sp>
        <p:nvSpPr>
          <p:cNvPr id="33" name="rect-496"/>
          <p:cNvSpPr/>
          <p:nvPr/>
        </p:nvSpPr>
        <p:spPr>
          <a:xfrm>
            <a:off x="8562990" y="6057900"/>
            <a:ext cx="838230" cy="285750"/>
          </a:xfrm>
          <a:prstGeom prst="roundRect">
            <a:avLst>
              <a:gd name="adj" fmla="val 50016"/>
            </a:avLst>
          </a:prstGeom>
          <a:solidFill>
            <a:srgbClr val="FFFFFF"/>
          </a:solidFill>
          <a:ln w="9525">
            <a:solidFill>
              <a:srgbClr val="E5E1D7"/>
            </a:solidFill>
            <a:prstDash val="solid"/>
          </a:ln>
        </p:spPr>
      </p:sp>
      <p:sp>
        <p:nvSpPr>
          <p:cNvPr id="34" name="text-497"/>
          <p:cNvSpPr txBox="1"/>
          <p:nvPr/>
        </p:nvSpPr>
        <p:spPr>
          <a:xfrm>
            <a:off x="8562990" y="612456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Crew room</a:t>
            </a:r>
            <a:endParaRPr lang="en-US" sz="1013" dirty="0"/>
          </a:p>
        </p:txBody>
      </p:sp>
      <p:sp>
        <p:nvSpPr>
          <p:cNvPr id="35" name="rect-498"/>
          <p:cNvSpPr/>
          <p:nvPr/>
        </p:nvSpPr>
        <p:spPr>
          <a:xfrm>
            <a:off x="9477390" y="6057900"/>
            <a:ext cx="981060" cy="285750"/>
          </a:xfrm>
          <a:prstGeom prst="roundRect">
            <a:avLst>
              <a:gd name="adj" fmla="val 50016"/>
            </a:avLst>
          </a:prstGeom>
          <a:solidFill>
            <a:srgbClr val="FFFFFF"/>
          </a:solidFill>
          <a:ln w="9525">
            <a:solidFill>
              <a:srgbClr val="E5E1D7"/>
            </a:solidFill>
            <a:prstDash val="solid"/>
          </a:ln>
        </p:spPr>
      </p:sp>
      <p:sp>
        <p:nvSpPr>
          <p:cNvPr id="36" name="text-499"/>
          <p:cNvSpPr txBox="1"/>
          <p:nvPr/>
        </p:nvSpPr>
        <p:spPr>
          <a:xfrm>
            <a:off x="947739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Start essay</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500"/>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06</a:t>
            </a:r>
            <a:pPr algn="l" indent="0" marL="0">
              <a:lnSpc>
                <a:spcPct val="120000"/>
              </a:lnSpc>
              <a:buNone/>
            </a:pPr>
            <a:r>
              <a:rPr lang="en-US" sz="1013" b="1" spc="122" kern="0" dirty="0">
                <a:solidFill>
                  <a:srgbClr val="EDA1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QUILL</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Quill coaches. You write every word</a:t>
            </a:r>
            <a:endParaRPr lang="en-US" sz="3600" dirty="0"/>
          </a:p>
        </p:txBody>
      </p:sp>
      <p:sp>
        <p:nvSpPr>
          <p:cNvPr id="4" name="text-502"/>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Comments quote your own sentences and ask questions.</a:t>
            </a:r>
            <a:endParaRPr lang="en-US" sz="1575" dirty="0"/>
          </a:p>
        </p:txBody>
      </p:sp>
      <p:sp>
        <p:nvSpPr>
          <p:cNvPr id="5" name="rect-503"/>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504"/>
          <p:cNvSpPr/>
          <p:nvPr/>
        </p:nvSpPr>
        <p:spPr>
          <a:xfrm>
            <a:off x="742950" y="1924080"/>
            <a:ext cx="85771" cy="85771"/>
          </a:xfrm>
          <a:prstGeom prst="ellipse">
            <a:avLst/>
          </a:prstGeom>
          <a:solidFill>
            <a:srgbClr val="FF5F57"/>
          </a:solidFill>
          <a:ln/>
        </p:spPr>
      </p:sp>
      <p:sp>
        <p:nvSpPr>
          <p:cNvPr id="7" name="oval-505"/>
          <p:cNvSpPr/>
          <p:nvPr/>
        </p:nvSpPr>
        <p:spPr>
          <a:xfrm>
            <a:off x="876270" y="1924080"/>
            <a:ext cx="85771" cy="85771"/>
          </a:xfrm>
          <a:prstGeom prst="ellipse">
            <a:avLst/>
          </a:prstGeom>
          <a:solidFill>
            <a:srgbClr val="FEBC2E"/>
          </a:solidFill>
          <a:ln/>
        </p:spPr>
      </p:sp>
      <p:sp>
        <p:nvSpPr>
          <p:cNvPr id="8" name="oval-506"/>
          <p:cNvSpPr/>
          <p:nvPr/>
        </p:nvSpPr>
        <p:spPr>
          <a:xfrm>
            <a:off x="1009680" y="1924080"/>
            <a:ext cx="85771" cy="85771"/>
          </a:xfrm>
          <a:prstGeom prst="ellipse">
            <a:avLst/>
          </a:prstGeom>
          <a:solidFill>
            <a:srgbClr val="28C840"/>
          </a:solidFill>
          <a:ln/>
        </p:spPr>
      </p:sp>
      <p:sp>
        <p:nvSpPr>
          <p:cNvPr id="9" name="text-507"/>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/essays</a:t>
            </a:r>
            <a:endParaRPr lang="en-US" sz="900" dirty="0"/>
          </a:p>
        </p:txBody>
      </p:sp>
      <p:pic>
        <p:nvPicPr>
          <p:cNvPr id="10" name="image-508" descr="Screenshot: Quill coaches. You write every word">    </p:cNvPr>
          <p:cNvPicPr>
            <a:picLocks noChangeAspect="1"/>
          </p:cNvPicPr>
          <p:nvPr/>
        </p:nvPicPr>
        <p:blipFill>
          <a:blip r:embed="rId1"/>
          <a:stretch>
            <a:fillRect/>
          </a:stretch>
        </p:blipFill>
        <p:spPr>
          <a:xfrm>
            <a:off x="685800" y="2095530"/>
            <a:ext cx="5715000" cy="3571921"/>
          </a:xfrm>
          <a:prstGeom prst="rect">
            <a:avLst/>
          </a:prstGeom>
        </p:spPr>
      </p:pic>
      <p:sp>
        <p:nvSpPr>
          <p:cNvPr id="11" name="oval-509"/>
          <p:cNvSpPr/>
          <p:nvPr/>
        </p:nvSpPr>
        <p:spPr>
          <a:xfrm>
            <a:off x="6781830" y="2018355"/>
            <a:ext cx="104790" cy="104790"/>
          </a:xfrm>
          <a:prstGeom prst="ellipse">
            <a:avLst/>
          </a:prstGeom>
          <a:solidFill>
            <a:srgbClr val="EB6834"/>
          </a:solidFill>
          <a:ln/>
        </p:spPr>
      </p:sp>
      <p:sp>
        <p:nvSpPr>
          <p:cNvPr id="12" name="text-510"/>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511"/>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Students need feedback, but tools that write the essay put integrity at risk and erase their voice.</a:t>
            </a:r>
            <a:endParaRPr lang="en-US" sz="1388" dirty="0"/>
          </a:p>
        </p:txBody>
      </p:sp>
      <p:sp>
        <p:nvSpPr>
          <p:cNvPr id="14" name="oval-512"/>
          <p:cNvSpPr/>
          <p:nvPr/>
        </p:nvSpPr>
        <p:spPr>
          <a:xfrm>
            <a:off x="6781830" y="3197565"/>
            <a:ext cx="104790" cy="104790"/>
          </a:xfrm>
          <a:prstGeom prst="ellipse">
            <a:avLst/>
          </a:prstGeom>
          <a:solidFill>
            <a:srgbClr val="2A78D6"/>
          </a:solidFill>
          <a:ln/>
        </p:spPr>
      </p:sp>
      <p:sp>
        <p:nvSpPr>
          <p:cNvPr id="15" name="text-513"/>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514"/>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'Ask Quill' returns 1 to 5 comments that quote the draft exactly. A guard blocks runs over 25 words of new prose.</a:t>
            </a:r>
            <a:endParaRPr lang="en-US" sz="1388" dirty="0"/>
          </a:p>
        </p:txBody>
      </p:sp>
      <p:sp>
        <p:nvSpPr>
          <p:cNvPr id="17" name="oval-515"/>
          <p:cNvSpPr/>
          <p:nvPr/>
        </p:nvSpPr>
        <p:spPr>
          <a:xfrm>
            <a:off x="6781830" y="4623389"/>
            <a:ext cx="104790" cy="104790"/>
          </a:xfrm>
          <a:prstGeom prst="ellipse">
            <a:avLst/>
          </a:prstGeom>
          <a:solidFill>
            <a:srgbClr val="1BAF7A"/>
          </a:solidFill>
          <a:ln/>
        </p:spPr>
      </p:sp>
      <p:sp>
        <p:nvSpPr>
          <p:cNvPr id="18" name="text-516"/>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517"/>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Sponsors and colleges read the student's real writing. Every save is a version with authorship and a word count.</a:t>
            </a:r>
            <a:endParaRPr lang="en-US" sz="1388" dirty="0"/>
          </a:p>
        </p:txBody>
      </p:sp>
      <p:sp>
        <p:nvSpPr>
          <p:cNvPr id="20" name="text-518"/>
          <p:cNvSpPr txBox="1"/>
          <p:nvPr/>
        </p:nvSpPr>
        <p:spPr>
          <a:xfrm>
            <a:off x="609630" y="600075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519"/>
          <p:cNvSpPr/>
          <p:nvPr/>
        </p:nvSpPr>
        <p:spPr>
          <a:xfrm>
            <a:off x="1485900" y="5924580"/>
            <a:ext cx="1866930" cy="285750"/>
          </a:xfrm>
          <a:prstGeom prst="roundRect">
            <a:avLst>
              <a:gd name="adj" fmla="val 50016"/>
            </a:avLst>
          </a:prstGeom>
          <a:solidFill>
            <a:srgbClr val="FFFFFF"/>
          </a:solidFill>
          <a:ln w="9525">
            <a:solidFill>
              <a:srgbClr val="E5E1D7"/>
            </a:solidFill>
            <a:prstDash val="solid"/>
          </a:ln>
        </p:spPr>
      </p:sp>
      <p:sp>
        <p:nvSpPr>
          <p:cNvPr id="22" name="text-520"/>
          <p:cNvSpPr txBox="1"/>
          <p:nvPr/>
        </p:nvSpPr>
        <p:spPr>
          <a:xfrm>
            <a:off x="1485900" y="5991240"/>
            <a:ext cx="18669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Prompt and verified date</a:t>
            </a:r>
            <a:endParaRPr lang="en-US" sz="1013" dirty="0"/>
          </a:p>
        </p:txBody>
      </p:sp>
      <p:sp>
        <p:nvSpPr>
          <p:cNvPr id="23" name="rect-521"/>
          <p:cNvSpPr/>
          <p:nvPr/>
        </p:nvSpPr>
        <p:spPr>
          <a:xfrm>
            <a:off x="3429000" y="5924580"/>
            <a:ext cx="771571" cy="285750"/>
          </a:xfrm>
          <a:prstGeom prst="roundRect">
            <a:avLst>
              <a:gd name="adj" fmla="val 50016"/>
            </a:avLst>
          </a:prstGeom>
          <a:solidFill>
            <a:srgbClr val="FFFFFF"/>
          </a:solidFill>
          <a:ln w="9525">
            <a:solidFill>
              <a:srgbClr val="E5E1D7"/>
            </a:solidFill>
            <a:prstDash val="solid"/>
          </a:ln>
        </p:spPr>
      </p:sp>
      <p:sp>
        <p:nvSpPr>
          <p:cNvPr id="24" name="text-522"/>
          <p:cNvSpPr txBox="1"/>
          <p:nvPr/>
        </p:nvSpPr>
        <p:spPr>
          <a:xfrm>
            <a:off x="3429000" y="5991240"/>
            <a:ext cx="7715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Versions</a:t>
            </a:r>
            <a:endParaRPr lang="en-US" sz="1013" dirty="0"/>
          </a:p>
        </p:txBody>
      </p:sp>
      <p:sp>
        <p:nvSpPr>
          <p:cNvPr id="25" name="rect-523"/>
          <p:cNvSpPr/>
          <p:nvPr/>
        </p:nvSpPr>
        <p:spPr>
          <a:xfrm>
            <a:off x="4276740" y="5924580"/>
            <a:ext cx="1933590" cy="285750"/>
          </a:xfrm>
          <a:prstGeom prst="roundRect">
            <a:avLst>
              <a:gd name="adj" fmla="val 50016"/>
            </a:avLst>
          </a:prstGeom>
          <a:solidFill>
            <a:srgbClr val="FFFFFF"/>
          </a:solidFill>
          <a:ln w="9525">
            <a:solidFill>
              <a:srgbClr val="E5E1D7"/>
            </a:solidFill>
            <a:prstDash val="solid"/>
          </a:ln>
        </p:spPr>
      </p:sp>
      <p:sp>
        <p:nvSpPr>
          <p:cNvPr id="26" name="text-524"/>
          <p:cNvSpPr txBox="1"/>
          <p:nvPr/>
        </p:nvSpPr>
        <p:spPr>
          <a:xfrm>
            <a:off x="4276740" y="5991240"/>
            <a:ext cx="19335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Word and character limits</a:t>
            </a:r>
            <a:endParaRPr lang="en-US" sz="1013" dirty="0"/>
          </a:p>
        </p:txBody>
      </p:sp>
      <p:sp>
        <p:nvSpPr>
          <p:cNvPr id="27" name="rect-525"/>
          <p:cNvSpPr/>
          <p:nvPr/>
        </p:nvSpPr>
        <p:spPr>
          <a:xfrm>
            <a:off x="6286500" y="5924580"/>
            <a:ext cx="1047720" cy="285750"/>
          </a:xfrm>
          <a:prstGeom prst="roundRect">
            <a:avLst>
              <a:gd name="adj" fmla="val 50016"/>
            </a:avLst>
          </a:prstGeom>
          <a:solidFill>
            <a:srgbClr val="FFFFFF"/>
          </a:solidFill>
          <a:ln w="9525">
            <a:solidFill>
              <a:srgbClr val="E5E1D7"/>
            </a:solidFill>
            <a:prstDash val="solid"/>
          </a:ln>
        </p:spPr>
      </p:sp>
      <p:sp>
        <p:nvSpPr>
          <p:cNvPr id="28" name="text-526"/>
          <p:cNvSpPr txBox="1"/>
          <p:nvPr/>
        </p:nvSpPr>
        <p:spPr>
          <a:xfrm>
            <a:off x="6286500" y="599124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Quill review</a:t>
            </a:r>
            <a:endParaRPr lang="en-US" sz="1013" dirty="0"/>
          </a:p>
        </p:txBody>
      </p:sp>
      <p:sp>
        <p:nvSpPr>
          <p:cNvPr id="29" name="rect-527"/>
          <p:cNvSpPr/>
          <p:nvPr/>
        </p:nvSpPr>
        <p:spPr>
          <a:xfrm>
            <a:off x="7410480" y="5924580"/>
            <a:ext cx="1314450" cy="285750"/>
          </a:xfrm>
          <a:prstGeom prst="roundRect">
            <a:avLst>
              <a:gd name="adj" fmla="val 50016"/>
            </a:avLst>
          </a:prstGeom>
          <a:solidFill>
            <a:srgbClr val="FFFFFF"/>
          </a:solidFill>
          <a:ln w="9525">
            <a:solidFill>
              <a:srgbClr val="E5E1D7"/>
            </a:solidFill>
            <a:prstDash val="solid"/>
          </a:ln>
        </p:spPr>
      </p:sp>
      <p:sp>
        <p:nvSpPr>
          <p:cNvPr id="30" name="text-528"/>
          <p:cNvSpPr txBox="1"/>
          <p:nvPr/>
        </p:nvSpPr>
        <p:spPr>
          <a:xfrm>
            <a:off x="7410480" y="5991240"/>
            <a:ext cx="13144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Resolve comments</a:t>
            </a:r>
            <a:endParaRPr lang="en-US" sz="1013" dirty="0"/>
          </a:p>
        </p:txBody>
      </p:sp>
      <p:sp>
        <p:nvSpPr>
          <p:cNvPr id="31" name="rect-529"/>
          <p:cNvSpPr/>
          <p:nvPr/>
        </p:nvSpPr>
        <p:spPr>
          <a:xfrm>
            <a:off x="8801100" y="5924580"/>
            <a:ext cx="1114471" cy="285750"/>
          </a:xfrm>
          <a:prstGeom prst="roundRect">
            <a:avLst>
              <a:gd name="adj" fmla="val 50016"/>
            </a:avLst>
          </a:prstGeom>
          <a:solidFill>
            <a:srgbClr val="FFFFFF"/>
          </a:solidFill>
          <a:ln w="9525">
            <a:solidFill>
              <a:srgbClr val="E5E1D7"/>
            </a:solidFill>
            <a:prstDash val="solid"/>
          </a:ln>
        </p:spPr>
      </p:sp>
      <p:sp>
        <p:nvSpPr>
          <p:cNvPr id="32" name="text-530"/>
          <p:cNvSpPr txBox="1"/>
          <p:nvPr/>
        </p:nvSpPr>
        <p:spPr>
          <a:xfrm>
            <a:off x="8801100" y="599124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Draft history</a:t>
            </a:r>
            <a:endParaRPr lang="en-US" sz="1013" dirty="0"/>
          </a:p>
        </p:txBody>
      </p:sp>
      <p:sp>
        <p:nvSpPr>
          <p:cNvPr id="33" name="rect-531"/>
          <p:cNvSpPr/>
          <p:nvPr/>
        </p:nvSpPr>
        <p:spPr>
          <a:xfrm>
            <a:off x="9991740" y="5924580"/>
            <a:ext cx="981060" cy="285750"/>
          </a:xfrm>
          <a:prstGeom prst="roundRect">
            <a:avLst>
              <a:gd name="adj" fmla="val 50016"/>
            </a:avLst>
          </a:prstGeom>
          <a:solidFill>
            <a:srgbClr val="FFFFFF"/>
          </a:solidFill>
          <a:ln w="9525">
            <a:solidFill>
              <a:srgbClr val="E5E1D7"/>
            </a:solidFill>
            <a:prstDash val="solid"/>
          </a:ln>
        </p:spPr>
      </p:sp>
      <p:sp>
        <p:nvSpPr>
          <p:cNvPr id="34" name="text-532"/>
          <p:cNvSpPr txBox="1"/>
          <p:nvPr/>
        </p:nvSpPr>
        <p:spPr>
          <a:xfrm>
            <a:off x="9991740" y="599124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Story match</a:t>
            </a:r>
            <a:endParaRPr lang="en-US" sz="1013" dirty="0"/>
          </a:p>
        </p:txBody>
      </p:sp>
      <p:sp>
        <p:nvSpPr>
          <p:cNvPr id="35" name="rect-533"/>
          <p:cNvSpPr/>
          <p:nvPr/>
        </p:nvSpPr>
        <p:spPr>
          <a:xfrm>
            <a:off x="1485900" y="6267480"/>
            <a:ext cx="838230" cy="285750"/>
          </a:xfrm>
          <a:prstGeom prst="roundRect">
            <a:avLst>
              <a:gd name="adj" fmla="val 50016"/>
            </a:avLst>
          </a:prstGeom>
          <a:solidFill>
            <a:srgbClr val="FFFFFF"/>
          </a:solidFill>
          <a:ln w="9525">
            <a:solidFill>
              <a:srgbClr val="E5E1D7"/>
            </a:solidFill>
            <a:prstDash val="solid"/>
          </a:ln>
        </p:spPr>
      </p:sp>
      <p:sp>
        <p:nvSpPr>
          <p:cNvPr id="36" name="text-534"/>
          <p:cNvSpPr txBox="1"/>
          <p:nvPr/>
        </p:nvSpPr>
        <p:spPr>
          <a:xfrm>
            <a:off x="1485900" y="633414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Crew room</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535"/>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07</a:t>
            </a:r>
            <a:pPr algn="l" indent="0" marL="0">
              <a:lnSpc>
                <a:spcPct val="120000"/>
              </a:lnSpc>
              <a:buNone/>
            </a:pPr>
            <a:r>
              <a:rPr lang="en-US" sz="1013" b="1" spc="122" kern="0" dirty="0">
                <a:solidFill>
                  <a:srgbClr val="EDA1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QUILL</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Write a story once, use it well</a:t>
            </a:r>
            <a:endParaRPr lang="en-US" sz="3600" dirty="0"/>
          </a:p>
        </p:txBody>
      </p:sp>
      <p:sp>
        <p:nvSpPr>
          <p:cNvPr id="4" name="text-537"/>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Moments in your own words, matched to new prompts.</a:t>
            </a:r>
            <a:endParaRPr lang="en-US" sz="1575" dirty="0"/>
          </a:p>
        </p:txBody>
      </p:sp>
      <p:sp>
        <p:nvSpPr>
          <p:cNvPr id="5" name="rect-538"/>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539"/>
          <p:cNvSpPr/>
          <p:nvPr/>
        </p:nvSpPr>
        <p:spPr>
          <a:xfrm>
            <a:off x="742950" y="1924080"/>
            <a:ext cx="85771" cy="85771"/>
          </a:xfrm>
          <a:prstGeom prst="ellipse">
            <a:avLst/>
          </a:prstGeom>
          <a:solidFill>
            <a:srgbClr val="FF5F57"/>
          </a:solidFill>
          <a:ln/>
        </p:spPr>
      </p:sp>
      <p:sp>
        <p:nvSpPr>
          <p:cNvPr id="7" name="oval-540"/>
          <p:cNvSpPr/>
          <p:nvPr/>
        </p:nvSpPr>
        <p:spPr>
          <a:xfrm>
            <a:off x="876270" y="1924080"/>
            <a:ext cx="85771" cy="85771"/>
          </a:xfrm>
          <a:prstGeom prst="ellipse">
            <a:avLst/>
          </a:prstGeom>
          <a:solidFill>
            <a:srgbClr val="FEBC2E"/>
          </a:solidFill>
          <a:ln/>
        </p:spPr>
      </p:sp>
      <p:sp>
        <p:nvSpPr>
          <p:cNvPr id="8" name="oval-541"/>
          <p:cNvSpPr/>
          <p:nvPr/>
        </p:nvSpPr>
        <p:spPr>
          <a:xfrm>
            <a:off x="1009680" y="1924080"/>
            <a:ext cx="85771" cy="85771"/>
          </a:xfrm>
          <a:prstGeom prst="ellipse">
            <a:avLst/>
          </a:prstGeom>
          <a:solidFill>
            <a:srgbClr val="28C840"/>
          </a:solidFill>
          <a:ln/>
        </p:spPr>
      </p:sp>
      <p:sp>
        <p:nvSpPr>
          <p:cNvPr id="9" name="text-542"/>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/essays/stories</a:t>
            </a:r>
            <a:endParaRPr lang="en-US" sz="900" dirty="0"/>
          </a:p>
        </p:txBody>
      </p:sp>
      <p:pic>
        <p:nvPicPr>
          <p:cNvPr id="10" name="image-543" descr="Screenshot: Write a story once, use it well">    </p:cNvPr>
          <p:cNvPicPr>
            <a:picLocks noChangeAspect="1"/>
          </p:cNvPicPr>
          <p:nvPr/>
        </p:nvPicPr>
        <p:blipFill>
          <a:blip r:embed="rId1"/>
          <a:stretch>
            <a:fillRect/>
          </a:stretch>
        </p:blipFill>
        <p:spPr>
          <a:xfrm>
            <a:off x="685800" y="2095530"/>
            <a:ext cx="5715000" cy="3571921"/>
          </a:xfrm>
          <a:prstGeom prst="rect">
            <a:avLst/>
          </a:prstGeom>
        </p:spPr>
      </p:pic>
      <p:sp>
        <p:nvSpPr>
          <p:cNvPr id="11" name="oval-544"/>
          <p:cNvSpPr/>
          <p:nvPr/>
        </p:nvSpPr>
        <p:spPr>
          <a:xfrm>
            <a:off x="6781830" y="2018355"/>
            <a:ext cx="104790" cy="104790"/>
          </a:xfrm>
          <a:prstGeom prst="ellipse">
            <a:avLst/>
          </a:prstGeom>
          <a:solidFill>
            <a:srgbClr val="EB6834"/>
          </a:solidFill>
          <a:ln/>
        </p:spPr>
      </p:sp>
      <p:sp>
        <p:nvSpPr>
          <p:cNvPr id="12" name="text-545"/>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546"/>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Every application asks a slightly different question, so students start from a blank page each time.</a:t>
            </a:r>
            <a:endParaRPr lang="en-US" sz="1388" dirty="0"/>
          </a:p>
        </p:txBody>
      </p:sp>
      <p:sp>
        <p:nvSpPr>
          <p:cNvPr id="14" name="oval-547"/>
          <p:cNvSpPr/>
          <p:nvPr/>
        </p:nvSpPr>
        <p:spPr>
          <a:xfrm>
            <a:off x="6781830" y="3197565"/>
            <a:ext cx="104790" cy="104790"/>
          </a:xfrm>
          <a:prstGeom prst="ellipse">
            <a:avLst/>
          </a:prstGeom>
          <a:solidFill>
            <a:srgbClr val="2A78D6"/>
          </a:solidFill>
          <a:ln/>
        </p:spPr>
      </p:sp>
      <p:sp>
        <p:nvSpPr>
          <p:cNvPr id="15" name="text-548"/>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549"/>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Quill suggests up to 3 stories per prompt, and its story interview asks up to 5 questions. Your answers become the story.</a:t>
            </a:r>
            <a:endParaRPr lang="en-US" sz="1388" dirty="0"/>
          </a:p>
        </p:txBody>
      </p:sp>
      <p:sp>
        <p:nvSpPr>
          <p:cNvPr id="17" name="oval-550"/>
          <p:cNvSpPr/>
          <p:nvPr/>
        </p:nvSpPr>
        <p:spPr>
          <a:xfrm>
            <a:off x="6781830" y="4623389"/>
            <a:ext cx="104790" cy="104790"/>
          </a:xfrm>
          <a:prstGeom prst="ellipse">
            <a:avLst/>
          </a:prstGeom>
          <a:solidFill>
            <a:srgbClr val="1BAF7A"/>
          </a:solidFill>
          <a:ln/>
        </p:spPr>
      </p:sp>
      <p:sp>
        <p:nvSpPr>
          <p:cNvPr id="18" name="text-551"/>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552"/>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Reuse saves hours without recycling essays. The app warns before the same story goes to the same school twice.</a:t>
            </a:r>
            <a:endParaRPr lang="en-US" sz="1388" dirty="0"/>
          </a:p>
        </p:txBody>
      </p:sp>
      <p:sp>
        <p:nvSpPr>
          <p:cNvPr id="20" name="text-553"/>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554"/>
          <p:cNvSpPr/>
          <p:nvPr/>
        </p:nvSpPr>
        <p:spPr>
          <a:xfrm>
            <a:off x="1485900" y="6057900"/>
            <a:ext cx="1657350" cy="285750"/>
          </a:xfrm>
          <a:prstGeom prst="roundRect">
            <a:avLst>
              <a:gd name="adj" fmla="val 50016"/>
            </a:avLst>
          </a:prstGeom>
          <a:solidFill>
            <a:srgbClr val="FFFFFF"/>
          </a:solidFill>
          <a:ln w="9525">
            <a:solidFill>
              <a:srgbClr val="E5E1D7"/>
            </a:solidFill>
            <a:prstDash val="solid"/>
          </a:ln>
        </p:spPr>
      </p:sp>
      <p:sp>
        <p:nvSpPr>
          <p:cNvPr id="22" name="text-555"/>
          <p:cNvSpPr txBox="1"/>
          <p:nvPr/>
        </p:nvSpPr>
        <p:spPr>
          <a:xfrm>
            <a:off x="1485900" y="6124560"/>
            <a:ext cx="16573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Stories in your words</a:t>
            </a:r>
            <a:endParaRPr lang="en-US" sz="1013" dirty="0"/>
          </a:p>
        </p:txBody>
      </p:sp>
      <p:sp>
        <p:nvSpPr>
          <p:cNvPr id="23" name="rect-556"/>
          <p:cNvSpPr/>
          <p:nvPr/>
        </p:nvSpPr>
        <p:spPr>
          <a:xfrm>
            <a:off x="3219420" y="6057900"/>
            <a:ext cx="1524030" cy="285750"/>
          </a:xfrm>
          <a:prstGeom prst="roundRect">
            <a:avLst>
              <a:gd name="adj" fmla="val 50016"/>
            </a:avLst>
          </a:prstGeom>
          <a:solidFill>
            <a:srgbClr val="FFFFFF"/>
          </a:solidFill>
          <a:ln w="9525">
            <a:solidFill>
              <a:srgbClr val="E5E1D7"/>
            </a:solidFill>
            <a:prstDash val="solid"/>
          </a:ln>
        </p:spPr>
      </p:sp>
      <p:sp>
        <p:nvSpPr>
          <p:cNvPr id="24" name="text-557"/>
          <p:cNvSpPr txBox="1"/>
          <p:nvPr/>
        </p:nvSpPr>
        <p:spPr>
          <a:xfrm>
            <a:off x="3219420" y="6124560"/>
            <a:ext cx="15240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Themes and evidence</a:t>
            </a:r>
            <a:endParaRPr lang="en-US" sz="1013" dirty="0"/>
          </a:p>
        </p:txBody>
      </p:sp>
      <p:sp>
        <p:nvSpPr>
          <p:cNvPr id="25" name="rect-558"/>
          <p:cNvSpPr/>
          <p:nvPr/>
        </p:nvSpPr>
        <p:spPr>
          <a:xfrm>
            <a:off x="4819620" y="6057900"/>
            <a:ext cx="981060" cy="285750"/>
          </a:xfrm>
          <a:prstGeom prst="roundRect">
            <a:avLst>
              <a:gd name="adj" fmla="val 50016"/>
            </a:avLst>
          </a:prstGeom>
          <a:solidFill>
            <a:srgbClr val="FFFFFF"/>
          </a:solidFill>
          <a:ln w="9525">
            <a:solidFill>
              <a:srgbClr val="E5E1D7"/>
            </a:solidFill>
            <a:prstDash val="solid"/>
          </a:ln>
        </p:spPr>
      </p:sp>
      <p:sp>
        <p:nvSpPr>
          <p:cNvPr id="26" name="text-559"/>
          <p:cNvSpPr txBox="1"/>
          <p:nvPr/>
        </p:nvSpPr>
        <p:spPr>
          <a:xfrm>
            <a:off x="481962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Story match</a:t>
            </a:r>
            <a:endParaRPr lang="en-US" sz="1013" dirty="0"/>
          </a:p>
        </p:txBody>
      </p:sp>
      <p:sp>
        <p:nvSpPr>
          <p:cNvPr id="27" name="rect-560"/>
          <p:cNvSpPr/>
          <p:nvPr/>
        </p:nvSpPr>
        <p:spPr>
          <a:xfrm>
            <a:off x="5876940" y="6057900"/>
            <a:ext cx="1181130" cy="285750"/>
          </a:xfrm>
          <a:prstGeom prst="roundRect">
            <a:avLst>
              <a:gd name="adj" fmla="val 50016"/>
            </a:avLst>
          </a:prstGeom>
          <a:solidFill>
            <a:srgbClr val="FFFFFF"/>
          </a:solidFill>
          <a:ln w="9525">
            <a:solidFill>
              <a:srgbClr val="E5E1D7"/>
            </a:solidFill>
            <a:prstDash val="solid"/>
          </a:ln>
        </p:spPr>
      </p:sp>
      <p:sp>
        <p:nvSpPr>
          <p:cNvPr id="28" name="text-561"/>
          <p:cNvSpPr txBox="1"/>
          <p:nvPr/>
        </p:nvSpPr>
        <p:spPr>
          <a:xfrm>
            <a:off x="587694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Reuse tracking</a:t>
            </a:r>
            <a:endParaRPr lang="en-US" sz="1013" dirty="0"/>
          </a:p>
        </p:txBody>
      </p:sp>
      <p:sp>
        <p:nvSpPr>
          <p:cNvPr id="29" name="rect-562"/>
          <p:cNvSpPr/>
          <p:nvPr/>
        </p:nvSpPr>
        <p:spPr>
          <a:xfrm>
            <a:off x="7134240" y="6057900"/>
            <a:ext cx="1247790" cy="285750"/>
          </a:xfrm>
          <a:prstGeom prst="roundRect">
            <a:avLst>
              <a:gd name="adj" fmla="val 50016"/>
            </a:avLst>
          </a:prstGeom>
          <a:solidFill>
            <a:srgbClr val="FFFFFF"/>
          </a:solidFill>
          <a:ln w="9525">
            <a:solidFill>
              <a:srgbClr val="E5E1D7"/>
            </a:solidFill>
            <a:prstDash val="solid"/>
          </a:ln>
        </p:spPr>
      </p:sp>
      <p:sp>
        <p:nvSpPr>
          <p:cNvPr id="30" name="text-563"/>
          <p:cNvSpPr txBox="1"/>
          <p:nvPr/>
        </p:nvSpPr>
        <p:spPr>
          <a:xfrm>
            <a:off x="7134240" y="612456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Story interview</a:t>
            </a:r>
            <a:endParaRPr lang="en-US" sz="1013" dirty="0"/>
          </a:p>
        </p:txBody>
      </p:sp>
      <p:sp>
        <p:nvSpPr>
          <p:cNvPr id="31" name="rect-564"/>
          <p:cNvSpPr/>
          <p:nvPr/>
        </p:nvSpPr>
        <p:spPr>
          <a:xfrm>
            <a:off x="8458200" y="6057900"/>
            <a:ext cx="1457371" cy="285750"/>
          </a:xfrm>
          <a:prstGeom prst="roundRect">
            <a:avLst>
              <a:gd name="adj" fmla="val 50016"/>
            </a:avLst>
          </a:prstGeom>
          <a:solidFill>
            <a:srgbClr val="FFFFFF"/>
          </a:solidFill>
          <a:ln w="9525">
            <a:solidFill>
              <a:srgbClr val="E5E1D7"/>
            </a:solidFill>
            <a:prstDash val="solid"/>
          </a:ln>
        </p:spPr>
      </p:sp>
      <p:sp>
        <p:nvSpPr>
          <p:cNvPr id="32" name="text-565"/>
          <p:cNvSpPr txBox="1"/>
          <p:nvPr/>
        </p:nvSpPr>
        <p:spPr>
          <a:xfrm>
            <a:off x="8458200"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Paste a past essay</a:t>
            </a:r>
            <a:endParaRPr lang="en-US" sz="1013" dirty="0"/>
          </a:p>
        </p:txBody>
      </p:sp>
      <p:sp>
        <p:nvSpPr>
          <p:cNvPr id="33" name="rect-566"/>
          <p:cNvSpPr/>
          <p:nvPr/>
        </p:nvSpPr>
        <p:spPr>
          <a:xfrm>
            <a:off x="9991740" y="6057900"/>
            <a:ext cx="704820" cy="285750"/>
          </a:xfrm>
          <a:prstGeom prst="roundRect">
            <a:avLst>
              <a:gd name="adj" fmla="val 50016"/>
            </a:avLst>
          </a:prstGeom>
          <a:solidFill>
            <a:srgbClr val="FFFFFF"/>
          </a:solidFill>
          <a:ln w="9525">
            <a:solidFill>
              <a:srgbClr val="E5E1D7"/>
            </a:solidFill>
            <a:prstDash val="solid"/>
          </a:ln>
        </p:spPr>
      </p:sp>
      <p:sp>
        <p:nvSpPr>
          <p:cNvPr id="34" name="text-567"/>
          <p:cNvSpPr txBox="1"/>
          <p:nvPr/>
        </p:nvSpPr>
        <p:spPr>
          <a:xfrm>
            <a:off x="9991740" y="6124560"/>
            <a:ext cx="7048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Archive</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568"/>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08</a:t>
            </a:r>
            <a:pPr algn="l" indent="0" marL="0">
              <a:lnSpc>
                <a:spcPct val="120000"/>
              </a:lnSpc>
              <a:buNone/>
            </a:pPr>
            <a:r>
              <a:rPr lang="en-US" sz="1013" b="1" spc="122" kern="0" dirty="0">
                <a:solidFill>
                  <a:srgbClr val="1BAF7A"/>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ATLAS</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Every school, its deadline, its real cost</a:t>
            </a:r>
            <a:endParaRPr lang="en-US" sz="3600" dirty="0"/>
          </a:p>
        </p:txBody>
      </p:sp>
      <p:sp>
        <p:nvSpPr>
          <p:cNvPr id="4" name="text-570"/>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A balanced list with checklists, policies, and the yearly gap.</a:t>
            </a:r>
            <a:endParaRPr lang="en-US" sz="1575" dirty="0"/>
          </a:p>
        </p:txBody>
      </p:sp>
      <p:sp>
        <p:nvSpPr>
          <p:cNvPr id="5" name="rect-571"/>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572"/>
          <p:cNvSpPr/>
          <p:nvPr/>
        </p:nvSpPr>
        <p:spPr>
          <a:xfrm>
            <a:off x="742950" y="1924080"/>
            <a:ext cx="85771" cy="85771"/>
          </a:xfrm>
          <a:prstGeom prst="ellipse">
            <a:avLst/>
          </a:prstGeom>
          <a:solidFill>
            <a:srgbClr val="FF5F57"/>
          </a:solidFill>
          <a:ln/>
        </p:spPr>
      </p:sp>
      <p:sp>
        <p:nvSpPr>
          <p:cNvPr id="7" name="oval-573"/>
          <p:cNvSpPr/>
          <p:nvPr/>
        </p:nvSpPr>
        <p:spPr>
          <a:xfrm>
            <a:off x="876270" y="1924080"/>
            <a:ext cx="85771" cy="85771"/>
          </a:xfrm>
          <a:prstGeom prst="ellipse">
            <a:avLst/>
          </a:prstGeom>
          <a:solidFill>
            <a:srgbClr val="FEBC2E"/>
          </a:solidFill>
          <a:ln/>
        </p:spPr>
      </p:sp>
      <p:sp>
        <p:nvSpPr>
          <p:cNvPr id="8" name="oval-574"/>
          <p:cNvSpPr/>
          <p:nvPr/>
        </p:nvSpPr>
        <p:spPr>
          <a:xfrm>
            <a:off x="1009680" y="1924080"/>
            <a:ext cx="85771" cy="85771"/>
          </a:xfrm>
          <a:prstGeom prst="ellipse">
            <a:avLst/>
          </a:prstGeom>
          <a:solidFill>
            <a:srgbClr val="28C840"/>
          </a:solidFill>
          <a:ln/>
        </p:spPr>
      </p:sp>
      <p:sp>
        <p:nvSpPr>
          <p:cNvPr id="9" name="text-575"/>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/colleges</a:t>
            </a:r>
            <a:endParaRPr lang="en-US" sz="900" dirty="0"/>
          </a:p>
        </p:txBody>
      </p:sp>
      <p:pic>
        <p:nvPicPr>
          <p:cNvPr id="10" name="image-576" descr="Screenshot: Every school, its deadline, its real cost">    </p:cNvPr>
          <p:cNvPicPr>
            <a:picLocks noChangeAspect="1"/>
          </p:cNvPicPr>
          <p:nvPr/>
        </p:nvPicPr>
        <p:blipFill>
          <a:blip r:embed="rId1"/>
          <a:stretch>
            <a:fillRect/>
          </a:stretch>
        </p:blipFill>
        <p:spPr>
          <a:xfrm>
            <a:off x="685800" y="2095530"/>
            <a:ext cx="5715000" cy="3571921"/>
          </a:xfrm>
          <a:prstGeom prst="rect">
            <a:avLst/>
          </a:prstGeom>
        </p:spPr>
      </p:pic>
      <p:sp>
        <p:nvSpPr>
          <p:cNvPr id="11" name="oval-577"/>
          <p:cNvSpPr/>
          <p:nvPr/>
        </p:nvSpPr>
        <p:spPr>
          <a:xfrm>
            <a:off x="6781830" y="2018355"/>
            <a:ext cx="104790" cy="104790"/>
          </a:xfrm>
          <a:prstGeom prst="ellipse">
            <a:avLst/>
          </a:prstGeom>
          <a:solidFill>
            <a:srgbClr val="EB6834"/>
          </a:solidFill>
          <a:ln/>
        </p:spPr>
      </p:sp>
      <p:sp>
        <p:nvSpPr>
          <p:cNvPr id="12" name="text-578"/>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579"/>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Each college has its own plans, requirements, test policy, and rules for outside scholarships.</a:t>
            </a:r>
            <a:endParaRPr lang="en-US" sz="1388" dirty="0"/>
          </a:p>
        </p:txBody>
      </p:sp>
      <p:sp>
        <p:nvSpPr>
          <p:cNvPr id="14" name="oval-580"/>
          <p:cNvSpPr/>
          <p:nvPr/>
        </p:nvSpPr>
        <p:spPr>
          <a:xfrm>
            <a:off x="6781830" y="3197565"/>
            <a:ext cx="104790" cy="104790"/>
          </a:xfrm>
          <a:prstGeom prst="ellipse">
            <a:avLst/>
          </a:prstGeom>
          <a:solidFill>
            <a:srgbClr val="2A78D6"/>
          </a:solidFill>
          <a:ln/>
        </p:spPr>
      </p:sp>
      <p:sp>
        <p:nvSpPr>
          <p:cNvPr id="15" name="text-581"/>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582"/>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Atlas reviews list balance and flags risks, like a school that may cut its own grant if you win outside money.</a:t>
            </a:r>
            <a:endParaRPr lang="en-US" sz="1388" dirty="0"/>
          </a:p>
        </p:txBody>
      </p:sp>
      <p:sp>
        <p:nvSpPr>
          <p:cNvPr id="17" name="oval-583"/>
          <p:cNvSpPr/>
          <p:nvPr/>
        </p:nvSpPr>
        <p:spPr>
          <a:xfrm>
            <a:off x="6781830" y="4623389"/>
            <a:ext cx="104790" cy="104790"/>
          </a:xfrm>
          <a:prstGeom prst="ellipse">
            <a:avLst/>
          </a:prstGeom>
          <a:solidFill>
            <a:srgbClr val="1BAF7A"/>
          </a:solidFill>
          <a:ln/>
        </p:spPr>
      </p:sp>
      <p:sp>
        <p:nvSpPr>
          <p:cNvPr id="18" name="text-584"/>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585"/>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Reach, target, and likely side by side, with each checklist, deadline, and gap, and the next deadline up front.</a:t>
            </a:r>
            <a:endParaRPr lang="en-US" sz="1388" dirty="0"/>
          </a:p>
        </p:txBody>
      </p:sp>
      <p:sp>
        <p:nvSpPr>
          <p:cNvPr id="20" name="text-586"/>
          <p:cNvSpPr txBox="1"/>
          <p:nvPr/>
        </p:nvSpPr>
        <p:spPr>
          <a:xfrm>
            <a:off x="609630" y="600075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587"/>
          <p:cNvSpPr/>
          <p:nvPr/>
        </p:nvSpPr>
        <p:spPr>
          <a:xfrm>
            <a:off x="1485900" y="5924580"/>
            <a:ext cx="1047720" cy="285750"/>
          </a:xfrm>
          <a:prstGeom prst="roundRect">
            <a:avLst>
              <a:gd name="adj" fmla="val 50016"/>
            </a:avLst>
          </a:prstGeom>
          <a:solidFill>
            <a:srgbClr val="FFFFFF"/>
          </a:solidFill>
          <a:ln w="9525">
            <a:solidFill>
              <a:srgbClr val="E5E1D7"/>
            </a:solidFill>
            <a:prstDash val="solid"/>
          </a:ln>
        </p:spPr>
      </p:sp>
      <p:sp>
        <p:nvSpPr>
          <p:cNvPr id="22" name="text-588"/>
          <p:cNvSpPr txBox="1"/>
          <p:nvPr/>
        </p:nvSpPr>
        <p:spPr>
          <a:xfrm>
            <a:off x="1485900" y="599124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Fit and plan</a:t>
            </a:r>
            <a:endParaRPr lang="en-US" sz="1013" dirty="0"/>
          </a:p>
        </p:txBody>
      </p:sp>
      <p:sp>
        <p:nvSpPr>
          <p:cNvPr id="23" name="rect-589"/>
          <p:cNvSpPr/>
          <p:nvPr/>
        </p:nvSpPr>
        <p:spPr>
          <a:xfrm>
            <a:off x="2609880" y="5924580"/>
            <a:ext cx="1724010" cy="285750"/>
          </a:xfrm>
          <a:prstGeom prst="roundRect">
            <a:avLst>
              <a:gd name="adj" fmla="val 50016"/>
            </a:avLst>
          </a:prstGeom>
          <a:solidFill>
            <a:srgbClr val="FFFFFF"/>
          </a:solidFill>
          <a:ln w="9525">
            <a:solidFill>
              <a:srgbClr val="E5E1D7"/>
            </a:solidFill>
            <a:prstDash val="solid"/>
          </a:ln>
        </p:spPr>
      </p:sp>
      <p:sp>
        <p:nvSpPr>
          <p:cNvPr id="24" name="text-590"/>
          <p:cNvSpPr txBox="1"/>
          <p:nvPr/>
        </p:nvSpPr>
        <p:spPr>
          <a:xfrm>
            <a:off x="2609880" y="5991240"/>
            <a:ext cx="172401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Requirements checklist</a:t>
            </a:r>
            <a:endParaRPr lang="en-US" sz="1013" dirty="0"/>
          </a:p>
        </p:txBody>
      </p:sp>
      <p:sp>
        <p:nvSpPr>
          <p:cNvPr id="25" name="rect-591"/>
          <p:cNvSpPr/>
          <p:nvPr/>
        </p:nvSpPr>
        <p:spPr>
          <a:xfrm>
            <a:off x="4410060" y="5924580"/>
            <a:ext cx="838230" cy="285750"/>
          </a:xfrm>
          <a:prstGeom prst="roundRect">
            <a:avLst>
              <a:gd name="adj" fmla="val 50016"/>
            </a:avLst>
          </a:prstGeom>
          <a:solidFill>
            <a:srgbClr val="FFFFFF"/>
          </a:solidFill>
          <a:ln w="9525">
            <a:solidFill>
              <a:srgbClr val="E5E1D7"/>
            </a:solidFill>
            <a:prstDash val="solid"/>
          </a:ln>
        </p:spPr>
      </p:sp>
      <p:sp>
        <p:nvSpPr>
          <p:cNvPr id="26" name="text-592"/>
          <p:cNvSpPr txBox="1"/>
          <p:nvPr/>
        </p:nvSpPr>
        <p:spPr>
          <a:xfrm>
            <a:off x="4410060" y="599124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Deadlines</a:t>
            </a:r>
            <a:endParaRPr lang="en-US" sz="1013" dirty="0"/>
          </a:p>
        </p:txBody>
      </p:sp>
      <p:sp>
        <p:nvSpPr>
          <p:cNvPr id="27" name="rect-593"/>
          <p:cNvSpPr/>
          <p:nvPr/>
        </p:nvSpPr>
        <p:spPr>
          <a:xfrm>
            <a:off x="5324460" y="5924580"/>
            <a:ext cx="981060" cy="285750"/>
          </a:xfrm>
          <a:prstGeom prst="roundRect">
            <a:avLst>
              <a:gd name="adj" fmla="val 50016"/>
            </a:avLst>
          </a:prstGeom>
          <a:solidFill>
            <a:srgbClr val="FFFFFF"/>
          </a:solidFill>
          <a:ln w="9525">
            <a:solidFill>
              <a:srgbClr val="E5E1D7"/>
            </a:solidFill>
            <a:prstDash val="solid"/>
          </a:ln>
        </p:spPr>
      </p:sp>
      <p:sp>
        <p:nvSpPr>
          <p:cNvPr id="28" name="text-594"/>
          <p:cNvSpPr txBox="1"/>
          <p:nvPr/>
        </p:nvSpPr>
        <p:spPr>
          <a:xfrm>
            <a:off x="5324460" y="599124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Test policy</a:t>
            </a:r>
            <a:endParaRPr lang="en-US" sz="1013" dirty="0"/>
          </a:p>
        </p:txBody>
      </p:sp>
      <p:sp>
        <p:nvSpPr>
          <p:cNvPr id="29" name="rect-595"/>
          <p:cNvSpPr/>
          <p:nvPr/>
        </p:nvSpPr>
        <p:spPr>
          <a:xfrm>
            <a:off x="6381780" y="5924580"/>
            <a:ext cx="2000250" cy="285750"/>
          </a:xfrm>
          <a:prstGeom prst="roundRect">
            <a:avLst>
              <a:gd name="adj" fmla="val 50016"/>
            </a:avLst>
          </a:prstGeom>
          <a:solidFill>
            <a:srgbClr val="FFFFFF"/>
          </a:solidFill>
          <a:ln w="9525">
            <a:solidFill>
              <a:srgbClr val="E5E1D7"/>
            </a:solidFill>
            <a:prstDash val="solid"/>
          </a:ln>
        </p:spPr>
      </p:sp>
      <p:sp>
        <p:nvSpPr>
          <p:cNvPr id="30" name="text-596"/>
          <p:cNvSpPr txBox="1"/>
          <p:nvPr/>
        </p:nvSpPr>
        <p:spPr>
          <a:xfrm>
            <a:off x="6381780" y="5991240"/>
            <a:ext cx="20002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Outside-scholarship policy</a:t>
            </a:r>
            <a:endParaRPr lang="en-US" sz="1013" dirty="0"/>
          </a:p>
        </p:txBody>
      </p:sp>
      <p:sp>
        <p:nvSpPr>
          <p:cNvPr id="31" name="rect-597"/>
          <p:cNvSpPr/>
          <p:nvPr/>
        </p:nvSpPr>
        <p:spPr>
          <a:xfrm>
            <a:off x="8458200" y="5924580"/>
            <a:ext cx="981060" cy="285750"/>
          </a:xfrm>
          <a:prstGeom prst="roundRect">
            <a:avLst>
              <a:gd name="adj" fmla="val 50016"/>
            </a:avLst>
          </a:prstGeom>
          <a:solidFill>
            <a:srgbClr val="FFFFFF"/>
          </a:solidFill>
          <a:ln w="9525">
            <a:solidFill>
              <a:srgbClr val="E5E1D7"/>
            </a:solidFill>
            <a:prstDash val="solid"/>
          </a:ln>
        </p:spPr>
      </p:sp>
      <p:sp>
        <p:nvSpPr>
          <p:cNvPr id="32" name="text-598"/>
          <p:cNvSpPr txBox="1"/>
          <p:nvPr/>
        </p:nvSpPr>
        <p:spPr>
          <a:xfrm>
            <a:off x="8458200" y="599124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Merit tiers</a:t>
            </a:r>
            <a:endParaRPr lang="en-US" sz="1013" dirty="0"/>
          </a:p>
        </p:txBody>
      </p:sp>
      <p:sp>
        <p:nvSpPr>
          <p:cNvPr id="33" name="rect-599"/>
          <p:cNvSpPr/>
          <p:nvPr/>
        </p:nvSpPr>
        <p:spPr>
          <a:xfrm>
            <a:off x="9515521" y="5924580"/>
            <a:ext cx="1047720" cy="285750"/>
          </a:xfrm>
          <a:prstGeom prst="roundRect">
            <a:avLst>
              <a:gd name="adj" fmla="val 50016"/>
            </a:avLst>
          </a:prstGeom>
          <a:solidFill>
            <a:srgbClr val="FFFFFF"/>
          </a:solidFill>
          <a:ln w="9525">
            <a:solidFill>
              <a:srgbClr val="E5E1D7"/>
            </a:solidFill>
            <a:prstDash val="solid"/>
          </a:ln>
        </p:spPr>
      </p:sp>
      <p:sp>
        <p:nvSpPr>
          <p:cNvPr id="34" name="text-600"/>
          <p:cNvSpPr txBox="1"/>
          <p:nvPr/>
        </p:nvSpPr>
        <p:spPr>
          <a:xfrm>
            <a:off x="9515521" y="599124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Recommenders</a:t>
            </a:r>
            <a:endParaRPr lang="en-US" sz="1013" dirty="0"/>
          </a:p>
        </p:txBody>
      </p:sp>
      <p:sp>
        <p:nvSpPr>
          <p:cNvPr id="35" name="rect-601"/>
          <p:cNvSpPr/>
          <p:nvPr/>
        </p:nvSpPr>
        <p:spPr>
          <a:xfrm>
            <a:off x="1485900" y="6267480"/>
            <a:ext cx="1181130" cy="285750"/>
          </a:xfrm>
          <a:prstGeom prst="roundRect">
            <a:avLst>
              <a:gd name="adj" fmla="val 50016"/>
            </a:avLst>
          </a:prstGeom>
          <a:solidFill>
            <a:srgbClr val="FFFFFF"/>
          </a:solidFill>
          <a:ln w="9525">
            <a:solidFill>
              <a:srgbClr val="E5E1D7"/>
            </a:solidFill>
            <a:prstDash val="solid"/>
          </a:ln>
        </p:spPr>
      </p:sp>
      <p:sp>
        <p:nvSpPr>
          <p:cNvPr id="36" name="text-602"/>
          <p:cNvSpPr txBox="1"/>
          <p:nvPr/>
        </p:nvSpPr>
        <p:spPr>
          <a:xfrm>
            <a:off x="1485900" y="633414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Gap per school</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603"/>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09</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pPr algn="l" indent="0" marL="0">
              <a:lnSpc>
                <a:spcPct val="120000"/>
              </a:lnSpc>
              <a:buNone/>
            </a:pPr>
            <a:r>
              <a:rPr lang="en-US" sz="1013" b="1" spc="122" kern="0" dirty="0">
                <a:solidFill>
                  <a:srgbClr val="E87BA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AID</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What each college will really cost</a:t>
            </a:r>
            <a:endParaRPr lang="en-US" sz="3600" dirty="0"/>
          </a:p>
        </p:txBody>
      </p:sp>
      <p:sp>
        <p:nvSpPr>
          <p:cNvPr id="4" name="text-605"/>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The gap: cost to attend minus free money, for every school.</a:t>
            </a:r>
            <a:endParaRPr lang="en-US" sz="1575" dirty="0"/>
          </a:p>
        </p:txBody>
      </p:sp>
      <p:sp>
        <p:nvSpPr>
          <p:cNvPr id="5" name="rect-606"/>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607"/>
          <p:cNvSpPr/>
          <p:nvPr/>
        </p:nvSpPr>
        <p:spPr>
          <a:xfrm>
            <a:off x="742950" y="1924080"/>
            <a:ext cx="85771" cy="85771"/>
          </a:xfrm>
          <a:prstGeom prst="ellipse">
            <a:avLst/>
          </a:prstGeom>
          <a:solidFill>
            <a:srgbClr val="FF5F57"/>
          </a:solidFill>
          <a:ln/>
        </p:spPr>
      </p:sp>
      <p:sp>
        <p:nvSpPr>
          <p:cNvPr id="7" name="oval-608"/>
          <p:cNvSpPr/>
          <p:nvPr/>
        </p:nvSpPr>
        <p:spPr>
          <a:xfrm>
            <a:off x="876270" y="1924080"/>
            <a:ext cx="85771" cy="85771"/>
          </a:xfrm>
          <a:prstGeom prst="ellipse">
            <a:avLst/>
          </a:prstGeom>
          <a:solidFill>
            <a:srgbClr val="FEBC2E"/>
          </a:solidFill>
          <a:ln/>
        </p:spPr>
      </p:sp>
      <p:sp>
        <p:nvSpPr>
          <p:cNvPr id="8" name="oval-609"/>
          <p:cNvSpPr/>
          <p:nvPr/>
        </p:nvSpPr>
        <p:spPr>
          <a:xfrm>
            <a:off x="1009680" y="1924080"/>
            <a:ext cx="85771" cy="85771"/>
          </a:xfrm>
          <a:prstGeom prst="ellipse">
            <a:avLst/>
          </a:prstGeom>
          <a:solidFill>
            <a:srgbClr val="28C840"/>
          </a:solidFill>
          <a:ln/>
        </p:spPr>
      </p:sp>
      <p:sp>
        <p:nvSpPr>
          <p:cNvPr id="9" name="text-610"/>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/money</a:t>
            </a:r>
            <a:endParaRPr lang="en-US" sz="900" dirty="0"/>
          </a:p>
        </p:txBody>
      </p:sp>
      <p:pic>
        <p:nvPicPr>
          <p:cNvPr id="10" name="image-611" descr="Screenshot: What each college will really cost">    </p:cNvPr>
          <p:cNvPicPr>
            <a:picLocks noChangeAspect="1"/>
          </p:cNvPicPr>
          <p:nvPr/>
        </p:nvPicPr>
        <p:blipFill>
          <a:blip r:embed="rId1"/>
          <a:stretch>
            <a:fillRect/>
          </a:stretch>
        </p:blipFill>
        <p:spPr>
          <a:xfrm>
            <a:off x="685800" y="2095530"/>
            <a:ext cx="5715000" cy="3571921"/>
          </a:xfrm>
          <a:prstGeom prst="rect">
            <a:avLst/>
          </a:prstGeom>
        </p:spPr>
      </p:pic>
      <p:sp>
        <p:nvSpPr>
          <p:cNvPr id="11" name="oval-612"/>
          <p:cNvSpPr/>
          <p:nvPr/>
        </p:nvSpPr>
        <p:spPr>
          <a:xfrm>
            <a:off x="6781830" y="2141708"/>
            <a:ext cx="104790" cy="104790"/>
          </a:xfrm>
          <a:prstGeom prst="ellipse">
            <a:avLst/>
          </a:prstGeom>
          <a:solidFill>
            <a:srgbClr val="EB6834"/>
          </a:solidFill>
          <a:ln/>
        </p:spPr>
      </p:sp>
      <p:sp>
        <p:nvSpPr>
          <p:cNvPr id="12" name="text-613"/>
          <p:cNvSpPr txBox="1"/>
          <p:nvPr/>
        </p:nvSpPr>
        <p:spPr>
          <a:xfrm>
            <a:off x="6972300" y="210357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614"/>
          <p:cNvSpPr txBox="1"/>
          <p:nvPr/>
        </p:nvSpPr>
        <p:spPr>
          <a:xfrm>
            <a:off x="6781830" y="237030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Sticker prices scare families off, and net-price estimates are hard to find and harder to compare.</a:t>
            </a:r>
            <a:endParaRPr lang="en-US" sz="1388" dirty="0"/>
          </a:p>
        </p:txBody>
      </p:sp>
      <p:sp>
        <p:nvSpPr>
          <p:cNvPr id="14" name="oval-615"/>
          <p:cNvSpPr/>
          <p:nvPr/>
        </p:nvSpPr>
        <p:spPr>
          <a:xfrm>
            <a:off x="6781830" y="3320918"/>
            <a:ext cx="104790" cy="104790"/>
          </a:xfrm>
          <a:prstGeom prst="ellipse">
            <a:avLst/>
          </a:prstGeom>
          <a:solidFill>
            <a:srgbClr val="2A78D6"/>
          </a:solidFill>
          <a:ln/>
        </p:spPr>
      </p:sp>
      <p:sp>
        <p:nvSpPr>
          <p:cNvPr id="15" name="text-616"/>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617"/>
          <p:cNvSpPr txBox="1"/>
          <p:nvPr/>
        </p:nvSpPr>
        <p:spPr>
          <a:xfrm>
            <a:off x="6781830" y="354951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No AI in the math. Ledger estimates from Scorecard net price for your income range, or your school's own calculator.</a:t>
            </a:r>
            <a:endParaRPr lang="en-US" sz="1388" dirty="0"/>
          </a:p>
        </p:txBody>
      </p:sp>
      <p:sp>
        <p:nvSpPr>
          <p:cNvPr id="17" name="oval-618"/>
          <p:cNvSpPr/>
          <p:nvPr/>
        </p:nvSpPr>
        <p:spPr>
          <a:xfrm>
            <a:off x="6781830" y="4746742"/>
            <a:ext cx="104790" cy="104790"/>
          </a:xfrm>
          <a:prstGeom prst="ellipse">
            <a:avLst/>
          </a:prstGeom>
          <a:solidFill>
            <a:srgbClr val="1BAF7A"/>
          </a:solidFill>
          <a:ln/>
        </p:spPr>
      </p:sp>
      <p:sp>
        <p:nvSpPr>
          <p:cNvPr id="18" name="text-619"/>
          <p:cNvSpPr txBox="1"/>
          <p:nvPr/>
        </p:nvSpPr>
        <p:spPr>
          <a:xfrm>
            <a:off x="6972300" y="4708703"/>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620"/>
          <p:cNvSpPr txBox="1"/>
          <p:nvPr/>
        </p:nvSpPr>
        <p:spPr>
          <a:xfrm>
            <a:off x="6781830" y="4975342"/>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Free money and the gap side by side, plus how open applications and a family budget would shrink it.</a:t>
            </a:r>
            <a:endParaRPr lang="en-US" sz="1388" dirty="0"/>
          </a:p>
        </p:txBody>
      </p:sp>
      <p:sp>
        <p:nvSpPr>
          <p:cNvPr id="20" name="text-621"/>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622"/>
          <p:cNvSpPr/>
          <p:nvPr/>
        </p:nvSpPr>
        <p:spPr>
          <a:xfrm>
            <a:off x="1485900" y="6057900"/>
            <a:ext cx="1457371" cy="285750"/>
          </a:xfrm>
          <a:prstGeom prst="roundRect">
            <a:avLst>
              <a:gd name="adj" fmla="val 50016"/>
            </a:avLst>
          </a:prstGeom>
          <a:solidFill>
            <a:srgbClr val="FFFFFF"/>
          </a:solidFill>
          <a:ln w="9525">
            <a:solidFill>
              <a:srgbClr val="E5E1D7"/>
            </a:solidFill>
            <a:prstDash val="solid"/>
          </a:ln>
        </p:spPr>
      </p:sp>
      <p:sp>
        <p:nvSpPr>
          <p:cNvPr id="22" name="text-623"/>
          <p:cNvSpPr txBox="1"/>
          <p:nvPr/>
        </p:nvSpPr>
        <p:spPr>
          <a:xfrm>
            <a:off x="1485900"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Scorecard estimate</a:t>
            </a:r>
            <a:endParaRPr lang="en-US" sz="1013" dirty="0"/>
          </a:p>
        </p:txBody>
      </p:sp>
      <p:sp>
        <p:nvSpPr>
          <p:cNvPr id="23" name="rect-624"/>
          <p:cNvSpPr/>
          <p:nvPr/>
        </p:nvSpPr>
        <p:spPr>
          <a:xfrm>
            <a:off x="3019440" y="6057900"/>
            <a:ext cx="1390620" cy="285750"/>
          </a:xfrm>
          <a:prstGeom prst="roundRect">
            <a:avLst>
              <a:gd name="adj" fmla="val 50016"/>
            </a:avLst>
          </a:prstGeom>
          <a:solidFill>
            <a:srgbClr val="FFFFFF"/>
          </a:solidFill>
          <a:ln w="9525">
            <a:solidFill>
              <a:srgbClr val="E5E1D7"/>
            </a:solidFill>
            <a:prstDash val="solid"/>
          </a:ln>
        </p:spPr>
      </p:sp>
      <p:sp>
        <p:nvSpPr>
          <p:cNvPr id="24" name="text-625"/>
          <p:cNvSpPr txBox="1"/>
          <p:nvPr/>
        </p:nvSpPr>
        <p:spPr>
          <a:xfrm>
            <a:off x="3019440" y="6124560"/>
            <a:ext cx="13906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Calculator result</a:t>
            </a:r>
            <a:endParaRPr lang="en-US" sz="1013" dirty="0"/>
          </a:p>
        </p:txBody>
      </p:sp>
      <p:sp>
        <p:nvSpPr>
          <p:cNvPr id="25" name="rect-626"/>
          <p:cNvSpPr/>
          <p:nvPr/>
        </p:nvSpPr>
        <p:spPr>
          <a:xfrm>
            <a:off x="4486321" y="6057900"/>
            <a:ext cx="704820" cy="285750"/>
          </a:xfrm>
          <a:prstGeom prst="roundRect">
            <a:avLst>
              <a:gd name="adj" fmla="val 50016"/>
            </a:avLst>
          </a:prstGeom>
          <a:solidFill>
            <a:srgbClr val="FFFFFF"/>
          </a:solidFill>
          <a:ln w="9525">
            <a:solidFill>
              <a:srgbClr val="E5E1D7"/>
            </a:solidFill>
            <a:prstDash val="solid"/>
          </a:ln>
        </p:spPr>
      </p:sp>
      <p:sp>
        <p:nvSpPr>
          <p:cNvPr id="26" name="text-627"/>
          <p:cNvSpPr txBox="1"/>
          <p:nvPr/>
        </p:nvSpPr>
        <p:spPr>
          <a:xfrm>
            <a:off x="4486321" y="6124560"/>
            <a:ext cx="7048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The gap</a:t>
            </a:r>
            <a:endParaRPr lang="en-US" sz="1013" dirty="0"/>
          </a:p>
        </p:txBody>
      </p:sp>
      <p:sp>
        <p:nvSpPr>
          <p:cNvPr id="27" name="rect-628"/>
          <p:cNvSpPr/>
          <p:nvPr/>
        </p:nvSpPr>
        <p:spPr>
          <a:xfrm>
            <a:off x="5267310" y="6057900"/>
            <a:ext cx="1590690" cy="285750"/>
          </a:xfrm>
          <a:prstGeom prst="roundRect">
            <a:avLst>
              <a:gd name="adj" fmla="val 50016"/>
            </a:avLst>
          </a:prstGeom>
          <a:solidFill>
            <a:srgbClr val="FFFFFF"/>
          </a:solidFill>
          <a:ln w="9525">
            <a:solidFill>
              <a:srgbClr val="E5E1D7"/>
            </a:solidFill>
            <a:prstDash val="solid"/>
          </a:ln>
        </p:spPr>
      </p:sp>
      <p:sp>
        <p:nvSpPr>
          <p:cNvPr id="28" name="text-629"/>
          <p:cNvSpPr txBox="1"/>
          <p:nvPr/>
        </p:nvSpPr>
        <p:spPr>
          <a:xfrm>
            <a:off x="5267310" y="6124560"/>
            <a:ext cx="15906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Pending applications</a:t>
            </a:r>
            <a:endParaRPr lang="en-US" sz="1013" dirty="0"/>
          </a:p>
        </p:txBody>
      </p:sp>
      <p:sp>
        <p:nvSpPr>
          <p:cNvPr id="29" name="rect-630"/>
          <p:cNvSpPr/>
          <p:nvPr/>
        </p:nvSpPr>
        <p:spPr>
          <a:xfrm>
            <a:off x="6934170" y="6057900"/>
            <a:ext cx="1114471" cy="285750"/>
          </a:xfrm>
          <a:prstGeom prst="roundRect">
            <a:avLst>
              <a:gd name="adj" fmla="val 50016"/>
            </a:avLst>
          </a:prstGeom>
          <a:solidFill>
            <a:srgbClr val="FFFFFF"/>
          </a:solidFill>
          <a:ln w="9525">
            <a:solidFill>
              <a:srgbClr val="E5E1D7"/>
            </a:solidFill>
            <a:prstDash val="solid"/>
          </a:ln>
        </p:spPr>
      </p:sp>
      <p:sp>
        <p:nvSpPr>
          <p:cNvPr id="30" name="text-631"/>
          <p:cNvSpPr txBox="1"/>
          <p:nvPr/>
        </p:nvSpPr>
        <p:spPr>
          <a:xfrm>
            <a:off x="693417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Family budget</a:t>
            </a:r>
            <a:endParaRPr lang="en-US" sz="1013" dirty="0"/>
          </a:p>
        </p:txBody>
      </p:sp>
      <p:sp>
        <p:nvSpPr>
          <p:cNvPr id="31" name="rect-632"/>
          <p:cNvSpPr/>
          <p:nvPr/>
        </p:nvSpPr>
        <p:spPr>
          <a:xfrm>
            <a:off x="8124810" y="6057900"/>
            <a:ext cx="1181130" cy="285750"/>
          </a:xfrm>
          <a:prstGeom prst="roundRect">
            <a:avLst>
              <a:gd name="adj" fmla="val 50016"/>
            </a:avLst>
          </a:prstGeom>
          <a:solidFill>
            <a:srgbClr val="FFFFFF"/>
          </a:solidFill>
          <a:ln w="9525">
            <a:solidFill>
              <a:srgbClr val="E5E1D7"/>
            </a:solidFill>
            <a:prstDash val="solid"/>
          </a:ln>
        </p:spPr>
      </p:sp>
      <p:sp>
        <p:nvSpPr>
          <p:cNvPr id="32" name="text-633"/>
          <p:cNvSpPr txBox="1"/>
          <p:nvPr/>
        </p:nvSpPr>
        <p:spPr>
          <a:xfrm>
            <a:off x="812481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Aid checklists</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634"/>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10</a:t>
            </a:r>
            <a:pPr algn="l" indent="0" marL="0">
              <a:lnSpc>
                <a:spcPct val="120000"/>
              </a:lnSpc>
              <a:buNone/>
            </a:pPr>
            <a:r>
              <a:rPr lang="en-US" sz="1013" b="1" spc="122" kern="0" dirty="0">
                <a:solidFill>
                  <a:srgbClr val="E87BA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AID</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Award letters, decoded</a:t>
            </a:r>
            <a:endParaRPr lang="en-US" sz="3600" dirty="0"/>
          </a:p>
        </p:txBody>
      </p:sp>
      <p:sp>
        <p:nvSpPr>
          <p:cNvPr id="4" name="text-636"/>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Free money separated from work-study and loans, year 1 and over 4 years.</a:t>
            </a:r>
            <a:endParaRPr lang="en-US" sz="1575" dirty="0"/>
          </a:p>
        </p:txBody>
      </p:sp>
      <p:sp>
        <p:nvSpPr>
          <p:cNvPr id="5" name="rect-637"/>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638"/>
          <p:cNvSpPr/>
          <p:nvPr/>
        </p:nvSpPr>
        <p:spPr>
          <a:xfrm>
            <a:off x="742950" y="1924080"/>
            <a:ext cx="85771" cy="85771"/>
          </a:xfrm>
          <a:prstGeom prst="ellipse">
            <a:avLst/>
          </a:prstGeom>
          <a:solidFill>
            <a:srgbClr val="FF5F57"/>
          </a:solidFill>
          <a:ln/>
        </p:spPr>
      </p:sp>
      <p:sp>
        <p:nvSpPr>
          <p:cNvPr id="7" name="oval-639"/>
          <p:cNvSpPr/>
          <p:nvPr/>
        </p:nvSpPr>
        <p:spPr>
          <a:xfrm>
            <a:off x="876270" y="1924080"/>
            <a:ext cx="85771" cy="85771"/>
          </a:xfrm>
          <a:prstGeom prst="ellipse">
            <a:avLst/>
          </a:prstGeom>
          <a:solidFill>
            <a:srgbClr val="FEBC2E"/>
          </a:solidFill>
          <a:ln/>
        </p:spPr>
      </p:sp>
      <p:sp>
        <p:nvSpPr>
          <p:cNvPr id="8" name="oval-640"/>
          <p:cNvSpPr/>
          <p:nvPr/>
        </p:nvSpPr>
        <p:spPr>
          <a:xfrm>
            <a:off x="1009680" y="1924080"/>
            <a:ext cx="85771" cy="85771"/>
          </a:xfrm>
          <a:prstGeom prst="ellipse">
            <a:avLst/>
          </a:prstGeom>
          <a:solidFill>
            <a:srgbClr val="28C840"/>
          </a:solidFill>
          <a:ln/>
        </p:spPr>
      </p:sp>
      <p:sp>
        <p:nvSpPr>
          <p:cNvPr id="9" name="text-641"/>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/money/offers</a:t>
            </a:r>
            <a:endParaRPr lang="en-US" sz="900" dirty="0"/>
          </a:p>
        </p:txBody>
      </p:sp>
      <p:pic>
        <p:nvPicPr>
          <p:cNvPr id="10" name="image-642" descr="Screenshot: Award letters, decoded">    </p:cNvPr>
          <p:cNvPicPr>
            <a:picLocks noChangeAspect="1"/>
          </p:cNvPicPr>
          <p:nvPr/>
        </p:nvPicPr>
        <p:blipFill>
          <a:blip r:embed="rId1"/>
          <a:stretch>
            <a:fillRect/>
          </a:stretch>
        </p:blipFill>
        <p:spPr>
          <a:xfrm>
            <a:off x="685800" y="2095530"/>
            <a:ext cx="5715000" cy="3571921"/>
          </a:xfrm>
          <a:prstGeom prst="rect">
            <a:avLst/>
          </a:prstGeom>
        </p:spPr>
      </p:pic>
      <p:sp>
        <p:nvSpPr>
          <p:cNvPr id="11" name="oval-643"/>
          <p:cNvSpPr/>
          <p:nvPr/>
        </p:nvSpPr>
        <p:spPr>
          <a:xfrm>
            <a:off x="6781830" y="2141708"/>
            <a:ext cx="104790" cy="104790"/>
          </a:xfrm>
          <a:prstGeom prst="ellipse">
            <a:avLst/>
          </a:prstGeom>
          <a:solidFill>
            <a:srgbClr val="EB6834"/>
          </a:solidFill>
          <a:ln/>
        </p:spPr>
      </p:sp>
      <p:sp>
        <p:nvSpPr>
          <p:cNvPr id="12" name="text-644"/>
          <p:cNvSpPr txBox="1"/>
          <p:nvPr/>
        </p:nvSpPr>
        <p:spPr>
          <a:xfrm>
            <a:off x="6972300" y="210357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645"/>
          <p:cNvSpPr txBox="1"/>
          <p:nvPr/>
        </p:nvSpPr>
        <p:spPr>
          <a:xfrm>
            <a:off x="6781830" y="237030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Letters mix grants, work-study, and loans, and a first-year-only grant can hide a big jump in year 2.</a:t>
            </a:r>
            <a:endParaRPr lang="en-US" sz="1388" dirty="0"/>
          </a:p>
        </p:txBody>
      </p:sp>
      <p:sp>
        <p:nvSpPr>
          <p:cNvPr id="14" name="oval-646"/>
          <p:cNvSpPr/>
          <p:nvPr/>
        </p:nvSpPr>
        <p:spPr>
          <a:xfrm>
            <a:off x="6781830" y="3320918"/>
            <a:ext cx="104790" cy="104790"/>
          </a:xfrm>
          <a:prstGeom prst="ellipse">
            <a:avLst/>
          </a:prstGeom>
          <a:solidFill>
            <a:srgbClr val="2A78D6"/>
          </a:solidFill>
          <a:ln/>
        </p:spPr>
      </p:sp>
      <p:sp>
        <p:nvSpPr>
          <p:cNvPr id="15" name="text-647"/>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648"/>
          <p:cNvSpPr txBox="1"/>
          <p:nvPr/>
        </p:nvSpPr>
        <p:spPr>
          <a:xfrm>
            <a:off x="6781830" y="354951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Aid reads each PDF and extracts every line with category, amount, page, and quoted text. You confirm, then code does the math.</a:t>
            </a:r>
            <a:endParaRPr lang="en-US" sz="1388" dirty="0"/>
          </a:p>
        </p:txBody>
      </p:sp>
      <p:sp>
        <p:nvSpPr>
          <p:cNvPr id="17" name="oval-649"/>
          <p:cNvSpPr/>
          <p:nvPr/>
        </p:nvSpPr>
        <p:spPr>
          <a:xfrm>
            <a:off x="6781830" y="4746742"/>
            <a:ext cx="104790" cy="104790"/>
          </a:xfrm>
          <a:prstGeom prst="ellipse">
            <a:avLst/>
          </a:prstGeom>
          <a:solidFill>
            <a:srgbClr val="1BAF7A"/>
          </a:solidFill>
          <a:ln/>
        </p:spPr>
      </p:sp>
      <p:sp>
        <p:nvSpPr>
          <p:cNvPr id="18" name="text-650"/>
          <p:cNvSpPr txBox="1"/>
          <p:nvPr/>
        </p:nvSpPr>
        <p:spPr>
          <a:xfrm>
            <a:off x="6972300" y="4708703"/>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651"/>
          <p:cNvSpPr txBox="1"/>
          <p:nvPr/>
        </p:nvSpPr>
        <p:spPr>
          <a:xfrm>
            <a:off x="6781830" y="4975342"/>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 family reading its first award letter can tell a grant from a loan, and see the real cost over 4 years.</a:t>
            </a:r>
            <a:endParaRPr lang="en-US" sz="1388" dirty="0"/>
          </a:p>
        </p:txBody>
      </p:sp>
      <p:sp>
        <p:nvSpPr>
          <p:cNvPr id="20" name="text-652"/>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653"/>
          <p:cNvSpPr/>
          <p:nvPr/>
        </p:nvSpPr>
        <p:spPr>
          <a:xfrm>
            <a:off x="1485900" y="6057900"/>
            <a:ext cx="1247790" cy="285750"/>
          </a:xfrm>
          <a:prstGeom prst="roundRect">
            <a:avLst>
              <a:gd name="adj" fmla="val 50016"/>
            </a:avLst>
          </a:prstGeom>
          <a:solidFill>
            <a:srgbClr val="FFFFFF"/>
          </a:solidFill>
          <a:ln w="9525">
            <a:solidFill>
              <a:srgbClr val="E5E1D7"/>
            </a:solidFill>
            <a:prstDash val="solid"/>
          </a:ln>
        </p:spPr>
      </p:sp>
      <p:sp>
        <p:nvSpPr>
          <p:cNvPr id="22" name="text-654"/>
          <p:cNvSpPr txBox="1"/>
          <p:nvPr/>
        </p:nvSpPr>
        <p:spPr>
          <a:xfrm>
            <a:off x="1485900" y="612456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Upload a letter</a:t>
            </a:r>
            <a:endParaRPr lang="en-US" sz="1013" dirty="0"/>
          </a:p>
        </p:txBody>
      </p:sp>
      <p:sp>
        <p:nvSpPr>
          <p:cNvPr id="23" name="rect-655"/>
          <p:cNvSpPr/>
          <p:nvPr/>
        </p:nvSpPr>
        <p:spPr>
          <a:xfrm>
            <a:off x="2809860" y="6057900"/>
            <a:ext cx="981060" cy="285750"/>
          </a:xfrm>
          <a:prstGeom prst="roundRect">
            <a:avLst>
              <a:gd name="adj" fmla="val 50016"/>
            </a:avLst>
          </a:prstGeom>
          <a:solidFill>
            <a:srgbClr val="FFFFFF"/>
          </a:solidFill>
          <a:ln w="9525">
            <a:solidFill>
              <a:srgbClr val="E5E1D7"/>
            </a:solidFill>
            <a:prstDash val="solid"/>
          </a:ln>
        </p:spPr>
      </p:sp>
      <p:sp>
        <p:nvSpPr>
          <p:cNvPr id="24" name="text-656"/>
          <p:cNvSpPr txBox="1"/>
          <p:nvPr/>
        </p:nvSpPr>
        <p:spPr>
          <a:xfrm>
            <a:off x="280986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Line review</a:t>
            </a:r>
            <a:endParaRPr lang="en-US" sz="1013" dirty="0"/>
          </a:p>
        </p:txBody>
      </p:sp>
      <p:sp>
        <p:nvSpPr>
          <p:cNvPr id="25" name="rect-657"/>
          <p:cNvSpPr/>
          <p:nvPr/>
        </p:nvSpPr>
        <p:spPr>
          <a:xfrm>
            <a:off x="3867180" y="6057900"/>
            <a:ext cx="1181130" cy="285750"/>
          </a:xfrm>
          <a:prstGeom prst="roundRect">
            <a:avLst>
              <a:gd name="adj" fmla="val 50016"/>
            </a:avLst>
          </a:prstGeom>
          <a:solidFill>
            <a:srgbClr val="FFFFFF"/>
          </a:solidFill>
          <a:ln w="9525">
            <a:solidFill>
              <a:srgbClr val="E5E1D7"/>
            </a:solidFill>
            <a:prstDash val="solid"/>
          </a:ln>
        </p:spPr>
      </p:sp>
      <p:sp>
        <p:nvSpPr>
          <p:cNvPr id="26" name="text-658"/>
          <p:cNvSpPr txBox="1"/>
          <p:nvPr/>
        </p:nvSpPr>
        <p:spPr>
          <a:xfrm>
            <a:off x="386718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Page citations</a:t>
            </a:r>
            <a:endParaRPr lang="en-US" sz="1013" dirty="0"/>
          </a:p>
        </p:txBody>
      </p:sp>
      <p:sp>
        <p:nvSpPr>
          <p:cNvPr id="27" name="rect-659"/>
          <p:cNvSpPr/>
          <p:nvPr/>
        </p:nvSpPr>
        <p:spPr>
          <a:xfrm>
            <a:off x="5124480" y="6057900"/>
            <a:ext cx="1457371" cy="285750"/>
          </a:xfrm>
          <a:prstGeom prst="roundRect">
            <a:avLst>
              <a:gd name="adj" fmla="val 50016"/>
            </a:avLst>
          </a:prstGeom>
          <a:solidFill>
            <a:srgbClr val="FFFFFF"/>
          </a:solidFill>
          <a:ln w="9525">
            <a:solidFill>
              <a:srgbClr val="E5E1D7"/>
            </a:solidFill>
            <a:prstDash val="solid"/>
          </a:ln>
        </p:spPr>
      </p:sp>
      <p:sp>
        <p:nvSpPr>
          <p:cNvPr id="28" name="text-660"/>
          <p:cNvSpPr txBox="1"/>
          <p:nvPr/>
        </p:nvSpPr>
        <p:spPr>
          <a:xfrm>
            <a:off x="5124480"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Year 1 and 4 years</a:t>
            </a:r>
            <a:endParaRPr lang="en-US" sz="1013" dirty="0"/>
          </a:p>
        </p:txBody>
      </p:sp>
      <p:sp>
        <p:nvSpPr>
          <p:cNvPr id="29" name="rect-661"/>
          <p:cNvSpPr/>
          <p:nvPr/>
        </p:nvSpPr>
        <p:spPr>
          <a:xfrm>
            <a:off x="6658021" y="6057900"/>
            <a:ext cx="1457371" cy="285750"/>
          </a:xfrm>
          <a:prstGeom prst="roundRect">
            <a:avLst>
              <a:gd name="adj" fmla="val 50016"/>
            </a:avLst>
          </a:prstGeom>
          <a:solidFill>
            <a:srgbClr val="FFFFFF"/>
          </a:solidFill>
          <a:ln w="9525">
            <a:solidFill>
              <a:srgbClr val="E5E1D7"/>
            </a:solidFill>
            <a:prstDash val="solid"/>
          </a:ln>
        </p:spPr>
      </p:sp>
      <p:sp>
        <p:nvSpPr>
          <p:cNvPr id="30" name="text-662"/>
          <p:cNvSpPr txBox="1"/>
          <p:nvPr/>
        </p:nvSpPr>
        <p:spPr>
          <a:xfrm>
            <a:off x="6658021"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Watch-for warnings</a:t>
            </a:r>
            <a:endParaRPr lang="en-US" sz="1013" dirty="0"/>
          </a:p>
        </p:txBody>
      </p:sp>
      <p:sp>
        <p:nvSpPr>
          <p:cNvPr id="31" name="rect-663"/>
          <p:cNvSpPr/>
          <p:nvPr/>
        </p:nvSpPr>
        <p:spPr>
          <a:xfrm>
            <a:off x="8191470" y="6057900"/>
            <a:ext cx="1114471" cy="285750"/>
          </a:xfrm>
          <a:prstGeom prst="roundRect">
            <a:avLst>
              <a:gd name="adj" fmla="val 50016"/>
            </a:avLst>
          </a:prstGeom>
          <a:solidFill>
            <a:srgbClr val="FFFFFF"/>
          </a:solidFill>
          <a:ln w="9525">
            <a:solidFill>
              <a:srgbClr val="E5E1D7"/>
            </a:solidFill>
            <a:prstDash val="solid"/>
          </a:ln>
        </p:spPr>
      </p:sp>
      <p:sp>
        <p:nvSpPr>
          <p:cNvPr id="32" name="text-664"/>
          <p:cNvSpPr txBox="1"/>
          <p:nvPr/>
        </p:nvSpPr>
        <p:spPr>
          <a:xfrm>
            <a:off x="819147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Loan payments</a:t>
            </a:r>
            <a:endParaRPr lang="en-US" sz="1013" dirty="0"/>
          </a:p>
        </p:txBody>
      </p:sp>
      <p:sp>
        <p:nvSpPr>
          <p:cNvPr id="33" name="rect-665"/>
          <p:cNvSpPr/>
          <p:nvPr/>
        </p:nvSpPr>
        <p:spPr>
          <a:xfrm>
            <a:off x="9382110" y="6057900"/>
            <a:ext cx="1181130" cy="285750"/>
          </a:xfrm>
          <a:prstGeom prst="roundRect">
            <a:avLst>
              <a:gd name="adj" fmla="val 50016"/>
            </a:avLst>
          </a:prstGeom>
          <a:solidFill>
            <a:srgbClr val="FFFFFF"/>
          </a:solidFill>
          <a:ln w="9525">
            <a:solidFill>
              <a:srgbClr val="E5E1D7"/>
            </a:solidFill>
            <a:prstDash val="solid"/>
          </a:ln>
        </p:spPr>
      </p:sp>
      <p:sp>
        <p:nvSpPr>
          <p:cNvPr id="34" name="text-666"/>
          <p:cNvSpPr txBox="1"/>
          <p:nvPr/>
        </p:nvSpPr>
        <p:spPr>
          <a:xfrm>
            <a:off x="938211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Appeal outline</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667"/>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11</a:t>
            </a:r>
            <a:pPr algn="l" indent="0" marL="0">
              <a:lnSpc>
                <a:spcPct val="120000"/>
              </a:lnSpc>
              <a:buNone/>
            </a:pPr>
            <a:r>
              <a:rPr lang="en-US" sz="1013" b="1" spc="122" kern="0" dirty="0">
                <a:solidFill>
                  <a:srgbClr val="E87BA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AID</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FAFSA, CSS Profile, and appeals, step by step</a:t>
            </a:r>
            <a:endParaRPr lang="en-US" sz="3600" dirty="0"/>
          </a:p>
        </p:txBody>
      </p:sp>
      <p:sp>
        <p:nvSpPr>
          <p:cNvPr id="4" name="text-669"/>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Checklists for the award year, with parent steps as family tasks.</a:t>
            </a:r>
            <a:endParaRPr lang="en-US" sz="1575" dirty="0"/>
          </a:p>
        </p:txBody>
      </p:sp>
      <p:sp>
        <p:nvSpPr>
          <p:cNvPr id="5" name="rect-670"/>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671"/>
          <p:cNvSpPr/>
          <p:nvPr/>
        </p:nvSpPr>
        <p:spPr>
          <a:xfrm>
            <a:off x="742950" y="1924080"/>
            <a:ext cx="85771" cy="85771"/>
          </a:xfrm>
          <a:prstGeom prst="ellipse">
            <a:avLst/>
          </a:prstGeom>
          <a:solidFill>
            <a:srgbClr val="FF5F57"/>
          </a:solidFill>
          <a:ln/>
        </p:spPr>
      </p:sp>
      <p:sp>
        <p:nvSpPr>
          <p:cNvPr id="7" name="oval-672"/>
          <p:cNvSpPr/>
          <p:nvPr/>
        </p:nvSpPr>
        <p:spPr>
          <a:xfrm>
            <a:off x="876270" y="1924080"/>
            <a:ext cx="85771" cy="85771"/>
          </a:xfrm>
          <a:prstGeom prst="ellipse">
            <a:avLst/>
          </a:prstGeom>
          <a:solidFill>
            <a:srgbClr val="FEBC2E"/>
          </a:solidFill>
          <a:ln/>
        </p:spPr>
      </p:sp>
      <p:sp>
        <p:nvSpPr>
          <p:cNvPr id="8" name="oval-673"/>
          <p:cNvSpPr/>
          <p:nvPr/>
        </p:nvSpPr>
        <p:spPr>
          <a:xfrm>
            <a:off x="1009680" y="1924080"/>
            <a:ext cx="85771" cy="85771"/>
          </a:xfrm>
          <a:prstGeom prst="ellipse">
            <a:avLst/>
          </a:prstGeom>
          <a:solidFill>
            <a:srgbClr val="28C840"/>
          </a:solidFill>
          <a:ln/>
        </p:spPr>
      </p:sp>
      <p:sp>
        <p:nvSpPr>
          <p:cNvPr id="9" name="text-674"/>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/money</a:t>
            </a:r>
            <a:endParaRPr lang="en-US" sz="900" dirty="0"/>
          </a:p>
        </p:txBody>
      </p:sp>
      <p:pic>
        <p:nvPicPr>
          <p:cNvPr id="10" name="image-675" descr="Screenshot: FAFSA, CSS Profile, and appeals, step by step">    </p:cNvPr>
          <p:cNvPicPr>
            <a:picLocks noChangeAspect="1"/>
          </p:cNvPicPr>
          <p:nvPr/>
        </p:nvPicPr>
        <p:blipFill>
          <a:blip r:embed="rId1"/>
          <a:stretch>
            <a:fillRect/>
          </a:stretch>
        </p:blipFill>
        <p:spPr>
          <a:xfrm>
            <a:off x="685800" y="2095530"/>
            <a:ext cx="5715000" cy="3571921"/>
          </a:xfrm>
          <a:prstGeom prst="rect">
            <a:avLst/>
          </a:prstGeom>
        </p:spPr>
      </p:pic>
      <p:sp>
        <p:nvSpPr>
          <p:cNvPr id="11" name="oval-676"/>
          <p:cNvSpPr/>
          <p:nvPr/>
        </p:nvSpPr>
        <p:spPr>
          <a:xfrm>
            <a:off x="6781830" y="2018355"/>
            <a:ext cx="104790" cy="104790"/>
          </a:xfrm>
          <a:prstGeom prst="ellipse">
            <a:avLst/>
          </a:prstGeom>
          <a:solidFill>
            <a:srgbClr val="EB6834"/>
          </a:solidFill>
          <a:ln/>
        </p:spPr>
      </p:sp>
      <p:sp>
        <p:nvSpPr>
          <p:cNvPr id="12" name="text-677"/>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678"/>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Aid forms have contributors, consent steps, and priority dates, and mistakes cost real money.</a:t>
            </a:r>
            <a:endParaRPr lang="en-US" sz="1388" dirty="0"/>
          </a:p>
        </p:txBody>
      </p:sp>
      <p:sp>
        <p:nvSpPr>
          <p:cNvPr id="14" name="oval-679"/>
          <p:cNvSpPr/>
          <p:nvPr/>
        </p:nvSpPr>
        <p:spPr>
          <a:xfrm>
            <a:off x="6781830" y="3197565"/>
            <a:ext cx="104790" cy="104790"/>
          </a:xfrm>
          <a:prstGeom prst="ellipse">
            <a:avLst/>
          </a:prstGeom>
          <a:solidFill>
            <a:srgbClr val="2A78D6"/>
          </a:solidFill>
          <a:ln/>
        </p:spPr>
      </p:sp>
      <p:sp>
        <p:nvSpPr>
          <p:cNvPr id="15" name="text-680"/>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681"/>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Aid explains each step and special-circumstance reviews in chat. It never asks for an FSA ID or submits anything.</a:t>
            </a:r>
            <a:endParaRPr lang="en-US" sz="1388" dirty="0"/>
          </a:p>
        </p:txBody>
      </p:sp>
      <p:sp>
        <p:nvSpPr>
          <p:cNvPr id="17" name="oval-682"/>
          <p:cNvSpPr/>
          <p:nvPr/>
        </p:nvSpPr>
        <p:spPr>
          <a:xfrm>
            <a:off x="6781830" y="4623389"/>
            <a:ext cx="104790" cy="104790"/>
          </a:xfrm>
          <a:prstGeom prst="ellipse">
            <a:avLst/>
          </a:prstGeom>
          <a:solidFill>
            <a:srgbClr val="1BAF7A"/>
          </a:solidFill>
          <a:ln/>
        </p:spPr>
      </p:sp>
      <p:sp>
        <p:nvSpPr>
          <p:cNvPr id="18" name="text-683"/>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684"/>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 parent filing for the first time gets their own steps, one at a time, with the priority dates already in Coming up.</a:t>
            </a:r>
            <a:endParaRPr lang="en-US" sz="1388" dirty="0"/>
          </a:p>
        </p:txBody>
      </p:sp>
      <p:sp>
        <p:nvSpPr>
          <p:cNvPr id="20" name="text-685"/>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686"/>
          <p:cNvSpPr/>
          <p:nvPr/>
        </p:nvSpPr>
        <p:spPr>
          <a:xfrm>
            <a:off x="1485900" y="6057900"/>
            <a:ext cx="1247790" cy="285750"/>
          </a:xfrm>
          <a:prstGeom prst="roundRect">
            <a:avLst>
              <a:gd name="adj" fmla="val 50016"/>
            </a:avLst>
          </a:prstGeom>
          <a:solidFill>
            <a:srgbClr val="FFFFFF"/>
          </a:solidFill>
          <a:ln w="9525">
            <a:solidFill>
              <a:srgbClr val="E5E1D7"/>
            </a:solidFill>
            <a:prstDash val="solid"/>
          </a:ln>
        </p:spPr>
      </p:sp>
      <p:sp>
        <p:nvSpPr>
          <p:cNvPr id="22" name="text-687"/>
          <p:cNvSpPr txBox="1"/>
          <p:nvPr/>
        </p:nvSpPr>
        <p:spPr>
          <a:xfrm>
            <a:off x="1485900" y="612456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FAFSA checklist</a:t>
            </a:r>
            <a:endParaRPr lang="en-US" sz="1013" dirty="0"/>
          </a:p>
        </p:txBody>
      </p:sp>
      <p:sp>
        <p:nvSpPr>
          <p:cNvPr id="23" name="rect-688"/>
          <p:cNvSpPr/>
          <p:nvPr/>
        </p:nvSpPr>
        <p:spPr>
          <a:xfrm>
            <a:off x="2809860" y="6057900"/>
            <a:ext cx="1933590" cy="285750"/>
          </a:xfrm>
          <a:prstGeom prst="roundRect">
            <a:avLst>
              <a:gd name="adj" fmla="val 50016"/>
            </a:avLst>
          </a:prstGeom>
          <a:solidFill>
            <a:srgbClr val="FFFFFF"/>
          </a:solidFill>
          <a:ln w="9525">
            <a:solidFill>
              <a:srgbClr val="E5E1D7"/>
            </a:solidFill>
            <a:prstDash val="solid"/>
          </a:ln>
        </p:spPr>
      </p:sp>
      <p:sp>
        <p:nvSpPr>
          <p:cNvPr id="24" name="text-689"/>
          <p:cNvSpPr txBox="1"/>
          <p:nvPr/>
        </p:nvSpPr>
        <p:spPr>
          <a:xfrm>
            <a:off x="2809860" y="6124560"/>
            <a:ext cx="19335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CSS Profile when required</a:t>
            </a:r>
            <a:endParaRPr lang="en-US" sz="1013" dirty="0"/>
          </a:p>
        </p:txBody>
      </p:sp>
      <p:sp>
        <p:nvSpPr>
          <p:cNvPr id="25" name="rect-690"/>
          <p:cNvSpPr/>
          <p:nvPr/>
        </p:nvSpPr>
        <p:spPr>
          <a:xfrm>
            <a:off x="4819620" y="6057900"/>
            <a:ext cx="1524030" cy="285750"/>
          </a:xfrm>
          <a:prstGeom prst="roundRect">
            <a:avLst>
              <a:gd name="adj" fmla="val 50016"/>
            </a:avLst>
          </a:prstGeom>
          <a:solidFill>
            <a:srgbClr val="FFFFFF"/>
          </a:solidFill>
          <a:ln w="9525">
            <a:solidFill>
              <a:srgbClr val="E5E1D7"/>
            </a:solidFill>
            <a:prstDash val="solid"/>
          </a:ln>
        </p:spPr>
      </p:sp>
      <p:sp>
        <p:nvSpPr>
          <p:cNvPr id="26" name="text-691"/>
          <p:cNvSpPr txBox="1"/>
          <p:nvPr/>
        </p:nvSpPr>
        <p:spPr>
          <a:xfrm>
            <a:off x="4819620" y="6124560"/>
            <a:ext cx="15240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State aid deadlines</a:t>
            </a:r>
            <a:endParaRPr lang="en-US" sz="1013" dirty="0"/>
          </a:p>
        </p:txBody>
      </p:sp>
      <p:sp>
        <p:nvSpPr>
          <p:cNvPr id="27" name="rect-692"/>
          <p:cNvSpPr/>
          <p:nvPr/>
        </p:nvSpPr>
        <p:spPr>
          <a:xfrm>
            <a:off x="6419820" y="6057900"/>
            <a:ext cx="1047720" cy="285750"/>
          </a:xfrm>
          <a:prstGeom prst="roundRect">
            <a:avLst>
              <a:gd name="adj" fmla="val 50016"/>
            </a:avLst>
          </a:prstGeom>
          <a:solidFill>
            <a:srgbClr val="FFFFFF"/>
          </a:solidFill>
          <a:ln w="9525">
            <a:solidFill>
              <a:srgbClr val="E5E1D7"/>
            </a:solidFill>
            <a:prstDash val="solid"/>
          </a:ln>
        </p:spPr>
      </p:sp>
      <p:sp>
        <p:nvSpPr>
          <p:cNvPr id="28" name="text-693"/>
          <p:cNvSpPr txBox="1"/>
          <p:nvPr/>
        </p:nvSpPr>
        <p:spPr>
          <a:xfrm>
            <a:off x="641982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Family tasks</a:t>
            </a:r>
            <a:endParaRPr lang="en-US" sz="1013" dirty="0"/>
          </a:p>
        </p:txBody>
      </p:sp>
      <p:sp>
        <p:nvSpPr>
          <p:cNvPr id="29" name="rect-694"/>
          <p:cNvSpPr/>
          <p:nvPr/>
        </p:nvSpPr>
        <p:spPr>
          <a:xfrm>
            <a:off x="7543800" y="6057900"/>
            <a:ext cx="1657350" cy="285750"/>
          </a:xfrm>
          <a:prstGeom prst="roundRect">
            <a:avLst>
              <a:gd name="adj" fmla="val 50016"/>
            </a:avLst>
          </a:prstGeom>
          <a:solidFill>
            <a:srgbClr val="FFFFFF"/>
          </a:solidFill>
          <a:ln w="9525">
            <a:solidFill>
              <a:srgbClr val="E5E1D7"/>
            </a:solidFill>
            <a:prstDash val="solid"/>
          </a:ln>
        </p:spPr>
      </p:sp>
      <p:sp>
        <p:nvSpPr>
          <p:cNvPr id="30" name="text-695"/>
          <p:cNvSpPr txBox="1"/>
          <p:nvPr/>
        </p:nvSpPr>
        <p:spPr>
          <a:xfrm>
            <a:off x="7543800" y="6124560"/>
            <a:ext cx="16573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Special circumstances</a:t>
            </a:r>
            <a:endParaRPr lang="en-US" sz="1013" dirty="0"/>
          </a:p>
        </p:txBody>
      </p:sp>
      <p:sp>
        <p:nvSpPr>
          <p:cNvPr id="31" name="rect-696"/>
          <p:cNvSpPr/>
          <p:nvPr/>
        </p:nvSpPr>
        <p:spPr>
          <a:xfrm>
            <a:off x="9277320" y="6057900"/>
            <a:ext cx="1724010" cy="285750"/>
          </a:xfrm>
          <a:prstGeom prst="roundRect">
            <a:avLst>
              <a:gd name="adj" fmla="val 50016"/>
            </a:avLst>
          </a:prstGeom>
          <a:solidFill>
            <a:srgbClr val="FFFFFF"/>
          </a:solidFill>
          <a:ln w="9525">
            <a:solidFill>
              <a:srgbClr val="E5E1D7"/>
            </a:solidFill>
            <a:prstDash val="solid"/>
          </a:ln>
        </p:spPr>
      </p:sp>
      <p:sp>
        <p:nvSpPr>
          <p:cNvPr id="32" name="text-697"/>
          <p:cNvSpPr txBox="1"/>
          <p:nvPr/>
        </p:nvSpPr>
        <p:spPr>
          <a:xfrm>
            <a:off x="9277320" y="6124560"/>
            <a:ext cx="172401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Verification documents</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698"/>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12</a:t>
            </a:r>
            <a:pPr algn="l" indent="0" marL="0">
              <a:lnSpc>
                <a:spcPct val="120000"/>
              </a:lnSpc>
              <a:buNone/>
            </a:pPr>
            <a:r>
              <a:rPr lang="en-US" sz="1013" b="1" spc="122" kern="0" dirty="0">
                <a:solidFill>
                  <a:srgbClr val="4A3AA7"/>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PREP</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Is a retake worth it? In dollars</a:t>
            </a:r>
            <a:endParaRPr lang="en-US" sz="3600" dirty="0"/>
          </a:p>
        </p:txBody>
      </p:sp>
      <p:sp>
        <p:nvSpPr>
          <p:cNvPr id="4" name="text-700"/>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Scores, superscores, and merit tiers, calculated by code.</a:t>
            </a:r>
            <a:endParaRPr lang="en-US" sz="1575" dirty="0"/>
          </a:p>
        </p:txBody>
      </p:sp>
      <p:sp>
        <p:nvSpPr>
          <p:cNvPr id="5" name="rect-701"/>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702"/>
          <p:cNvSpPr/>
          <p:nvPr/>
        </p:nvSpPr>
        <p:spPr>
          <a:xfrm>
            <a:off x="742950" y="1924080"/>
            <a:ext cx="85771" cy="85771"/>
          </a:xfrm>
          <a:prstGeom prst="ellipse">
            <a:avLst/>
          </a:prstGeom>
          <a:solidFill>
            <a:srgbClr val="FF5F57"/>
          </a:solidFill>
          <a:ln/>
        </p:spPr>
      </p:sp>
      <p:sp>
        <p:nvSpPr>
          <p:cNvPr id="7" name="oval-703"/>
          <p:cNvSpPr/>
          <p:nvPr/>
        </p:nvSpPr>
        <p:spPr>
          <a:xfrm>
            <a:off x="876270" y="1924080"/>
            <a:ext cx="85771" cy="85771"/>
          </a:xfrm>
          <a:prstGeom prst="ellipse">
            <a:avLst/>
          </a:prstGeom>
          <a:solidFill>
            <a:srgbClr val="FEBC2E"/>
          </a:solidFill>
          <a:ln/>
        </p:spPr>
      </p:sp>
      <p:sp>
        <p:nvSpPr>
          <p:cNvPr id="8" name="oval-704"/>
          <p:cNvSpPr/>
          <p:nvPr/>
        </p:nvSpPr>
        <p:spPr>
          <a:xfrm>
            <a:off x="1009680" y="1924080"/>
            <a:ext cx="85771" cy="85771"/>
          </a:xfrm>
          <a:prstGeom prst="ellipse">
            <a:avLst/>
          </a:prstGeom>
          <a:solidFill>
            <a:srgbClr val="28C840"/>
          </a:solidFill>
          <a:ln/>
        </p:spPr>
      </p:sp>
      <p:sp>
        <p:nvSpPr>
          <p:cNvPr id="9" name="text-705"/>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/prep</a:t>
            </a:r>
            <a:endParaRPr lang="en-US" sz="900" dirty="0"/>
          </a:p>
        </p:txBody>
      </p:sp>
      <p:pic>
        <p:nvPicPr>
          <p:cNvPr id="10" name="image-706" descr="Screenshot: Is a retake worth it? In dollars">    </p:cNvPr>
          <p:cNvPicPr>
            <a:picLocks noChangeAspect="1"/>
          </p:cNvPicPr>
          <p:nvPr/>
        </p:nvPicPr>
        <p:blipFill>
          <a:blip r:embed="rId1"/>
          <a:stretch>
            <a:fillRect/>
          </a:stretch>
        </p:blipFill>
        <p:spPr>
          <a:xfrm>
            <a:off x="685800" y="2095530"/>
            <a:ext cx="5715000" cy="3571921"/>
          </a:xfrm>
          <a:prstGeom prst="rect">
            <a:avLst/>
          </a:prstGeom>
        </p:spPr>
      </p:pic>
      <p:sp>
        <p:nvSpPr>
          <p:cNvPr id="11" name="oval-707"/>
          <p:cNvSpPr/>
          <p:nvPr/>
        </p:nvSpPr>
        <p:spPr>
          <a:xfrm>
            <a:off x="6781830" y="2141708"/>
            <a:ext cx="104790" cy="104790"/>
          </a:xfrm>
          <a:prstGeom prst="ellipse">
            <a:avLst/>
          </a:prstGeom>
          <a:solidFill>
            <a:srgbClr val="EB6834"/>
          </a:solidFill>
          <a:ln/>
        </p:spPr>
      </p:sp>
      <p:sp>
        <p:nvSpPr>
          <p:cNvPr id="12" name="text-708"/>
          <p:cNvSpPr txBox="1"/>
          <p:nvPr/>
        </p:nvSpPr>
        <p:spPr>
          <a:xfrm>
            <a:off x="6972300" y="210357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709"/>
          <p:cNvSpPr txBox="1"/>
          <p:nvPr/>
        </p:nvSpPr>
        <p:spPr>
          <a:xfrm>
            <a:off x="6781830" y="237030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Students retake tests without knowing whether a higher score changes what they'd pay.</a:t>
            </a:r>
            <a:endParaRPr lang="en-US" sz="1388" dirty="0"/>
          </a:p>
        </p:txBody>
      </p:sp>
      <p:sp>
        <p:nvSpPr>
          <p:cNvPr id="14" name="oval-710"/>
          <p:cNvSpPr/>
          <p:nvPr/>
        </p:nvSpPr>
        <p:spPr>
          <a:xfrm>
            <a:off x="6781830" y="3320918"/>
            <a:ext cx="104790" cy="104790"/>
          </a:xfrm>
          <a:prstGeom prst="ellipse">
            <a:avLst/>
          </a:prstGeom>
          <a:solidFill>
            <a:srgbClr val="2A78D6"/>
          </a:solidFill>
          <a:ln/>
        </p:spPr>
      </p:sp>
      <p:sp>
        <p:nvSpPr>
          <p:cNvPr id="15" name="text-711"/>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712"/>
          <p:cNvSpPr txBox="1"/>
          <p:nvPr/>
        </p:nvSpPr>
        <p:spPr>
          <a:xfrm>
            <a:off x="6781830" y="354951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Code finds the merit tiers a target score unlocks. Prep explains it in 120 words or fewer, and every dollar must match.</a:t>
            </a:r>
            <a:endParaRPr lang="en-US" sz="1388" dirty="0"/>
          </a:p>
        </p:txBody>
      </p:sp>
      <p:sp>
        <p:nvSpPr>
          <p:cNvPr id="17" name="oval-713"/>
          <p:cNvSpPr/>
          <p:nvPr/>
        </p:nvSpPr>
        <p:spPr>
          <a:xfrm>
            <a:off x="6781830" y="4746742"/>
            <a:ext cx="104790" cy="104790"/>
          </a:xfrm>
          <a:prstGeom prst="ellipse">
            <a:avLst/>
          </a:prstGeom>
          <a:solidFill>
            <a:srgbClr val="1BAF7A"/>
          </a:solidFill>
          <a:ln/>
        </p:spPr>
      </p:sp>
      <p:sp>
        <p:nvSpPr>
          <p:cNvPr id="18" name="text-714"/>
          <p:cNvSpPr txBox="1"/>
          <p:nvPr/>
        </p:nvSpPr>
        <p:spPr>
          <a:xfrm>
            <a:off x="6972300" y="4708703"/>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715"/>
          <p:cNvSpPr txBox="1"/>
          <p:nvPr/>
        </p:nvSpPr>
        <p:spPr>
          <a:xfrm>
            <a:off x="6781830" y="4975342"/>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 retake decision becomes a money decision, and a study plan adds short sessions up to the test date.</a:t>
            </a:r>
            <a:endParaRPr lang="en-US" sz="1388" dirty="0"/>
          </a:p>
        </p:txBody>
      </p:sp>
      <p:sp>
        <p:nvSpPr>
          <p:cNvPr id="20" name="text-716"/>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717"/>
          <p:cNvSpPr/>
          <p:nvPr/>
        </p:nvSpPr>
        <p:spPr>
          <a:xfrm>
            <a:off x="1485900" y="6057900"/>
            <a:ext cx="2133570" cy="285750"/>
          </a:xfrm>
          <a:prstGeom prst="roundRect">
            <a:avLst>
              <a:gd name="adj" fmla="val 50016"/>
            </a:avLst>
          </a:prstGeom>
          <a:solidFill>
            <a:srgbClr val="FFFFFF"/>
          </a:solidFill>
          <a:ln w="9525">
            <a:solidFill>
              <a:srgbClr val="E5E1D7"/>
            </a:solidFill>
            <a:prstDash val="solid"/>
          </a:ln>
        </p:spPr>
      </p:sp>
      <p:sp>
        <p:nvSpPr>
          <p:cNvPr id="22" name="text-718"/>
          <p:cNvSpPr txBox="1"/>
          <p:nvPr/>
        </p:nvSpPr>
        <p:spPr>
          <a:xfrm>
            <a:off x="1485900" y="6124560"/>
            <a:ext cx="213357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Official and practice scores</a:t>
            </a:r>
            <a:endParaRPr lang="en-US" sz="1013" dirty="0"/>
          </a:p>
        </p:txBody>
      </p:sp>
      <p:sp>
        <p:nvSpPr>
          <p:cNvPr id="23" name="rect-719"/>
          <p:cNvSpPr/>
          <p:nvPr/>
        </p:nvSpPr>
        <p:spPr>
          <a:xfrm>
            <a:off x="3695730" y="6057900"/>
            <a:ext cx="914400" cy="285750"/>
          </a:xfrm>
          <a:prstGeom prst="roundRect">
            <a:avLst>
              <a:gd name="adj" fmla="val 50016"/>
            </a:avLst>
          </a:prstGeom>
          <a:solidFill>
            <a:srgbClr val="FFFFFF"/>
          </a:solidFill>
          <a:ln w="9525">
            <a:solidFill>
              <a:srgbClr val="E5E1D7"/>
            </a:solidFill>
            <a:prstDash val="solid"/>
          </a:ln>
        </p:spPr>
      </p:sp>
      <p:sp>
        <p:nvSpPr>
          <p:cNvPr id="24" name="text-720"/>
          <p:cNvSpPr txBox="1"/>
          <p:nvPr/>
        </p:nvSpPr>
        <p:spPr>
          <a:xfrm>
            <a:off x="3695730"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Superscore</a:t>
            </a:r>
            <a:endParaRPr lang="en-US" sz="1013" dirty="0"/>
          </a:p>
        </p:txBody>
      </p:sp>
      <p:sp>
        <p:nvSpPr>
          <p:cNvPr id="25" name="rect-721"/>
          <p:cNvSpPr/>
          <p:nvPr/>
        </p:nvSpPr>
        <p:spPr>
          <a:xfrm>
            <a:off x="4686300" y="6057900"/>
            <a:ext cx="1047720" cy="285750"/>
          </a:xfrm>
          <a:prstGeom prst="roundRect">
            <a:avLst>
              <a:gd name="adj" fmla="val 50016"/>
            </a:avLst>
          </a:prstGeom>
          <a:solidFill>
            <a:srgbClr val="FFFFFF"/>
          </a:solidFill>
          <a:ln w="9525">
            <a:solidFill>
              <a:srgbClr val="E5E1D7"/>
            </a:solidFill>
            <a:prstDash val="solid"/>
          </a:ln>
        </p:spPr>
      </p:sp>
      <p:sp>
        <p:nvSpPr>
          <p:cNvPr id="26" name="text-722"/>
          <p:cNvSpPr txBox="1"/>
          <p:nvPr/>
        </p:nvSpPr>
        <p:spPr>
          <a:xfrm>
            <a:off x="4686300"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Retake value</a:t>
            </a:r>
            <a:endParaRPr lang="en-US" sz="1013" dirty="0"/>
          </a:p>
        </p:txBody>
      </p:sp>
      <p:sp>
        <p:nvSpPr>
          <p:cNvPr id="27" name="rect-723"/>
          <p:cNvSpPr/>
          <p:nvPr/>
        </p:nvSpPr>
        <p:spPr>
          <a:xfrm>
            <a:off x="5810280" y="6057900"/>
            <a:ext cx="914400" cy="285750"/>
          </a:xfrm>
          <a:prstGeom prst="roundRect">
            <a:avLst>
              <a:gd name="adj" fmla="val 50016"/>
            </a:avLst>
          </a:prstGeom>
          <a:solidFill>
            <a:srgbClr val="FFFFFF"/>
          </a:solidFill>
          <a:ln w="9525">
            <a:solidFill>
              <a:srgbClr val="E5E1D7"/>
            </a:solidFill>
            <a:prstDash val="solid"/>
          </a:ln>
        </p:spPr>
      </p:sp>
      <p:sp>
        <p:nvSpPr>
          <p:cNvPr id="28" name="text-724"/>
          <p:cNvSpPr txBox="1"/>
          <p:nvPr/>
        </p:nvSpPr>
        <p:spPr>
          <a:xfrm>
            <a:off x="5810280"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Study plan</a:t>
            </a:r>
            <a:endParaRPr lang="en-US" sz="1013" dirty="0"/>
          </a:p>
        </p:txBody>
      </p:sp>
      <p:sp>
        <p:nvSpPr>
          <p:cNvPr id="29" name="rect-725"/>
          <p:cNvSpPr/>
          <p:nvPr/>
        </p:nvSpPr>
        <p:spPr>
          <a:xfrm>
            <a:off x="6800850" y="6057900"/>
            <a:ext cx="1790670" cy="285750"/>
          </a:xfrm>
          <a:prstGeom prst="roundRect">
            <a:avLst>
              <a:gd name="adj" fmla="val 50016"/>
            </a:avLst>
          </a:prstGeom>
          <a:solidFill>
            <a:srgbClr val="FFFFFF"/>
          </a:solidFill>
          <a:ln w="9525">
            <a:solidFill>
              <a:srgbClr val="E5E1D7"/>
            </a:solidFill>
            <a:prstDash val="solid"/>
          </a:ln>
        </p:spPr>
      </p:sp>
      <p:sp>
        <p:nvSpPr>
          <p:cNvPr id="30" name="text-726"/>
          <p:cNvSpPr txBox="1"/>
          <p:nvPr/>
        </p:nvSpPr>
        <p:spPr>
          <a:xfrm>
            <a:off x="6800850" y="6124560"/>
            <a:ext cx="179067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Test policy per college</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727"/>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13</a:t>
            </a:r>
            <a:pPr algn="l" indent="0" marL="0">
              <a:lnSpc>
                <a:spcPct val="120000"/>
              </a:lnSpc>
              <a:buNone/>
            </a:pPr>
            <a:r>
              <a:rPr lang="en-US" sz="1013" b="1" spc="122" kern="0" dirty="0">
                <a:solidFill>
                  <a:srgbClr val="E34948"/>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IMPACT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Service hours that count</a:t>
            </a:r>
            <a:endParaRPr lang="en-US" sz="3600" dirty="0"/>
          </a:p>
        </p:txBody>
      </p:sp>
      <p:sp>
        <p:nvSpPr>
          <p:cNvPr id="4" name="text-729"/>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Logged, confirmed by a supervisor, and ready for applications.</a:t>
            </a:r>
            <a:endParaRPr lang="en-US" sz="1575" dirty="0"/>
          </a:p>
        </p:txBody>
      </p:sp>
      <p:sp>
        <p:nvSpPr>
          <p:cNvPr id="5" name="rect-730"/>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731"/>
          <p:cNvSpPr/>
          <p:nvPr/>
        </p:nvSpPr>
        <p:spPr>
          <a:xfrm>
            <a:off x="742950" y="1924080"/>
            <a:ext cx="85771" cy="85771"/>
          </a:xfrm>
          <a:prstGeom prst="ellipse">
            <a:avLst/>
          </a:prstGeom>
          <a:solidFill>
            <a:srgbClr val="FF5F57"/>
          </a:solidFill>
          <a:ln/>
        </p:spPr>
      </p:sp>
      <p:sp>
        <p:nvSpPr>
          <p:cNvPr id="7" name="oval-732"/>
          <p:cNvSpPr/>
          <p:nvPr/>
        </p:nvSpPr>
        <p:spPr>
          <a:xfrm>
            <a:off x="876270" y="1924080"/>
            <a:ext cx="85771" cy="85771"/>
          </a:xfrm>
          <a:prstGeom prst="ellipse">
            <a:avLst/>
          </a:prstGeom>
          <a:solidFill>
            <a:srgbClr val="FEBC2E"/>
          </a:solidFill>
          <a:ln/>
        </p:spPr>
      </p:sp>
      <p:sp>
        <p:nvSpPr>
          <p:cNvPr id="8" name="oval-733"/>
          <p:cNvSpPr/>
          <p:nvPr/>
        </p:nvSpPr>
        <p:spPr>
          <a:xfrm>
            <a:off x="1009680" y="1924080"/>
            <a:ext cx="85771" cy="85771"/>
          </a:xfrm>
          <a:prstGeom prst="ellipse">
            <a:avLst/>
          </a:prstGeom>
          <a:solidFill>
            <a:srgbClr val="28C840"/>
          </a:solidFill>
          <a:ln/>
        </p:spPr>
      </p:sp>
      <p:sp>
        <p:nvSpPr>
          <p:cNvPr id="9" name="text-734"/>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/impact</a:t>
            </a:r>
            <a:endParaRPr lang="en-US" sz="900" dirty="0"/>
          </a:p>
        </p:txBody>
      </p:sp>
      <p:pic>
        <p:nvPicPr>
          <p:cNvPr id="10" name="image-735" descr="Screenshot: Service hours that count">    </p:cNvPr>
          <p:cNvPicPr>
            <a:picLocks noChangeAspect="1"/>
          </p:cNvPicPr>
          <p:nvPr/>
        </p:nvPicPr>
        <p:blipFill>
          <a:blip r:embed="rId1"/>
          <a:stretch>
            <a:fillRect/>
          </a:stretch>
        </p:blipFill>
        <p:spPr>
          <a:xfrm>
            <a:off x="685800" y="2095530"/>
            <a:ext cx="5715000" cy="3571921"/>
          </a:xfrm>
          <a:prstGeom prst="rect">
            <a:avLst/>
          </a:prstGeom>
        </p:spPr>
      </p:pic>
      <p:sp>
        <p:nvSpPr>
          <p:cNvPr id="11" name="oval-736"/>
          <p:cNvSpPr/>
          <p:nvPr/>
        </p:nvSpPr>
        <p:spPr>
          <a:xfrm>
            <a:off x="6781830" y="2018355"/>
            <a:ext cx="104790" cy="104790"/>
          </a:xfrm>
          <a:prstGeom prst="ellipse">
            <a:avLst/>
          </a:prstGeom>
          <a:solidFill>
            <a:srgbClr val="EB6834"/>
          </a:solidFill>
          <a:ln/>
        </p:spPr>
      </p:sp>
      <p:sp>
        <p:nvSpPr>
          <p:cNvPr id="12" name="text-737"/>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738"/>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Scholarships ask for verified hours and tight 150-character activity descriptions.</a:t>
            </a:r>
            <a:endParaRPr lang="en-US" sz="1388" dirty="0"/>
          </a:p>
        </p:txBody>
      </p:sp>
      <p:sp>
        <p:nvSpPr>
          <p:cNvPr id="14" name="oval-739"/>
          <p:cNvSpPr/>
          <p:nvPr/>
        </p:nvSpPr>
        <p:spPr>
          <a:xfrm>
            <a:off x="6781830" y="3197565"/>
            <a:ext cx="104790" cy="104790"/>
          </a:xfrm>
          <a:prstGeom prst="ellipse">
            <a:avLst/>
          </a:prstGeom>
          <a:solidFill>
            <a:srgbClr val="2A78D6"/>
          </a:solidFill>
          <a:ln/>
        </p:spPr>
      </p:sp>
      <p:sp>
        <p:nvSpPr>
          <p:cNvPr id="15" name="text-740"/>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741"/>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Impact suggests local service that fits your interests and gaps, and turns reflections into story drafts. It never pads hours.</a:t>
            </a:r>
            <a:endParaRPr lang="en-US" sz="1388" dirty="0"/>
          </a:p>
        </p:txBody>
      </p:sp>
      <p:sp>
        <p:nvSpPr>
          <p:cNvPr id="17" name="oval-742"/>
          <p:cNvSpPr/>
          <p:nvPr/>
        </p:nvSpPr>
        <p:spPr>
          <a:xfrm>
            <a:off x="6781830" y="4623389"/>
            <a:ext cx="104790" cy="104790"/>
          </a:xfrm>
          <a:prstGeom prst="ellipse">
            <a:avLst/>
          </a:prstGeom>
          <a:solidFill>
            <a:srgbClr val="1BAF7A"/>
          </a:solidFill>
          <a:ln/>
        </p:spPr>
      </p:sp>
      <p:sp>
        <p:nvSpPr>
          <p:cNvPr id="18" name="text-743"/>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744"/>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Supervisors confirm with an email link, no account needed. Progress counts only confirmed hours toward each requirement.</a:t>
            </a:r>
            <a:endParaRPr lang="en-US" sz="1388" dirty="0"/>
          </a:p>
        </p:txBody>
      </p:sp>
      <p:sp>
        <p:nvSpPr>
          <p:cNvPr id="20" name="text-745"/>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746"/>
          <p:cNvSpPr/>
          <p:nvPr/>
        </p:nvSpPr>
        <p:spPr>
          <a:xfrm>
            <a:off x="1485900" y="6057900"/>
            <a:ext cx="981060" cy="285750"/>
          </a:xfrm>
          <a:prstGeom prst="roundRect">
            <a:avLst>
              <a:gd name="adj" fmla="val 50016"/>
            </a:avLst>
          </a:prstGeom>
          <a:solidFill>
            <a:srgbClr val="FFFFFF"/>
          </a:solidFill>
          <a:ln w="9525">
            <a:solidFill>
              <a:srgbClr val="E5E1D7"/>
            </a:solidFill>
            <a:prstDash val="solid"/>
          </a:ln>
        </p:spPr>
      </p:sp>
      <p:sp>
        <p:nvSpPr>
          <p:cNvPr id="22" name="text-747"/>
          <p:cNvSpPr txBox="1"/>
          <p:nvPr/>
        </p:nvSpPr>
        <p:spPr>
          <a:xfrm>
            <a:off x="148590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Service log</a:t>
            </a:r>
            <a:endParaRPr lang="en-US" sz="1013" dirty="0"/>
          </a:p>
        </p:txBody>
      </p:sp>
      <p:sp>
        <p:nvSpPr>
          <p:cNvPr id="23" name="rect-748"/>
          <p:cNvSpPr/>
          <p:nvPr/>
        </p:nvSpPr>
        <p:spPr>
          <a:xfrm>
            <a:off x="2543221" y="6057900"/>
            <a:ext cx="1790670" cy="285750"/>
          </a:xfrm>
          <a:prstGeom prst="roundRect">
            <a:avLst>
              <a:gd name="adj" fmla="val 50016"/>
            </a:avLst>
          </a:prstGeom>
          <a:solidFill>
            <a:srgbClr val="FFFFFF"/>
          </a:solidFill>
          <a:ln w="9525">
            <a:solidFill>
              <a:srgbClr val="E5E1D7"/>
            </a:solidFill>
            <a:prstDash val="solid"/>
          </a:ln>
        </p:spPr>
      </p:sp>
      <p:sp>
        <p:nvSpPr>
          <p:cNvPr id="24" name="text-749"/>
          <p:cNvSpPr txBox="1"/>
          <p:nvPr/>
        </p:nvSpPr>
        <p:spPr>
          <a:xfrm>
            <a:off x="2543221" y="6124560"/>
            <a:ext cx="179067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Supervisor confirmation</a:t>
            </a:r>
            <a:endParaRPr lang="en-US" sz="1013" dirty="0"/>
          </a:p>
        </p:txBody>
      </p:sp>
      <p:sp>
        <p:nvSpPr>
          <p:cNvPr id="25" name="rect-750"/>
          <p:cNvSpPr/>
          <p:nvPr/>
        </p:nvSpPr>
        <p:spPr>
          <a:xfrm>
            <a:off x="4410060" y="6057900"/>
            <a:ext cx="1590690" cy="285750"/>
          </a:xfrm>
          <a:prstGeom prst="roundRect">
            <a:avLst>
              <a:gd name="adj" fmla="val 50016"/>
            </a:avLst>
          </a:prstGeom>
          <a:solidFill>
            <a:srgbClr val="FFFFFF"/>
          </a:solidFill>
          <a:ln w="9525">
            <a:solidFill>
              <a:srgbClr val="E5E1D7"/>
            </a:solidFill>
            <a:prstDash val="solid"/>
          </a:ln>
        </p:spPr>
      </p:sp>
      <p:sp>
        <p:nvSpPr>
          <p:cNvPr id="26" name="text-751"/>
          <p:cNvSpPr txBox="1"/>
          <p:nvPr/>
        </p:nvSpPr>
        <p:spPr>
          <a:xfrm>
            <a:off x="4410060" y="6124560"/>
            <a:ext cx="15906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Requirement progress</a:t>
            </a:r>
            <a:endParaRPr lang="en-US" sz="1013" dirty="0"/>
          </a:p>
        </p:txBody>
      </p:sp>
      <p:sp>
        <p:nvSpPr>
          <p:cNvPr id="27" name="rect-752"/>
          <p:cNvSpPr/>
          <p:nvPr/>
        </p:nvSpPr>
        <p:spPr>
          <a:xfrm>
            <a:off x="6076920" y="6057900"/>
            <a:ext cx="1247790" cy="285750"/>
          </a:xfrm>
          <a:prstGeom prst="roundRect">
            <a:avLst>
              <a:gd name="adj" fmla="val 50016"/>
            </a:avLst>
          </a:prstGeom>
          <a:solidFill>
            <a:srgbClr val="FFFFFF"/>
          </a:solidFill>
          <a:ln w="9525">
            <a:solidFill>
              <a:srgbClr val="E5E1D7"/>
            </a:solidFill>
            <a:prstDash val="solid"/>
          </a:ln>
        </p:spPr>
      </p:sp>
      <p:sp>
        <p:nvSpPr>
          <p:cNvPr id="28" name="text-753"/>
          <p:cNvSpPr txBox="1"/>
          <p:nvPr/>
        </p:nvSpPr>
        <p:spPr>
          <a:xfrm>
            <a:off x="6076920" y="612456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Activities list</a:t>
            </a:r>
            <a:endParaRPr lang="en-US" sz="1013" dirty="0"/>
          </a:p>
        </p:txBody>
      </p:sp>
      <p:sp>
        <p:nvSpPr>
          <p:cNvPr id="29" name="rect-754"/>
          <p:cNvSpPr/>
          <p:nvPr/>
        </p:nvSpPr>
        <p:spPr>
          <a:xfrm>
            <a:off x="7400971" y="6057900"/>
            <a:ext cx="2343150" cy="285750"/>
          </a:xfrm>
          <a:prstGeom prst="roundRect">
            <a:avLst>
              <a:gd name="adj" fmla="val 50016"/>
            </a:avLst>
          </a:prstGeom>
          <a:solidFill>
            <a:srgbClr val="FFFFFF"/>
          </a:solidFill>
          <a:ln w="9525">
            <a:solidFill>
              <a:srgbClr val="E5E1D7"/>
            </a:solidFill>
            <a:prstDash val="solid"/>
          </a:ln>
        </p:spPr>
      </p:sp>
      <p:sp>
        <p:nvSpPr>
          <p:cNvPr id="30" name="text-755"/>
          <p:cNvSpPr txBox="1"/>
          <p:nvPr/>
        </p:nvSpPr>
        <p:spPr>
          <a:xfrm>
            <a:off x="7400971" y="6124560"/>
            <a:ext cx="23431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150 characters, counted exactly</a:t>
            </a:r>
            <a:endParaRPr lang="en-US" sz="1013" dirty="0"/>
          </a:p>
        </p:txBody>
      </p:sp>
      <p:sp>
        <p:nvSpPr>
          <p:cNvPr id="31" name="rect-756"/>
          <p:cNvSpPr/>
          <p:nvPr/>
        </p:nvSpPr>
        <p:spPr>
          <a:xfrm>
            <a:off x="9820290" y="6057900"/>
            <a:ext cx="1524030" cy="285750"/>
          </a:xfrm>
          <a:prstGeom prst="roundRect">
            <a:avLst>
              <a:gd name="adj" fmla="val 50016"/>
            </a:avLst>
          </a:prstGeom>
          <a:solidFill>
            <a:srgbClr val="FFFFFF"/>
          </a:solidFill>
          <a:ln w="9525">
            <a:solidFill>
              <a:srgbClr val="E5E1D7"/>
            </a:solidFill>
            <a:prstDash val="solid"/>
          </a:ln>
        </p:spPr>
      </p:sp>
      <p:sp>
        <p:nvSpPr>
          <p:cNvPr id="32" name="text-757"/>
          <p:cNvSpPr txBox="1"/>
          <p:nvPr/>
        </p:nvSpPr>
        <p:spPr>
          <a:xfrm>
            <a:off x="9820290" y="6124560"/>
            <a:ext cx="15240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Reflection to story</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758"/>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14</a:t>
            </a:r>
            <a:pPr algn="l" indent="0" marL="0">
              <a:lnSpc>
                <a:spcPct val="120000"/>
              </a:lnSpc>
              <a:buNone/>
            </a:pPr>
            <a:r>
              <a:rPr lang="en-US" sz="1013" b="1" spc="122" kern="0" dirty="0">
                <a:solidFill>
                  <a:srgbClr val="2A78D6"/>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COMPASS</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You control what the crew remembers</a:t>
            </a:r>
            <a:endParaRPr lang="en-US" sz="3600" dirty="0"/>
          </a:p>
        </p:txBody>
      </p:sp>
      <p:sp>
        <p:nvSpPr>
          <p:cNvPr id="4" name="text-760"/>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Every fact shows where it came from and who can use it.</a:t>
            </a:r>
            <a:endParaRPr lang="en-US" sz="1575" dirty="0"/>
          </a:p>
        </p:txBody>
      </p:sp>
      <p:sp>
        <p:nvSpPr>
          <p:cNvPr id="5" name="rect-761"/>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762"/>
          <p:cNvSpPr/>
          <p:nvPr/>
        </p:nvSpPr>
        <p:spPr>
          <a:xfrm>
            <a:off x="742950" y="1924080"/>
            <a:ext cx="85771" cy="85771"/>
          </a:xfrm>
          <a:prstGeom prst="ellipse">
            <a:avLst/>
          </a:prstGeom>
          <a:solidFill>
            <a:srgbClr val="FF5F57"/>
          </a:solidFill>
          <a:ln/>
        </p:spPr>
      </p:sp>
      <p:sp>
        <p:nvSpPr>
          <p:cNvPr id="7" name="oval-763"/>
          <p:cNvSpPr/>
          <p:nvPr/>
        </p:nvSpPr>
        <p:spPr>
          <a:xfrm>
            <a:off x="876270" y="1924080"/>
            <a:ext cx="85771" cy="85771"/>
          </a:xfrm>
          <a:prstGeom prst="ellipse">
            <a:avLst/>
          </a:prstGeom>
          <a:solidFill>
            <a:srgbClr val="FEBC2E"/>
          </a:solidFill>
          <a:ln/>
        </p:spPr>
      </p:sp>
      <p:sp>
        <p:nvSpPr>
          <p:cNvPr id="8" name="oval-764"/>
          <p:cNvSpPr/>
          <p:nvPr/>
        </p:nvSpPr>
        <p:spPr>
          <a:xfrm>
            <a:off x="1009680" y="1924080"/>
            <a:ext cx="85771" cy="85771"/>
          </a:xfrm>
          <a:prstGeom prst="ellipse">
            <a:avLst/>
          </a:prstGeom>
          <a:solidFill>
            <a:srgbClr val="28C840"/>
          </a:solidFill>
          <a:ln/>
        </p:spPr>
      </p:sp>
      <p:sp>
        <p:nvSpPr>
          <p:cNvPr id="9" name="text-765"/>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/memory</a:t>
            </a:r>
            <a:endParaRPr lang="en-US" sz="900" dirty="0"/>
          </a:p>
        </p:txBody>
      </p:sp>
      <p:pic>
        <p:nvPicPr>
          <p:cNvPr id="10" name="image-766" descr="Screenshot: You control what the crew remembers">    </p:cNvPr>
          <p:cNvPicPr>
            <a:picLocks noChangeAspect="1"/>
          </p:cNvPicPr>
          <p:nvPr/>
        </p:nvPicPr>
        <p:blipFill>
          <a:blip r:embed="rId1"/>
          <a:stretch>
            <a:fillRect/>
          </a:stretch>
        </p:blipFill>
        <p:spPr>
          <a:xfrm>
            <a:off x="685800" y="2095530"/>
            <a:ext cx="5715000" cy="3571921"/>
          </a:xfrm>
          <a:prstGeom prst="rect">
            <a:avLst/>
          </a:prstGeom>
        </p:spPr>
      </p:pic>
      <p:sp>
        <p:nvSpPr>
          <p:cNvPr id="11" name="oval-767"/>
          <p:cNvSpPr/>
          <p:nvPr/>
        </p:nvSpPr>
        <p:spPr>
          <a:xfrm>
            <a:off x="6781830" y="2018355"/>
            <a:ext cx="104790" cy="104790"/>
          </a:xfrm>
          <a:prstGeom prst="ellipse">
            <a:avLst/>
          </a:prstGeom>
          <a:solidFill>
            <a:srgbClr val="EB6834"/>
          </a:solidFill>
          <a:ln/>
        </p:spPr>
      </p:sp>
      <p:sp>
        <p:nvSpPr>
          <p:cNvPr id="12" name="text-768"/>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769"/>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AI tools quietly remember and infer things about people. Students deserve to see and control that.</a:t>
            </a:r>
            <a:endParaRPr lang="en-US" sz="1388" dirty="0"/>
          </a:p>
        </p:txBody>
      </p:sp>
      <p:sp>
        <p:nvSpPr>
          <p:cNvPr id="14" name="oval-770"/>
          <p:cNvSpPr/>
          <p:nvPr/>
        </p:nvSpPr>
        <p:spPr>
          <a:xfrm>
            <a:off x="6781830" y="3197565"/>
            <a:ext cx="104790" cy="104790"/>
          </a:xfrm>
          <a:prstGeom prst="ellipse">
            <a:avLst/>
          </a:prstGeom>
          <a:solidFill>
            <a:srgbClr val="2A78D6"/>
          </a:solidFill>
          <a:ln/>
        </p:spPr>
      </p:sp>
      <p:sp>
        <p:nvSpPr>
          <p:cNvPr id="15" name="text-771"/>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772"/>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Guesses are saved as candidates you confirm, and they expire in 30 days. Sensitive facts are never inferred or sent to AI.</a:t>
            </a:r>
            <a:endParaRPr lang="en-US" sz="1388" dirty="0"/>
          </a:p>
        </p:txBody>
      </p:sp>
      <p:sp>
        <p:nvSpPr>
          <p:cNvPr id="17" name="oval-773"/>
          <p:cNvSpPr/>
          <p:nvPr/>
        </p:nvSpPr>
        <p:spPr>
          <a:xfrm>
            <a:off x="6781830" y="4623389"/>
            <a:ext cx="104790" cy="104790"/>
          </a:xfrm>
          <a:prstGeom prst="ellipse">
            <a:avLst/>
          </a:prstGeom>
          <a:solidFill>
            <a:srgbClr val="1BAF7A"/>
          </a:solidFill>
          <a:ln/>
        </p:spPr>
      </p:sp>
      <p:sp>
        <p:nvSpPr>
          <p:cNvPr id="18" name="text-774"/>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775"/>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Edit or forget anything and the crew stops seeing it immediately. Export it all, or chat without saving anything.</a:t>
            </a:r>
            <a:endParaRPr lang="en-US" sz="1388" dirty="0"/>
          </a:p>
        </p:txBody>
      </p:sp>
      <p:sp>
        <p:nvSpPr>
          <p:cNvPr id="20" name="text-776"/>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777"/>
          <p:cNvSpPr/>
          <p:nvPr/>
        </p:nvSpPr>
        <p:spPr>
          <a:xfrm>
            <a:off x="1485900" y="6057900"/>
            <a:ext cx="1457371" cy="285750"/>
          </a:xfrm>
          <a:prstGeom prst="roundRect">
            <a:avLst>
              <a:gd name="adj" fmla="val 50016"/>
            </a:avLst>
          </a:prstGeom>
          <a:solidFill>
            <a:srgbClr val="FFFFFF"/>
          </a:solidFill>
          <a:ln w="9525">
            <a:solidFill>
              <a:srgbClr val="E5E1D7"/>
            </a:solidFill>
            <a:prstDash val="solid"/>
          </a:ln>
        </p:spPr>
      </p:sp>
      <p:sp>
        <p:nvSpPr>
          <p:cNvPr id="22" name="text-778"/>
          <p:cNvSpPr txBox="1"/>
          <p:nvPr/>
        </p:nvSpPr>
        <p:spPr>
          <a:xfrm>
            <a:off x="1485900"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Facts with sources</a:t>
            </a:r>
            <a:endParaRPr lang="en-US" sz="1013" dirty="0"/>
          </a:p>
        </p:txBody>
      </p:sp>
      <p:sp>
        <p:nvSpPr>
          <p:cNvPr id="23" name="rect-779"/>
          <p:cNvSpPr/>
          <p:nvPr/>
        </p:nvSpPr>
        <p:spPr>
          <a:xfrm>
            <a:off x="3019440" y="6057900"/>
            <a:ext cx="1657350" cy="285750"/>
          </a:xfrm>
          <a:prstGeom prst="roundRect">
            <a:avLst>
              <a:gd name="adj" fmla="val 50016"/>
            </a:avLst>
          </a:prstGeom>
          <a:solidFill>
            <a:srgbClr val="FFFFFF"/>
          </a:solidFill>
          <a:ln w="9525">
            <a:solidFill>
              <a:srgbClr val="E5E1D7"/>
            </a:solidFill>
            <a:prstDash val="solid"/>
          </a:ln>
        </p:spPr>
      </p:sp>
      <p:sp>
        <p:nvSpPr>
          <p:cNvPr id="24" name="text-780"/>
          <p:cNvSpPr txBox="1"/>
          <p:nvPr/>
        </p:nvSpPr>
        <p:spPr>
          <a:xfrm>
            <a:off x="3019440" y="6124560"/>
            <a:ext cx="16573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Who can use each fact</a:t>
            </a:r>
            <a:endParaRPr lang="en-US" sz="1013" dirty="0"/>
          </a:p>
        </p:txBody>
      </p:sp>
      <p:sp>
        <p:nvSpPr>
          <p:cNvPr id="25" name="rect-781"/>
          <p:cNvSpPr/>
          <p:nvPr/>
        </p:nvSpPr>
        <p:spPr>
          <a:xfrm>
            <a:off x="4752960" y="6057900"/>
            <a:ext cx="914400" cy="285750"/>
          </a:xfrm>
          <a:prstGeom prst="roundRect">
            <a:avLst>
              <a:gd name="adj" fmla="val 50016"/>
            </a:avLst>
          </a:prstGeom>
          <a:solidFill>
            <a:srgbClr val="FFFFFF"/>
          </a:solidFill>
          <a:ln w="9525">
            <a:solidFill>
              <a:srgbClr val="E5E1D7"/>
            </a:solidFill>
            <a:prstDash val="solid"/>
          </a:ln>
        </p:spPr>
      </p:sp>
      <p:sp>
        <p:nvSpPr>
          <p:cNvPr id="26" name="text-782"/>
          <p:cNvSpPr txBox="1"/>
          <p:nvPr/>
        </p:nvSpPr>
        <p:spPr>
          <a:xfrm>
            <a:off x="4752960"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Candidates</a:t>
            </a:r>
            <a:endParaRPr lang="en-US" sz="1013" dirty="0"/>
          </a:p>
        </p:txBody>
      </p:sp>
      <p:sp>
        <p:nvSpPr>
          <p:cNvPr id="27" name="rect-783"/>
          <p:cNvSpPr/>
          <p:nvPr/>
        </p:nvSpPr>
        <p:spPr>
          <a:xfrm>
            <a:off x="5743621" y="6057900"/>
            <a:ext cx="1114471" cy="285750"/>
          </a:xfrm>
          <a:prstGeom prst="roundRect">
            <a:avLst>
              <a:gd name="adj" fmla="val 50016"/>
            </a:avLst>
          </a:prstGeom>
          <a:solidFill>
            <a:srgbClr val="FFFFFF"/>
          </a:solidFill>
          <a:ln w="9525">
            <a:solidFill>
              <a:srgbClr val="E5E1D7"/>
            </a:solidFill>
            <a:prstDash val="solid"/>
          </a:ln>
        </p:spPr>
      </p:sp>
      <p:sp>
        <p:nvSpPr>
          <p:cNvPr id="28" name="text-784"/>
          <p:cNvSpPr txBox="1"/>
          <p:nvPr/>
        </p:nvSpPr>
        <p:spPr>
          <a:xfrm>
            <a:off x="5743621"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Decisions log</a:t>
            </a:r>
            <a:endParaRPr lang="en-US" sz="1013" dirty="0"/>
          </a:p>
        </p:txBody>
      </p:sp>
      <p:sp>
        <p:nvSpPr>
          <p:cNvPr id="29" name="rect-785"/>
          <p:cNvSpPr/>
          <p:nvPr/>
        </p:nvSpPr>
        <p:spPr>
          <a:xfrm>
            <a:off x="6934170" y="6057900"/>
            <a:ext cx="1390620" cy="285750"/>
          </a:xfrm>
          <a:prstGeom prst="roundRect">
            <a:avLst>
              <a:gd name="adj" fmla="val 50016"/>
            </a:avLst>
          </a:prstGeom>
          <a:solidFill>
            <a:srgbClr val="FFFFFF"/>
          </a:solidFill>
          <a:ln w="9525">
            <a:solidFill>
              <a:srgbClr val="E5E1D7"/>
            </a:solidFill>
            <a:prstDash val="solid"/>
          </a:ln>
        </p:spPr>
      </p:sp>
      <p:sp>
        <p:nvSpPr>
          <p:cNvPr id="30" name="text-786"/>
          <p:cNvSpPr txBox="1"/>
          <p:nvPr/>
        </p:nvSpPr>
        <p:spPr>
          <a:xfrm>
            <a:off x="6934170" y="6124560"/>
            <a:ext cx="13906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Sensitive opt-ins</a:t>
            </a:r>
            <a:endParaRPr lang="en-US" sz="1013" dirty="0"/>
          </a:p>
        </p:txBody>
      </p:sp>
      <p:sp>
        <p:nvSpPr>
          <p:cNvPr id="31" name="rect-787"/>
          <p:cNvSpPr/>
          <p:nvPr/>
        </p:nvSpPr>
        <p:spPr>
          <a:xfrm>
            <a:off x="8401050" y="6057900"/>
            <a:ext cx="638160" cy="285750"/>
          </a:xfrm>
          <a:prstGeom prst="roundRect">
            <a:avLst>
              <a:gd name="adj" fmla="val 50016"/>
            </a:avLst>
          </a:prstGeom>
          <a:solidFill>
            <a:srgbClr val="FFFFFF"/>
          </a:solidFill>
          <a:ln w="9525">
            <a:solidFill>
              <a:srgbClr val="E5E1D7"/>
            </a:solidFill>
            <a:prstDash val="solid"/>
          </a:ln>
        </p:spPr>
      </p:sp>
      <p:sp>
        <p:nvSpPr>
          <p:cNvPr id="32" name="text-788"/>
          <p:cNvSpPr txBox="1"/>
          <p:nvPr/>
        </p:nvSpPr>
        <p:spPr>
          <a:xfrm>
            <a:off x="8401050" y="6124560"/>
            <a:ext cx="6381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Export</a:t>
            </a:r>
            <a:endParaRPr lang="en-US" sz="1013" dirty="0"/>
          </a:p>
        </p:txBody>
      </p:sp>
      <p:sp>
        <p:nvSpPr>
          <p:cNvPr id="33" name="rect-789"/>
          <p:cNvSpPr/>
          <p:nvPr/>
        </p:nvSpPr>
        <p:spPr>
          <a:xfrm>
            <a:off x="9115471" y="6057900"/>
            <a:ext cx="914400" cy="285750"/>
          </a:xfrm>
          <a:prstGeom prst="roundRect">
            <a:avLst>
              <a:gd name="adj" fmla="val 50016"/>
            </a:avLst>
          </a:prstGeom>
          <a:solidFill>
            <a:srgbClr val="FFFFFF"/>
          </a:solidFill>
          <a:ln w="9525">
            <a:solidFill>
              <a:srgbClr val="E5E1D7"/>
            </a:solidFill>
            <a:prstDash val="solid"/>
          </a:ln>
        </p:spPr>
      </p:sp>
      <p:sp>
        <p:nvSpPr>
          <p:cNvPr id="34" name="text-790"/>
          <p:cNvSpPr txBox="1"/>
          <p:nvPr/>
        </p:nvSpPr>
        <p:spPr>
          <a:xfrm>
            <a:off x="9115471" y="6124560"/>
            <a:ext cx="91440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New season</a:t>
            </a:r>
            <a:endParaRPr lang="en-US" sz="1013" dirty="0"/>
          </a:p>
        </p:txBody>
      </p:sp>
      <p:sp>
        <p:nvSpPr>
          <p:cNvPr id="35" name="rect-791"/>
          <p:cNvSpPr/>
          <p:nvPr/>
        </p:nvSpPr>
        <p:spPr>
          <a:xfrm>
            <a:off x="10106040" y="6057900"/>
            <a:ext cx="1181130" cy="285750"/>
          </a:xfrm>
          <a:prstGeom prst="roundRect">
            <a:avLst>
              <a:gd name="adj" fmla="val 50016"/>
            </a:avLst>
          </a:prstGeom>
          <a:solidFill>
            <a:srgbClr val="FFFFFF"/>
          </a:solidFill>
          <a:ln w="9525">
            <a:solidFill>
              <a:srgbClr val="E5E1D7"/>
            </a:solidFill>
            <a:prstDash val="solid"/>
          </a:ln>
        </p:spPr>
      </p:sp>
      <p:sp>
        <p:nvSpPr>
          <p:cNvPr id="36" name="text-792"/>
          <p:cNvSpPr txBox="1"/>
          <p:nvPr/>
        </p:nvSpPr>
        <p:spPr>
          <a:xfrm>
            <a:off x="10106040"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Delete account</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793"/>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15</a:t>
            </a:r>
            <a:pPr algn="l" indent="0" marL="0">
              <a:lnSpc>
                <a:spcPct val="120000"/>
              </a:lnSpc>
              <a:buNone/>
            </a:pPr>
            <a:r>
              <a:rPr lang="en-US" sz="1013" b="1" spc="122" kern="0" dirty="0">
                <a:solidFill>
                  <a:srgbClr val="2A78D6"/>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COMPASS</a:t>
            </a:r>
            <a:pPr algn="l" indent="0" marL="0">
              <a:lnSpc>
                <a:spcPct val="120000"/>
              </a:lnSpc>
              <a:buNone/>
            </a:pPr>
            <a:r>
              <a:rPr lang="en-US" sz="1013" b="1" spc="122" kern="0" dirty="0">
                <a:solidFill>
                  <a:srgbClr val="E87BA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AID</a:t>
            </a:r>
            <a:pPr algn="l" indent="0" marL="0">
              <a:lnSpc>
                <a:spcPct val="120000"/>
              </a:lnSpc>
              <a:buNone/>
            </a:pPr>
            <a:r>
              <a:rPr lang="en-US" sz="1013" b="1" spc="122" kern="0" dirty="0">
                <a:solidFill>
                  <a:srgbClr val="008300"/>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LEDGER</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Parents help. Students decide what's shared</a:t>
            </a:r>
            <a:endParaRPr lang="en-US" sz="3600" dirty="0"/>
          </a:p>
        </p:txBody>
      </p:sp>
      <p:sp>
        <p:nvSpPr>
          <p:cNvPr id="4" name="text-795"/>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Per-category sharing, a shared family room, and private parent space.</a:t>
            </a:r>
            <a:endParaRPr lang="en-US" sz="1575" dirty="0"/>
          </a:p>
        </p:txBody>
      </p:sp>
      <p:sp>
        <p:nvSpPr>
          <p:cNvPr id="5" name="rect-796"/>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797"/>
          <p:cNvSpPr/>
          <p:nvPr/>
        </p:nvSpPr>
        <p:spPr>
          <a:xfrm>
            <a:off x="742950" y="1924080"/>
            <a:ext cx="85771" cy="85771"/>
          </a:xfrm>
          <a:prstGeom prst="ellipse">
            <a:avLst/>
          </a:prstGeom>
          <a:solidFill>
            <a:srgbClr val="FF5F57"/>
          </a:solidFill>
          <a:ln/>
        </p:spPr>
      </p:sp>
      <p:sp>
        <p:nvSpPr>
          <p:cNvPr id="7" name="oval-798"/>
          <p:cNvSpPr/>
          <p:nvPr/>
        </p:nvSpPr>
        <p:spPr>
          <a:xfrm>
            <a:off x="876270" y="1924080"/>
            <a:ext cx="85771" cy="85771"/>
          </a:xfrm>
          <a:prstGeom prst="ellipse">
            <a:avLst/>
          </a:prstGeom>
          <a:solidFill>
            <a:srgbClr val="FEBC2E"/>
          </a:solidFill>
          <a:ln/>
        </p:spPr>
      </p:sp>
      <p:sp>
        <p:nvSpPr>
          <p:cNvPr id="8" name="oval-799"/>
          <p:cNvSpPr/>
          <p:nvPr/>
        </p:nvSpPr>
        <p:spPr>
          <a:xfrm>
            <a:off x="1009680" y="1924080"/>
            <a:ext cx="85771" cy="85771"/>
          </a:xfrm>
          <a:prstGeom prst="ellipse">
            <a:avLst/>
          </a:prstGeom>
          <a:solidFill>
            <a:srgbClr val="28C840"/>
          </a:solidFill>
          <a:ln/>
        </p:spPr>
      </p:sp>
      <p:sp>
        <p:nvSpPr>
          <p:cNvPr id="9" name="text-800"/>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/family</a:t>
            </a:r>
            <a:endParaRPr lang="en-US" sz="900" dirty="0"/>
          </a:p>
        </p:txBody>
      </p:sp>
      <p:pic>
        <p:nvPicPr>
          <p:cNvPr id="10" name="image-801" descr="Screenshot: Parents help. Students decide what's shared">    </p:cNvPr>
          <p:cNvPicPr>
            <a:picLocks noChangeAspect="1"/>
          </p:cNvPicPr>
          <p:nvPr/>
        </p:nvPicPr>
        <p:blipFill>
          <a:blip r:embed="rId1"/>
          <a:stretch>
            <a:fillRect/>
          </a:stretch>
        </p:blipFill>
        <p:spPr>
          <a:xfrm>
            <a:off x="685800" y="2095530"/>
            <a:ext cx="5715000" cy="3571921"/>
          </a:xfrm>
          <a:prstGeom prst="rect">
            <a:avLst/>
          </a:prstGeom>
        </p:spPr>
      </p:pic>
      <p:sp>
        <p:nvSpPr>
          <p:cNvPr id="11" name="oval-802"/>
          <p:cNvSpPr/>
          <p:nvPr/>
        </p:nvSpPr>
        <p:spPr>
          <a:xfrm>
            <a:off x="6781830" y="2018355"/>
            <a:ext cx="104790" cy="104790"/>
          </a:xfrm>
          <a:prstGeom prst="ellipse">
            <a:avLst/>
          </a:prstGeom>
          <a:solidFill>
            <a:srgbClr val="EB6834"/>
          </a:solidFill>
          <a:ln/>
        </p:spPr>
      </p:sp>
      <p:sp>
        <p:nvSpPr>
          <p:cNvPr id="12" name="text-803"/>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804"/>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Parents need deadlines and costs, but paying for a plan shouldn't unlock a teenager's essays or chats.</a:t>
            </a:r>
            <a:endParaRPr lang="en-US" sz="1388" dirty="0"/>
          </a:p>
        </p:txBody>
      </p:sp>
      <p:sp>
        <p:nvSpPr>
          <p:cNvPr id="14" name="oval-805"/>
          <p:cNvSpPr/>
          <p:nvPr/>
        </p:nvSpPr>
        <p:spPr>
          <a:xfrm>
            <a:off x="6781830" y="3197565"/>
            <a:ext cx="104790" cy="104790"/>
          </a:xfrm>
          <a:prstGeom prst="ellipse">
            <a:avLst/>
          </a:prstGeom>
          <a:solidFill>
            <a:srgbClr val="2A78D6"/>
          </a:solidFill>
          <a:ln/>
        </p:spPr>
      </p:sp>
      <p:sp>
        <p:nvSpPr>
          <p:cNvPr id="15" name="text-806"/>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807"/>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In the family room the crew sees only what both sides shared, and a privacy guard checks every reply before it's saved.</a:t>
            </a:r>
            <a:endParaRPr lang="en-US" sz="1388" dirty="0"/>
          </a:p>
        </p:txBody>
      </p:sp>
      <p:sp>
        <p:nvSpPr>
          <p:cNvPr id="17" name="oval-808"/>
          <p:cNvSpPr/>
          <p:nvPr/>
        </p:nvSpPr>
        <p:spPr>
          <a:xfrm>
            <a:off x="6781830" y="4623389"/>
            <a:ext cx="104790" cy="104790"/>
          </a:xfrm>
          <a:prstGeom prst="ellipse">
            <a:avLst/>
          </a:prstGeom>
          <a:solidFill>
            <a:srgbClr val="1BAF7A"/>
          </a:solidFill>
          <a:ln/>
        </p:spPr>
      </p:sp>
      <p:sp>
        <p:nvSpPr>
          <p:cNvPr id="18" name="text-809"/>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810"/>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Parents can follow along and help without knowing the system. Students decide what's shared, one category at a time.</a:t>
            </a:r>
            <a:endParaRPr lang="en-US" sz="1388" dirty="0"/>
          </a:p>
        </p:txBody>
      </p:sp>
      <p:sp>
        <p:nvSpPr>
          <p:cNvPr id="20" name="text-811"/>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812"/>
          <p:cNvSpPr/>
          <p:nvPr/>
        </p:nvSpPr>
        <p:spPr>
          <a:xfrm>
            <a:off x="1485900" y="6057900"/>
            <a:ext cx="1247790" cy="285750"/>
          </a:xfrm>
          <a:prstGeom prst="roundRect">
            <a:avLst>
              <a:gd name="adj" fmla="val 50016"/>
            </a:avLst>
          </a:prstGeom>
          <a:solidFill>
            <a:srgbClr val="FFFFFF"/>
          </a:solidFill>
          <a:ln w="9525">
            <a:solidFill>
              <a:srgbClr val="E5E1D7"/>
            </a:solidFill>
            <a:prstDash val="solid"/>
          </a:ln>
        </p:spPr>
      </p:sp>
      <p:sp>
        <p:nvSpPr>
          <p:cNvPr id="22" name="text-813"/>
          <p:cNvSpPr txBox="1"/>
          <p:nvPr/>
        </p:nvSpPr>
        <p:spPr>
          <a:xfrm>
            <a:off x="1485900" y="6124560"/>
            <a:ext cx="12477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Invite a parent</a:t>
            </a:r>
            <a:endParaRPr lang="en-US" sz="1013" dirty="0"/>
          </a:p>
        </p:txBody>
      </p:sp>
      <p:sp>
        <p:nvSpPr>
          <p:cNvPr id="23" name="rect-814"/>
          <p:cNvSpPr/>
          <p:nvPr/>
        </p:nvSpPr>
        <p:spPr>
          <a:xfrm>
            <a:off x="2809860" y="6057900"/>
            <a:ext cx="1790670" cy="285750"/>
          </a:xfrm>
          <a:prstGeom prst="roundRect">
            <a:avLst>
              <a:gd name="adj" fmla="val 50016"/>
            </a:avLst>
          </a:prstGeom>
          <a:solidFill>
            <a:srgbClr val="FFFFFF"/>
          </a:solidFill>
          <a:ln w="9525">
            <a:solidFill>
              <a:srgbClr val="E5E1D7"/>
            </a:solidFill>
            <a:prstDash val="solid"/>
          </a:ln>
        </p:spPr>
      </p:sp>
      <p:sp>
        <p:nvSpPr>
          <p:cNvPr id="24" name="text-815"/>
          <p:cNvSpPr txBox="1"/>
          <p:nvPr/>
        </p:nvSpPr>
        <p:spPr>
          <a:xfrm>
            <a:off x="2809860" y="6124560"/>
            <a:ext cx="179067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Nine sharing categories</a:t>
            </a:r>
            <a:endParaRPr lang="en-US" sz="1013" dirty="0"/>
          </a:p>
        </p:txBody>
      </p:sp>
      <p:sp>
        <p:nvSpPr>
          <p:cNvPr id="25" name="rect-816"/>
          <p:cNvSpPr/>
          <p:nvPr/>
        </p:nvSpPr>
        <p:spPr>
          <a:xfrm>
            <a:off x="4676790" y="6057900"/>
            <a:ext cx="981060" cy="285750"/>
          </a:xfrm>
          <a:prstGeom prst="roundRect">
            <a:avLst>
              <a:gd name="adj" fmla="val 50016"/>
            </a:avLst>
          </a:prstGeom>
          <a:solidFill>
            <a:srgbClr val="FFFFFF"/>
          </a:solidFill>
          <a:ln w="9525">
            <a:solidFill>
              <a:srgbClr val="E5E1D7"/>
            </a:solidFill>
            <a:prstDash val="solid"/>
          </a:ln>
        </p:spPr>
      </p:sp>
      <p:sp>
        <p:nvSpPr>
          <p:cNvPr id="26" name="text-817"/>
          <p:cNvSpPr txBox="1"/>
          <p:nvPr/>
        </p:nvSpPr>
        <p:spPr>
          <a:xfrm>
            <a:off x="4676790" y="6124560"/>
            <a:ext cx="9810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Family room</a:t>
            </a:r>
            <a:endParaRPr lang="en-US" sz="1013" dirty="0"/>
          </a:p>
        </p:txBody>
      </p:sp>
      <p:sp>
        <p:nvSpPr>
          <p:cNvPr id="27" name="rect-818"/>
          <p:cNvSpPr/>
          <p:nvPr/>
        </p:nvSpPr>
        <p:spPr>
          <a:xfrm>
            <a:off x="5734020" y="6057900"/>
            <a:ext cx="1590690" cy="285750"/>
          </a:xfrm>
          <a:prstGeom prst="roundRect">
            <a:avLst>
              <a:gd name="adj" fmla="val 50016"/>
            </a:avLst>
          </a:prstGeom>
          <a:solidFill>
            <a:srgbClr val="FFFFFF"/>
          </a:solidFill>
          <a:ln w="9525">
            <a:solidFill>
              <a:srgbClr val="E5E1D7"/>
            </a:solidFill>
            <a:prstDash val="solid"/>
          </a:ln>
        </p:spPr>
      </p:sp>
      <p:sp>
        <p:nvSpPr>
          <p:cNvPr id="28" name="text-819"/>
          <p:cNvSpPr txBox="1"/>
          <p:nvPr/>
        </p:nvSpPr>
        <p:spPr>
          <a:xfrm>
            <a:off x="5734020" y="6124560"/>
            <a:ext cx="15906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Parent private space</a:t>
            </a:r>
            <a:endParaRPr lang="en-US" sz="1013" dirty="0"/>
          </a:p>
        </p:txBody>
      </p:sp>
      <p:sp>
        <p:nvSpPr>
          <p:cNvPr id="29" name="rect-820"/>
          <p:cNvSpPr/>
          <p:nvPr/>
        </p:nvSpPr>
        <p:spPr>
          <a:xfrm>
            <a:off x="7400971" y="6057900"/>
            <a:ext cx="1524030" cy="285750"/>
          </a:xfrm>
          <a:prstGeom prst="roundRect">
            <a:avLst>
              <a:gd name="adj" fmla="val 50016"/>
            </a:avLst>
          </a:prstGeom>
          <a:solidFill>
            <a:srgbClr val="FFFFFF"/>
          </a:solidFill>
          <a:ln w="9525">
            <a:solidFill>
              <a:srgbClr val="E5E1D7"/>
            </a:solidFill>
            <a:prstDash val="solid"/>
          </a:ln>
        </p:spPr>
      </p:sp>
      <p:sp>
        <p:nvSpPr>
          <p:cNvPr id="30" name="text-821"/>
          <p:cNvSpPr txBox="1"/>
          <p:nvPr/>
        </p:nvSpPr>
        <p:spPr>
          <a:xfrm>
            <a:off x="7400971" y="6124560"/>
            <a:ext cx="15240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Shared income range</a:t>
            </a:r>
            <a:endParaRPr lang="en-US" sz="1013" dirty="0"/>
          </a:p>
        </p:txBody>
      </p:sp>
      <p:sp>
        <p:nvSpPr>
          <p:cNvPr id="31" name="rect-822"/>
          <p:cNvSpPr/>
          <p:nvPr/>
        </p:nvSpPr>
        <p:spPr>
          <a:xfrm>
            <a:off x="9001171" y="6057900"/>
            <a:ext cx="1047720" cy="285750"/>
          </a:xfrm>
          <a:prstGeom prst="roundRect">
            <a:avLst>
              <a:gd name="adj" fmla="val 50016"/>
            </a:avLst>
          </a:prstGeom>
          <a:solidFill>
            <a:srgbClr val="FFFFFF"/>
          </a:solidFill>
          <a:ln w="9525">
            <a:solidFill>
              <a:srgbClr val="E5E1D7"/>
            </a:solidFill>
            <a:prstDash val="solid"/>
          </a:ln>
        </p:spPr>
      </p:sp>
      <p:sp>
        <p:nvSpPr>
          <p:cNvPr id="32" name="text-823"/>
          <p:cNvSpPr txBox="1"/>
          <p:nvPr/>
        </p:nvSpPr>
        <p:spPr>
          <a:xfrm>
            <a:off x="9001171" y="612456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Family tasks</a:t>
            </a:r>
            <a:endParaRPr lang="en-US" sz="1013" dirty="0"/>
          </a:p>
        </p:txBody>
      </p:sp>
      <p:sp>
        <p:nvSpPr>
          <p:cNvPr id="33" name="rect-824"/>
          <p:cNvSpPr/>
          <p:nvPr/>
        </p:nvSpPr>
        <p:spPr>
          <a:xfrm>
            <a:off x="10125060" y="6057900"/>
            <a:ext cx="1114471" cy="285750"/>
          </a:xfrm>
          <a:prstGeom prst="roundRect">
            <a:avLst>
              <a:gd name="adj" fmla="val 50016"/>
            </a:avLst>
          </a:prstGeom>
          <a:solidFill>
            <a:srgbClr val="FFFFFF"/>
          </a:solidFill>
          <a:ln w="9525">
            <a:solidFill>
              <a:srgbClr val="E5E1D7"/>
            </a:solidFill>
            <a:prstDash val="solid"/>
          </a:ln>
        </p:spPr>
      </p:sp>
      <p:sp>
        <p:nvSpPr>
          <p:cNvPr id="34" name="text-825"/>
          <p:cNvSpPr txBox="1"/>
          <p:nvPr/>
        </p:nvSpPr>
        <p:spPr>
          <a:xfrm>
            <a:off x="10125060" y="6124560"/>
            <a:ext cx="11144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Family budget</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826"/>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WORKFLOW 16</a:t>
            </a:r>
            <a:pPr algn="l" indent="0" marL="0">
              <a:lnSpc>
                <a:spcPct val="120000"/>
              </a:lnSpc>
              <a:buNone/>
            </a:pPr>
            <a:r>
              <a:rPr lang="en-US" sz="1013" b="1" spc="122" kern="0" dirty="0">
                <a:solidFill>
                  <a:srgbClr val="1BAF7A"/>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ATLAS</a:t>
            </a:r>
            <a:pPr algn="l" indent="0" marL="0">
              <a:lnSpc>
                <a:spcPct val="120000"/>
              </a:lnSpc>
              <a:buNone/>
            </a:pPr>
            <a:r>
              <a:rPr lang="en-US" sz="1013" b="1" spc="122" kern="0" dirty="0">
                <a:solidFill>
                  <a:srgbClr val="E34948"/>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IMPACT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Helper links for recommenders and counselors</a:t>
            </a:r>
            <a:endParaRPr lang="en-US" sz="3600" dirty="0"/>
          </a:p>
        </p:txBody>
      </p:sp>
      <p:sp>
        <p:nvSpPr>
          <p:cNvPr id="4" name="text-828"/>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A read-only brag sheet, scoped and expiring.</a:t>
            </a:r>
            <a:endParaRPr lang="en-US" sz="1575" dirty="0"/>
          </a:p>
        </p:txBody>
      </p:sp>
      <p:sp>
        <p:nvSpPr>
          <p:cNvPr id="5" name="rect-829"/>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830"/>
          <p:cNvSpPr/>
          <p:nvPr/>
        </p:nvSpPr>
        <p:spPr>
          <a:xfrm>
            <a:off x="742950" y="1924080"/>
            <a:ext cx="85771" cy="85771"/>
          </a:xfrm>
          <a:prstGeom prst="ellipse">
            <a:avLst/>
          </a:prstGeom>
          <a:solidFill>
            <a:srgbClr val="FF5F57"/>
          </a:solidFill>
          <a:ln/>
        </p:spPr>
      </p:sp>
      <p:sp>
        <p:nvSpPr>
          <p:cNvPr id="7" name="oval-831"/>
          <p:cNvSpPr/>
          <p:nvPr/>
        </p:nvSpPr>
        <p:spPr>
          <a:xfrm>
            <a:off x="876270" y="1924080"/>
            <a:ext cx="85771" cy="85771"/>
          </a:xfrm>
          <a:prstGeom prst="ellipse">
            <a:avLst/>
          </a:prstGeom>
          <a:solidFill>
            <a:srgbClr val="FEBC2E"/>
          </a:solidFill>
          <a:ln/>
        </p:spPr>
      </p:sp>
      <p:sp>
        <p:nvSpPr>
          <p:cNvPr id="8" name="oval-832"/>
          <p:cNvSpPr/>
          <p:nvPr/>
        </p:nvSpPr>
        <p:spPr>
          <a:xfrm>
            <a:off x="1009680" y="1924080"/>
            <a:ext cx="85771" cy="85771"/>
          </a:xfrm>
          <a:prstGeom prst="ellipse">
            <a:avLst/>
          </a:prstGeom>
          <a:solidFill>
            <a:srgbClr val="28C840"/>
          </a:solidFill>
          <a:ln/>
        </p:spPr>
      </p:sp>
      <p:sp>
        <p:nvSpPr>
          <p:cNvPr id="9" name="text-833"/>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/h/…</a:t>
            </a:r>
            <a:endParaRPr lang="en-US" sz="900" dirty="0"/>
          </a:p>
        </p:txBody>
      </p:sp>
      <p:pic>
        <p:nvPicPr>
          <p:cNvPr id="10" name="image-834" descr="Screenshot: Helper links for recommenders and counselors">    </p:cNvPr>
          <p:cNvPicPr>
            <a:picLocks noChangeAspect="1"/>
          </p:cNvPicPr>
          <p:nvPr/>
        </p:nvPicPr>
        <p:blipFill>
          <a:blip r:embed="rId1"/>
          <a:stretch>
            <a:fillRect/>
          </a:stretch>
        </p:blipFill>
        <p:spPr>
          <a:xfrm>
            <a:off x="685800" y="2095530"/>
            <a:ext cx="5715000" cy="3571921"/>
          </a:xfrm>
          <a:prstGeom prst="rect">
            <a:avLst/>
          </a:prstGeom>
        </p:spPr>
      </p:pic>
      <p:sp>
        <p:nvSpPr>
          <p:cNvPr id="11" name="oval-835"/>
          <p:cNvSpPr/>
          <p:nvPr/>
        </p:nvSpPr>
        <p:spPr>
          <a:xfrm>
            <a:off x="6781830" y="2141708"/>
            <a:ext cx="104790" cy="104790"/>
          </a:xfrm>
          <a:prstGeom prst="ellipse">
            <a:avLst/>
          </a:prstGeom>
          <a:solidFill>
            <a:srgbClr val="EB6834"/>
          </a:solidFill>
          <a:ln/>
        </p:spPr>
      </p:sp>
      <p:sp>
        <p:nvSpPr>
          <p:cNvPr id="12" name="text-836"/>
          <p:cNvSpPr txBox="1"/>
          <p:nvPr/>
        </p:nvSpPr>
        <p:spPr>
          <a:xfrm>
            <a:off x="6972300" y="210357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837"/>
          <p:cNvSpPr txBox="1"/>
          <p:nvPr/>
        </p:nvSpPr>
        <p:spPr>
          <a:xfrm>
            <a:off x="6781830" y="237030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Teachers write recommendations from memory, and students email activity lists as attachments.</a:t>
            </a:r>
            <a:endParaRPr lang="en-US" sz="1388" dirty="0"/>
          </a:p>
        </p:txBody>
      </p:sp>
      <p:sp>
        <p:nvSpPr>
          <p:cNvPr id="14" name="oval-838"/>
          <p:cNvSpPr/>
          <p:nvPr/>
        </p:nvSpPr>
        <p:spPr>
          <a:xfrm>
            <a:off x="6781830" y="3320918"/>
            <a:ext cx="104790" cy="104790"/>
          </a:xfrm>
          <a:prstGeom prst="ellipse">
            <a:avLst/>
          </a:prstGeom>
          <a:solidFill>
            <a:srgbClr val="2A78D6"/>
          </a:solidFill>
          <a:ln/>
        </p:spPr>
      </p:sp>
      <p:sp>
        <p:nvSpPr>
          <p:cNvPr id="15" name="text-839"/>
          <p:cNvSpPr txBox="1"/>
          <p:nvPr/>
        </p:nvSpPr>
        <p:spPr>
          <a:xfrm>
            <a:off x="6972300" y="3282787"/>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840"/>
          <p:cNvSpPr txBox="1"/>
          <p:nvPr/>
        </p:nvSpPr>
        <p:spPr>
          <a:xfrm>
            <a:off x="6781830" y="3549518"/>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No AI here. The student picks what it shows. It never includes essays, chats, costs, or sensitive facts.</a:t>
            </a:r>
            <a:endParaRPr lang="en-US" sz="1388" dirty="0"/>
          </a:p>
        </p:txBody>
      </p:sp>
      <p:sp>
        <p:nvSpPr>
          <p:cNvPr id="17" name="oval-841"/>
          <p:cNvSpPr/>
          <p:nvPr/>
        </p:nvSpPr>
        <p:spPr>
          <a:xfrm>
            <a:off x="6781830" y="4500128"/>
            <a:ext cx="104790" cy="104790"/>
          </a:xfrm>
          <a:prstGeom prst="ellipse">
            <a:avLst/>
          </a:prstGeom>
          <a:solidFill>
            <a:srgbClr val="1BAF7A"/>
          </a:solidFill>
          <a:ln/>
        </p:spPr>
      </p:sp>
      <p:sp>
        <p:nvSpPr>
          <p:cNvPr id="18" name="text-842"/>
          <p:cNvSpPr txBox="1"/>
          <p:nvPr/>
        </p:nvSpPr>
        <p:spPr>
          <a:xfrm>
            <a:off x="6972300" y="4461998"/>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843"/>
          <p:cNvSpPr txBox="1"/>
          <p:nvPr/>
        </p:nvSpPr>
        <p:spPr>
          <a:xfrm>
            <a:off x="6781830" y="4728728"/>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 student with no one at home who knows the process can still give teachers what they need. Links expire and revoke.</a:t>
            </a:r>
            <a:endParaRPr lang="en-US" sz="1388" dirty="0"/>
          </a:p>
        </p:txBody>
      </p:sp>
      <p:sp>
        <p:nvSpPr>
          <p:cNvPr id="20" name="text-844"/>
          <p:cNvSpPr txBox="1"/>
          <p:nvPr/>
        </p:nvSpPr>
        <p:spPr>
          <a:xfrm>
            <a:off x="609630" y="613407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845"/>
          <p:cNvSpPr/>
          <p:nvPr/>
        </p:nvSpPr>
        <p:spPr>
          <a:xfrm>
            <a:off x="1485900" y="6057900"/>
            <a:ext cx="1724010" cy="285750"/>
          </a:xfrm>
          <a:prstGeom prst="roundRect">
            <a:avLst>
              <a:gd name="adj" fmla="val 50016"/>
            </a:avLst>
          </a:prstGeom>
          <a:solidFill>
            <a:srgbClr val="FFFFFF"/>
          </a:solidFill>
          <a:ln w="9525">
            <a:solidFill>
              <a:srgbClr val="E5E1D7"/>
            </a:solidFill>
            <a:prstDash val="solid"/>
          </a:ln>
        </p:spPr>
      </p:sp>
      <p:sp>
        <p:nvSpPr>
          <p:cNvPr id="22" name="text-846"/>
          <p:cNvSpPr txBox="1"/>
          <p:nvPr/>
        </p:nvSpPr>
        <p:spPr>
          <a:xfrm>
            <a:off x="1485900" y="6124560"/>
            <a:ext cx="172401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Recommender brag sheet</a:t>
            </a:r>
            <a:endParaRPr lang="en-US" sz="1013" dirty="0"/>
          </a:p>
        </p:txBody>
      </p:sp>
      <p:sp>
        <p:nvSpPr>
          <p:cNvPr id="23" name="rect-847"/>
          <p:cNvSpPr/>
          <p:nvPr/>
        </p:nvSpPr>
        <p:spPr>
          <a:xfrm>
            <a:off x="3286171" y="6057900"/>
            <a:ext cx="1181130" cy="285750"/>
          </a:xfrm>
          <a:prstGeom prst="roundRect">
            <a:avLst>
              <a:gd name="adj" fmla="val 50016"/>
            </a:avLst>
          </a:prstGeom>
          <a:solidFill>
            <a:srgbClr val="FFFFFF"/>
          </a:solidFill>
          <a:ln w="9525">
            <a:solidFill>
              <a:srgbClr val="E5E1D7"/>
            </a:solidFill>
            <a:prstDash val="solid"/>
          </a:ln>
        </p:spPr>
      </p:sp>
      <p:sp>
        <p:nvSpPr>
          <p:cNvPr id="24" name="text-848"/>
          <p:cNvSpPr txBox="1"/>
          <p:nvPr/>
        </p:nvSpPr>
        <p:spPr>
          <a:xfrm>
            <a:off x="3286171" y="6124560"/>
            <a:ext cx="11811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Counselor view</a:t>
            </a:r>
            <a:endParaRPr lang="en-US" sz="1013" dirty="0"/>
          </a:p>
        </p:txBody>
      </p:sp>
      <p:sp>
        <p:nvSpPr>
          <p:cNvPr id="25" name="rect-849"/>
          <p:cNvSpPr/>
          <p:nvPr/>
        </p:nvSpPr>
        <p:spPr>
          <a:xfrm>
            <a:off x="4543471" y="6057900"/>
            <a:ext cx="1390620" cy="285750"/>
          </a:xfrm>
          <a:prstGeom prst="roundRect">
            <a:avLst>
              <a:gd name="adj" fmla="val 50016"/>
            </a:avLst>
          </a:prstGeom>
          <a:solidFill>
            <a:srgbClr val="FFFFFF"/>
          </a:solidFill>
          <a:ln w="9525">
            <a:solidFill>
              <a:srgbClr val="E5E1D7"/>
            </a:solidFill>
            <a:prstDash val="solid"/>
          </a:ln>
        </p:spPr>
      </p:sp>
      <p:sp>
        <p:nvSpPr>
          <p:cNvPr id="26" name="text-850"/>
          <p:cNvSpPr txBox="1"/>
          <p:nvPr/>
        </p:nvSpPr>
        <p:spPr>
          <a:xfrm>
            <a:off x="4543471" y="6124560"/>
            <a:ext cx="13906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Chosen categories</a:t>
            </a:r>
            <a:endParaRPr lang="en-US" sz="1013" dirty="0"/>
          </a:p>
        </p:txBody>
      </p:sp>
      <p:sp>
        <p:nvSpPr>
          <p:cNvPr id="27" name="rect-851"/>
          <p:cNvSpPr/>
          <p:nvPr/>
        </p:nvSpPr>
        <p:spPr>
          <a:xfrm>
            <a:off x="6010260" y="6057900"/>
            <a:ext cx="1933590" cy="285750"/>
          </a:xfrm>
          <a:prstGeom prst="roundRect">
            <a:avLst>
              <a:gd name="adj" fmla="val 50016"/>
            </a:avLst>
          </a:prstGeom>
          <a:solidFill>
            <a:srgbClr val="FFFFFF"/>
          </a:solidFill>
          <a:ln w="9525">
            <a:solidFill>
              <a:srgbClr val="E5E1D7"/>
            </a:solidFill>
            <a:prstDash val="solid"/>
          </a:ln>
        </p:spPr>
      </p:sp>
      <p:sp>
        <p:nvSpPr>
          <p:cNvPr id="28" name="text-852"/>
          <p:cNvSpPr txBox="1"/>
          <p:nvPr/>
        </p:nvSpPr>
        <p:spPr>
          <a:xfrm>
            <a:off x="6010260" y="6124560"/>
            <a:ext cx="193359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Request note and due date</a:t>
            </a:r>
            <a:endParaRPr lang="en-US" sz="1013" dirty="0"/>
          </a:p>
        </p:txBody>
      </p:sp>
      <p:sp>
        <p:nvSpPr>
          <p:cNvPr id="29" name="rect-853"/>
          <p:cNvSpPr/>
          <p:nvPr/>
        </p:nvSpPr>
        <p:spPr>
          <a:xfrm>
            <a:off x="8020020" y="6057900"/>
            <a:ext cx="638160" cy="285750"/>
          </a:xfrm>
          <a:prstGeom prst="roundRect">
            <a:avLst>
              <a:gd name="adj" fmla="val 50016"/>
            </a:avLst>
          </a:prstGeom>
          <a:solidFill>
            <a:srgbClr val="FFFFFF"/>
          </a:solidFill>
          <a:ln w="9525">
            <a:solidFill>
              <a:srgbClr val="E5E1D7"/>
            </a:solidFill>
            <a:prstDash val="solid"/>
          </a:ln>
        </p:spPr>
      </p:sp>
      <p:sp>
        <p:nvSpPr>
          <p:cNvPr id="30" name="text-854"/>
          <p:cNvSpPr txBox="1"/>
          <p:nvPr/>
        </p:nvSpPr>
        <p:spPr>
          <a:xfrm>
            <a:off x="8020020" y="6124560"/>
            <a:ext cx="6381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Expiry</a:t>
            </a:r>
            <a:endParaRPr lang="en-US" sz="1013" dirty="0"/>
          </a:p>
        </p:txBody>
      </p:sp>
      <p:sp>
        <p:nvSpPr>
          <p:cNvPr id="31" name="rect-855"/>
          <p:cNvSpPr/>
          <p:nvPr/>
        </p:nvSpPr>
        <p:spPr>
          <a:xfrm>
            <a:off x="8734440" y="6057900"/>
            <a:ext cx="638160" cy="285750"/>
          </a:xfrm>
          <a:prstGeom prst="roundRect">
            <a:avLst>
              <a:gd name="adj" fmla="val 50016"/>
            </a:avLst>
          </a:prstGeom>
          <a:solidFill>
            <a:srgbClr val="FFFFFF"/>
          </a:solidFill>
          <a:ln w="9525">
            <a:solidFill>
              <a:srgbClr val="E5E1D7"/>
            </a:solidFill>
            <a:prstDash val="solid"/>
          </a:ln>
        </p:spPr>
      </p:sp>
      <p:sp>
        <p:nvSpPr>
          <p:cNvPr id="32" name="text-856"/>
          <p:cNvSpPr txBox="1"/>
          <p:nvPr/>
        </p:nvSpPr>
        <p:spPr>
          <a:xfrm>
            <a:off x="8734440" y="6124560"/>
            <a:ext cx="63816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Revoke</a:t>
            </a:r>
            <a:endParaRPr lang="en-US" sz="1013" dirty="0"/>
          </a:p>
        </p:txBody>
      </p:sp>
      <p:sp>
        <p:nvSpPr>
          <p:cNvPr id="33" name="rect-857"/>
          <p:cNvSpPr/>
          <p:nvPr/>
        </p:nvSpPr>
        <p:spPr>
          <a:xfrm>
            <a:off x="9448770" y="6057900"/>
            <a:ext cx="1457371" cy="285750"/>
          </a:xfrm>
          <a:prstGeom prst="roundRect">
            <a:avLst>
              <a:gd name="adj" fmla="val 50016"/>
            </a:avLst>
          </a:prstGeom>
          <a:solidFill>
            <a:srgbClr val="FFFFFF"/>
          </a:solidFill>
          <a:ln w="9525">
            <a:solidFill>
              <a:srgbClr val="E5E1D7"/>
            </a:solidFill>
            <a:prstDash val="solid"/>
          </a:ln>
        </p:spPr>
      </p:sp>
      <p:sp>
        <p:nvSpPr>
          <p:cNvPr id="34" name="text-858"/>
          <p:cNvSpPr txBox="1"/>
          <p:nvPr/>
        </p:nvSpPr>
        <p:spPr>
          <a:xfrm>
            <a:off x="9448770" y="612456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Hours confirmation</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859"/>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BACKGROUND WORK</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The crew keeps working when you don't</a:t>
            </a:r>
            <a:endParaRPr lang="en-US" sz="3600" dirty="0"/>
          </a:p>
        </p:txBody>
      </p:sp>
      <p:sp>
        <p:nvSpPr>
          <p:cNvPr id="4" name="text-861"/>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Scheduled jobs run in each student's time zone and retry on failure.</a:t>
            </a:r>
            <a:endParaRPr lang="en-US" sz="1575" dirty="0"/>
          </a:p>
        </p:txBody>
      </p:sp>
      <p:sp>
        <p:nvSpPr>
          <p:cNvPr id="5" name="rect-862"/>
          <p:cNvSpPr/>
          <p:nvPr/>
        </p:nvSpPr>
        <p:spPr>
          <a:xfrm>
            <a:off x="695310" y="2619390"/>
            <a:ext cx="8961120" cy="28621"/>
          </a:xfrm>
          <a:prstGeom prst="rect">
            <a:avLst/>
          </a:prstGeom>
          <a:solidFill>
            <a:srgbClr val="E5E1D7"/>
          </a:solidFill>
          <a:ln/>
        </p:spPr>
      </p:sp>
      <p:sp>
        <p:nvSpPr>
          <p:cNvPr id="6" name="text-863"/>
          <p:cNvSpPr txBox="1"/>
          <p:nvPr/>
        </p:nvSpPr>
        <p:spPr>
          <a:xfrm>
            <a:off x="609630" y="2019270"/>
            <a:ext cx="201168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E3A5F"/>
                </a:solidFill>
                <a:latin typeface="Arial" pitchFamily="34" charset="0"/>
                <a:ea typeface="Arial" pitchFamily="34" charset="-122"/>
                <a:cs typeface="Arial" pitchFamily="34" charset="-120"/>
              </a:rPr>
              <a:t>EVERY SUNDAY</a:t>
            </a:r>
            <a:endParaRPr lang="en-US" sz="1013" dirty="0"/>
          </a:p>
        </p:txBody>
      </p:sp>
      <p:sp>
        <p:nvSpPr>
          <p:cNvPr id="7" name="oval-864"/>
          <p:cNvSpPr/>
          <p:nvPr/>
        </p:nvSpPr>
        <p:spPr>
          <a:xfrm>
            <a:off x="609630" y="2552730"/>
            <a:ext cx="171450" cy="171450"/>
          </a:xfrm>
          <a:prstGeom prst="ellipse">
            <a:avLst/>
          </a:prstGeom>
          <a:solidFill>
            <a:srgbClr val="EB6834"/>
          </a:solidFill>
          <a:ln w="28575">
            <a:solidFill>
              <a:srgbClr val="FFFFFF"/>
            </a:solidFill>
            <a:prstDash val="solid"/>
          </a:ln>
        </p:spPr>
      </p:sp>
      <p:sp>
        <p:nvSpPr>
          <p:cNvPr id="8" name="rect-865"/>
          <p:cNvSpPr/>
          <p:nvPr/>
        </p:nvSpPr>
        <p:spPr>
          <a:xfrm>
            <a:off x="609630" y="2990820"/>
            <a:ext cx="2011680" cy="2726558"/>
          </a:xfrm>
          <a:prstGeom prst="roundRect">
            <a:avLst>
              <a:gd name="adj" fmla="val 757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9" name="text-866"/>
          <p:cNvSpPr txBox="1"/>
          <p:nvPr/>
        </p:nvSpPr>
        <p:spPr>
          <a:xfrm>
            <a:off x="800100" y="3200400"/>
            <a:ext cx="1630650" cy="533370"/>
          </a:xfrm>
          <a:prstGeom prst="rect">
            <a:avLst/>
          </a:prstGeom>
          <a:noFill/>
          <a:ln/>
        </p:spPr>
        <p:txBody>
          <a:bodyPr wrap="square" lIns="0" tIns="0" rIns="0" bIns="0" rtlCol="0" anchor="t"/>
          <a:lstStyle/>
          <a:p>
            <a:pPr algn="l" indent="0" marL="0">
              <a:lnSpc>
                <a:spcPct val="125000"/>
              </a:lnSpc>
              <a:buNone/>
            </a:pPr>
            <a:r>
              <a:rPr lang="en-US" sz="1575" b="1" dirty="0">
                <a:solidFill>
                  <a:srgbClr val="14202F"/>
                </a:solidFill>
                <a:latin typeface="Arial" pitchFamily="34" charset="0"/>
                <a:ea typeface="Arial" pitchFamily="34" charset="-122"/>
                <a:cs typeface="Arial" pitchFamily="34" charset="-120"/>
              </a:rPr>
              <a:t>Scholarship sweep</a:t>
            </a:r>
            <a:endParaRPr lang="en-US" sz="1575" dirty="0"/>
          </a:p>
        </p:txBody>
      </p:sp>
      <p:sp>
        <p:nvSpPr>
          <p:cNvPr id="10" name="text-867"/>
          <p:cNvSpPr txBox="1"/>
          <p:nvPr/>
        </p:nvSpPr>
        <p:spPr>
          <a:xfrm>
            <a:off x="800100" y="3810030"/>
            <a:ext cx="1630650" cy="1793047"/>
          </a:xfrm>
          <a:prstGeom prst="rect">
            <a:avLst/>
          </a:prstGeom>
          <a:noFill/>
          <a:ln/>
        </p:spPr>
        <p:txBody>
          <a:bodyPr wrap="square" lIns="0" tIns="0" rIns="0" bIns="0" rtlCol="0" anchor="t"/>
          <a:lstStyle/>
          <a:p>
            <a:pPr algn="l" indent="0" marL="0">
              <a:lnSpc>
                <a:spcPct val="145000"/>
              </a:lnSpc>
              <a:buNone/>
            </a:pPr>
            <a:r>
              <a:rPr lang="en-US" sz="1313" dirty="0">
                <a:solidFill>
                  <a:srgbClr val="3B4555"/>
                </a:solidFill>
                <a:latin typeface="Arial" pitchFamily="34" charset="0"/>
                <a:ea typeface="Arial" pitchFamily="34" charset="-122"/>
                <a:cs typeface="Arial" pitchFamily="34" charset="-120"/>
              </a:rPr>
              <a:t>Scout re-runs matching for every active student and notifies them about new matches.</a:t>
            </a:r>
            <a:endParaRPr lang="en-US" sz="1313" dirty="0"/>
          </a:p>
        </p:txBody>
      </p:sp>
      <p:sp>
        <p:nvSpPr>
          <p:cNvPr id="11" name="text-868"/>
          <p:cNvSpPr txBox="1"/>
          <p:nvPr/>
        </p:nvSpPr>
        <p:spPr>
          <a:xfrm>
            <a:off x="2849910" y="2019270"/>
            <a:ext cx="201168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E3A5F"/>
                </a:solidFill>
                <a:latin typeface="Arial" pitchFamily="34" charset="0"/>
                <a:ea typeface="Arial" pitchFamily="34" charset="-122"/>
                <a:cs typeface="Arial" pitchFamily="34" charset="-120"/>
              </a:rPr>
              <a:t>EVERY HOUR</a:t>
            </a:r>
            <a:endParaRPr lang="en-US" sz="1013" dirty="0"/>
          </a:p>
        </p:txBody>
      </p:sp>
      <p:sp>
        <p:nvSpPr>
          <p:cNvPr id="12" name="oval-869"/>
          <p:cNvSpPr/>
          <p:nvPr/>
        </p:nvSpPr>
        <p:spPr>
          <a:xfrm>
            <a:off x="2849910" y="2552730"/>
            <a:ext cx="171450" cy="171450"/>
          </a:xfrm>
          <a:prstGeom prst="ellipse">
            <a:avLst/>
          </a:prstGeom>
          <a:solidFill>
            <a:srgbClr val="1BAF7A"/>
          </a:solidFill>
          <a:ln w="28575">
            <a:solidFill>
              <a:srgbClr val="FFFFFF"/>
            </a:solidFill>
            <a:prstDash val="solid"/>
          </a:ln>
        </p:spPr>
      </p:sp>
      <p:sp>
        <p:nvSpPr>
          <p:cNvPr id="13" name="rect-870"/>
          <p:cNvSpPr/>
          <p:nvPr/>
        </p:nvSpPr>
        <p:spPr>
          <a:xfrm>
            <a:off x="2849910" y="2990820"/>
            <a:ext cx="2011680" cy="2726558"/>
          </a:xfrm>
          <a:prstGeom prst="roundRect">
            <a:avLst>
              <a:gd name="adj" fmla="val 757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4" name="text-871"/>
          <p:cNvSpPr txBox="1"/>
          <p:nvPr/>
        </p:nvSpPr>
        <p:spPr>
          <a:xfrm>
            <a:off x="3040380" y="3200400"/>
            <a:ext cx="1630650" cy="533370"/>
          </a:xfrm>
          <a:prstGeom prst="rect">
            <a:avLst/>
          </a:prstGeom>
          <a:noFill/>
          <a:ln/>
        </p:spPr>
        <p:txBody>
          <a:bodyPr wrap="square" lIns="0" tIns="0" rIns="0" bIns="0" rtlCol="0" anchor="t"/>
          <a:lstStyle/>
          <a:p>
            <a:pPr algn="l" indent="0" marL="0">
              <a:lnSpc>
                <a:spcPct val="125000"/>
              </a:lnSpc>
              <a:buNone/>
            </a:pPr>
            <a:r>
              <a:rPr lang="en-US" sz="1575" b="1" dirty="0">
                <a:solidFill>
                  <a:srgbClr val="14202F"/>
                </a:solidFill>
                <a:latin typeface="Arial" pitchFamily="34" charset="0"/>
                <a:ea typeface="Arial" pitchFamily="34" charset="-122"/>
                <a:cs typeface="Arial" pitchFamily="34" charset="-120"/>
              </a:rPr>
              <a:t>Deadline reminders</a:t>
            </a:r>
            <a:endParaRPr lang="en-US" sz="1575" dirty="0"/>
          </a:p>
        </p:txBody>
      </p:sp>
      <p:sp>
        <p:nvSpPr>
          <p:cNvPr id="15" name="text-872"/>
          <p:cNvSpPr txBox="1"/>
          <p:nvPr/>
        </p:nvSpPr>
        <p:spPr>
          <a:xfrm>
            <a:off x="3040380" y="3810030"/>
            <a:ext cx="1630650" cy="1793047"/>
          </a:xfrm>
          <a:prstGeom prst="rect">
            <a:avLst/>
          </a:prstGeom>
          <a:noFill/>
          <a:ln/>
        </p:spPr>
        <p:txBody>
          <a:bodyPr wrap="square" lIns="0" tIns="0" rIns="0" bIns="0" rtlCol="0" anchor="t"/>
          <a:lstStyle/>
          <a:p>
            <a:pPr algn="l" indent="0" marL="0">
              <a:lnSpc>
                <a:spcPct val="145000"/>
              </a:lnSpc>
              <a:buNone/>
            </a:pPr>
            <a:r>
              <a:rPr lang="en-US" sz="1313" dirty="0">
                <a:solidFill>
                  <a:srgbClr val="3B4555"/>
                </a:solidFill>
                <a:latin typeface="Arial" pitchFamily="34" charset="0"/>
                <a:ea typeface="Arial" pitchFamily="34" charset="-122"/>
                <a:cs typeface="Arial" pitchFamily="34" charset="-120"/>
              </a:rPr>
              <a:t>Reminders 7, 3, and 1 day before each deadline, sent once. Optional 1-day text messages.</a:t>
            </a:r>
            <a:endParaRPr lang="en-US" sz="1313" dirty="0"/>
          </a:p>
        </p:txBody>
      </p:sp>
      <p:sp>
        <p:nvSpPr>
          <p:cNvPr id="16" name="text-873"/>
          <p:cNvSpPr txBox="1"/>
          <p:nvPr/>
        </p:nvSpPr>
        <p:spPr>
          <a:xfrm>
            <a:off x="5090190" y="2019270"/>
            <a:ext cx="201168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E3A5F"/>
                </a:solidFill>
                <a:latin typeface="Arial" pitchFamily="34" charset="0"/>
                <a:ea typeface="Arial" pitchFamily="34" charset="-122"/>
                <a:cs typeface="Arial" pitchFamily="34" charset="-120"/>
              </a:rPr>
              <a:t>YOUR CHOSEN DAY</a:t>
            </a:r>
            <a:endParaRPr lang="en-US" sz="1013" dirty="0"/>
          </a:p>
        </p:txBody>
      </p:sp>
      <p:sp>
        <p:nvSpPr>
          <p:cNvPr id="17" name="oval-874"/>
          <p:cNvSpPr/>
          <p:nvPr/>
        </p:nvSpPr>
        <p:spPr>
          <a:xfrm>
            <a:off x="5090190" y="2552730"/>
            <a:ext cx="171450" cy="171450"/>
          </a:xfrm>
          <a:prstGeom prst="ellipse">
            <a:avLst/>
          </a:prstGeom>
          <a:solidFill>
            <a:srgbClr val="2A78D6"/>
          </a:solidFill>
          <a:ln w="28575">
            <a:solidFill>
              <a:srgbClr val="FFFFFF"/>
            </a:solidFill>
            <a:prstDash val="solid"/>
          </a:ln>
        </p:spPr>
      </p:sp>
      <p:sp>
        <p:nvSpPr>
          <p:cNvPr id="18" name="rect-875"/>
          <p:cNvSpPr/>
          <p:nvPr/>
        </p:nvSpPr>
        <p:spPr>
          <a:xfrm>
            <a:off x="5090190" y="2990820"/>
            <a:ext cx="2011680" cy="2726558"/>
          </a:xfrm>
          <a:prstGeom prst="roundRect">
            <a:avLst>
              <a:gd name="adj" fmla="val 757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9" name="text-876"/>
          <p:cNvSpPr txBox="1"/>
          <p:nvPr/>
        </p:nvSpPr>
        <p:spPr>
          <a:xfrm>
            <a:off x="5280660" y="3200400"/>
            <a:ext cx="1630650" cy="533370"/>
          </a:xfrm>
          <a:prstGeom prst="rect">
            <a:avLst/>
          </a:prstGeom>
          <a:noFill/>
          <a:ln/>
        </p:spPr>
        <p:txBody>
          <a:bodyPr wrap="square" lIns="0" tIns="0" rIns="0" bIns="0" rtlCol="0" anchor="t"/>
          <a:lstStyle/>
          <a:p>
            <a:pPr algn="l" indent="0" marL="0">
              <a:lnSpc>
                <a:spcPct val="125000"/>
              </a:lnSpc>
              <a:buNone/>
            </a:pPr>
            <a:r>
              <a:rPr lang="en-US" sz="1575" b="1" dirty="0">
                <a:solidFill>
                  <a:srgbClr val="14202F"/>
                </a:solidFill>
                <a:latin typeface="Arial" pitchFamily="34" charset="0"/>
                <a:ea typeface="Arial" pitchFamily="34" charset="-122"/>
                <a:cs typeface="Arial" pitchFamily="34" charset="-120"/>
              </a:rPr>
              <a:t>Weekly digest</a:t>
            </a:r>
            <a:endParaRPr lang="en-US" sz="1575" dirty="0"/>
          </a:p>
        </p:txBody>
      </p:sp>
      <p:sp>
        <p:nvSpPr>
          <p:cNvPr id="20" name="text-877"/>
          <p:cNvSpPr txBox="1"/>
          <p:nvPr/>
        </p:nvSpPr>
        <p:spPr>
          <a:xfrm>
            <a:off x="5280660" y="3810030"/>
            <a:ext cx="1630650" cy="1793047"/>
          </a:xfrm>
          <a:prstGeom prst="rect">
            <a:avLst/>
          </a:prstGeom>
          <a:noFill/>
          <a:ln/>
        </p:spPr>
        <p:txBody>
          <a:bodyPr wrap="square" lIns="0" tIns="0" rIns="0" bIns="0" rtlCol="0" anchor="t"/>
          <a:lstStyle/>
          <a:p>
            <a:pPr algn="l" indent="0" marL="0">
              <a:lnSpc>
                <a:spcPct val="145000"/>
              </a:lnSpc>
              <a:buNone/>
            </a:pPr>
            <a:r>
              <a:rPr lang="en-US" sz="1313" dirty="0">
                <a:solidFill>
                  <a:srgbClr val="3B4555"/>
                </a:solidFill>
                <a:latin typeface="Arial" pitchFamily="34" charset="0"/>
                <a:ea typeface="Arial" pitchFamily="34" charset="-122"/>
                <a:cs typeface="Arial" pitchFamily="34" charset="-120"/>
              </a:rPr>
              <a:t>One email with the plan, deadlines, and new matches. Skipped when nothing is new.</a:t>
            </a:r>
            <a:endParaRPr lang="en-US" sz="1313" dirty="0"/>
          </a:p>
        </p:txBody>
      </p:sp>
      <p:sp>
        <p:nvSpPr>
          <p:cNvPr id="21" name="text-878"/>
          <p:cNvSpPr txBox="1"/>
          <p:nvPr/>
        </p:nvSpPr>
        <p:spPr>
          <a:xfrm>
            <a:off x="7330470" y="2019270"/>
            <a:ext cx="201168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E3A5F"/>
                </a:solidFill>
                <a:latin typeface="Arial" pitchFamily="34" charset="0"/>
                <a:ea typeface="Arial" pitchFamily="34" charset="-122"/>
                <a:cs typeface="Arial" pitchFamily="34" charset="-120"/>
              </a:rPr>
              <a:t>EVERY NIGHT</a:t>
            </a:r>
            <a:endParaRPr lang="en-US" sz="1013" dirty="0"/>
          </a:p>
        </p:txBody>
      </p:sp>
      <p:sp>
        <p:nvSpPr>
          <p:cNvPr id="22" name="oval-879"/>
          <p:cNvSpPr/>
          <p:nvPr/>
        </p:nvSpPr>
        <p:spPr>
          <a:xfrm>
            <a:off x="7330470" y="2552730"/>
            <a:ext cx="171450" cy="171450"/>
          </a:xfrm>
          <a:prstGeom prst="ellipse">
            <a:avLst/>
          </a:prstGeom>
          <a:solidFill>
            <a:srgbClr val="008300"/>
          </a:solidFill>
          <a:ln w="28575">
            <a:solidFill>
              <a:srgbClr val="FFFFFF"/>
            </a:solidFill>
            <a:prstDash val="solid"/>
          </a:ln>
        </p:spPr>
      </p:sp>
      <p:sp>
        <p:nvSpPr>
          <p:cNvPr id="23" name="rect-880"/>
          <p:cNvSpPr/>
          <p:nvPr/>
        </p:nvSpPr>
        <p:spPr>
          <a:xfrm>
            <a:off x="7330470" y="2990820"/>
            <a:ext cx="2011680" cy="2726558"/>
          </a:xfrm>
          <a:prstGeom prst="roundRect">
            <a:avLst>
              <a:gd name="adj" fmla="val 757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4" name="text-881"/>
          <p:cNvSpPr txBox="1"/>
          <p:nvPr/>
        </p:nvSpPr>
        <p:spPr>
          <a:xfrm>
            <a:off x="7520940" y="3200400"/>
            <a:ext cx="1630650" cy="533370"/>
          </a:xfrm>
          <a:prstGeom prst="rect">
            <a:avLst/>
          </a:prstGeom>
          <a:noFill/>
          <a:ln/>
        </p:spPr>
        <p:txBody>
          <a:bodyPr wrap="square" lIns="0" tIns="0" rIns="0" bIns="0" rtlCol="0" anchor="t"/>
          <a:lstStyle/>
          <a:p>
            <a:pPr algn="l" indent="0" marL="0">
              <a:lnSpc>
                <a:spcPct val="125000"/>
              </a:lnSpc>
              <a:buNone/>
            </a:pPr>
            <a:r>
              <a:rPr lang="en-US" sz="1575" b="1" dirty="0">
                <a:solidFill>
                  <a:srgbClr val="14202F"/>
                </a:solidFill>
                <a:latin typeface="Arial" pitchFamily="34" charset="0"/>
                <a:ea typeface="Arial" pitchFamily="34" charset="-122"/>
                <a:cs typeface="Arial" pitchFamily="34" charset="-120"/>
              </a:rPr>
              <a:t>Catalog re-check</a:t>
            </a:r>
            <a:endParaRPr lang="en-US" sz="1575" dirty="0"/>
          </a:p>
        </p:txBody>
      </p:sp>
      <p:sp>
        <p:nvSpPr>
          <p:cNvPr id="25" name="text-882"/>
          <p:cNvSpPr txBox="1"/>
          <p:nvPr/>
        </p:nvSpPr>
        <p:spPr>
          <a:xfrm>
            <a:off x="7520940" y="3810030"/>
            <a:ext cx="1630650" cy="1793047"/>
          </a:xfrm>
          <a:prstGeom prst="rect">
            <a:avLst/>
          </a:prstGeom>
          <a:noFill/>
          <a:ln/>
        </p:spPr>
        <p:txBody>
          <a:bodyPr wrap="square" lIns="0" tIns="0" rIns="0" bIns="0" rtlCol="0" anchor="t"/>
          <a:lstStyle/>
          <a:p>
            <a:pPr algn="l" indent="0" marL="0">
              <a:lnSpc>
                <a:spcPct val="145000"/>
              </a:lnSpc>
              <a:buNone/>
            </a:pPr>
            <a:r>
              <a:rPr lang="en-US" sz="1313" dirty="0">
                <a:solidFill>
                  <a:srgbClr val="3B4555"/>
                </a:solidFill>
                <a:latin typeface="Arial" pitchFamily="34" charset="0"/>
                <a:ea typeface="Arial" pitchFamily="34" charset="-122"/>
                <a:cs typeface="Arial" pitchFamily="34" charset="-120"/>
              </a:rPr>
              <a:t>Listings older than 30 days or due within 45 are re-fetched. Changes mark them stale.</a:t>
            </a:r>
            <a:endParaRPr lang="en-US" sz="1313" dirty="0"/>
          </a:p>
        </p:txBody>
      </p:sp>
      <p:sp>
        <p:nvSpPr>
          <p:cNvPr id="26" name="text-883"/>
          <p:cNvSpPr txBox="1"/>
          <p:nvPr/>
        </p:nvSpPr>
        <p:spPr>
          <a:xfrm>
            <a:off x="9570750" y="2019270"/>
            <a:ext cx="201168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E3A5F"/>
                </a:solidFill>
                <a:latin typeface="Arial" pitchFamily="34" charset="0"/>
                <a:ea typeface="Arial" pitchFamily="34" charset="-122"/>
                <a:cs typeface="Arial" pitchFamily="34" charset="-120"/>
              </a:rPr>
              <a:t>ON DEMAND</a:t>
            </a:r>
            <a:endParaRPr lang="en-US" sz="1013" dirty="0"/>
          </a:p>
        </p:txBody>
      </p:sp>
      <p:sp>
        <p:nvSpPr>
          <p:cNvPr id="27" name="oval-884"/>
          <p:cNvSpPr/>
          <p:nvPr/>
        </p:nvSpPr>
        <p:spPr>
          <a:xfrm>
            <a:off x="9570750" y="2552730"/>
            <a:ext cx="171450" cy="171450"/>
          </a:xfrm>
          <a:prstGeom prst="ellipse">
            <a:avLst/>
          </a:prstGeom>
          <a:solidFill>
            <a:srgbClr val="4A3AA7"/>
          </a:solidFill>
          <a:ln w="28575">
            <a:solidFill>
              <a:srgbClr val="FFFFFF"/>
            </a:solidFill>
            <a:prstDash val="solid"/>
          </a:ln>
        </p:spPr>
      </p:sp>
      <p:sp>
        <p:nvSpPr>
          <p:cNvPr id="28" name="rect-885"/>
          <p:cNvSpPr/>
          <p:nvPr/>
        </p:nvSpPr>
        <p:spPr>
          <a:xfrm>
            <a:off x="9570750" y="2990820"/>
            <a:ext cx="2011680" cy="2726558"/>
          </a:xfrm>
          <a:prstGeom prst="roundRect">
            <a:avLst>
              <a:gd name="adj" fmla="val 7577"/>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9" name="text-886"/>
          <p:cNvSpPr txBox="1"/>
          <p:nvPr/>
        </p:nvSpPr>
        <p:spPr>
          <a:xfrm>
            <a:off x="9761220" y="3200400"/>
            <a:ext cx="1630650" cy="533370"/>
          </a:xfrm>
          <a:prstGeom prst="rect">
            <a:avLst/>
          </a:prstGeom>
          <a:noFill/>
          <a:ln/>
        </p:spPr>
        <p:txBody>
          <a:bodyPr wrap="square" lIns="0" tIns="0" rIns="0" bIns="0" rtlCol="0" anchor="t"/>
          <a:lstStyle/>
          <a:p>
            <a:pPr algn="l" indent="0" marL="0">
              <a:lnSpc>
                <a:spcPct val="125000"/>
              </a:lnSpc>
              <a:buNone/>
            </a:pPr>
            <a:r>
              <a:rPr lang="en-US" sz="1575" b="1" dirty="0">
                <a:solidFill>
                  <a:srgbClr val="14202F"/>
                </a:solidFill>
                <a:latin typeface="Arial" pitchFamily="34" charset="0"/>
                <a:ea typeface="Arial" pitchFamily="34" charset="-122"/>
                <a:cs typeface="Arial" pitchFamily="34" charset="-120"/>
              </a:rPr>
              <a:t>Crew jobs</a:t>
            </a:r>
            <a:endParaRPr lang="en-US" sz="1575" dirty="0"/>
          </a:p>
        </p:txBody>
      </p:sp>
      <p:sp>
        <p:nvSpPr>
          <p:cNvPr id="30" name="text-887"/>
          <p:cNvSpPr txBox="1"/>
          <p:nvPr/>
        </p:nvSpPr>
        <p:spPr>
          <a:xfrm>
            <a:off x="9761220" y="3810030"/>
            <a:ext cx="1630650" cy="1793047"/>
          </a:xfrm>
          <a:prstGeom prst="rect">
            <a:avLst/>
          </a:prstGeom>
          <a:noFill/>
          <a:ln/>
        </p:spPr>
        <p:txBody>
          <a:bodyPr wrap="square" lIns="0" tIns="0" rIns="0" bIns="0" rtlCol="0" anchor="t"/>
          <a:lstStyle/>
          <a:p>
            <a:pPr algn="l" indent="0" marL="0">
              <a:lnSpc>
                <a:spcPct val="145000"/>
              </a:lnSpc>
              <a:buNone/>
            </a:pPr>
            <a:r>
              <a:rPr lang="en-US" sz="1313" dirty="0">
                <a:solidFill>
                  <a:srgbClr val="3B4555"/>
                </a:solidFill>
                <a:latin typeface="Arial" pitchFamily="34" charset="0"/>
                <a:ea typeface="Arial" pitchFamily="34" charset="-122"/>
                <a:cs typeface="Arial" pitchFamily="34" charset="-120"/>
              </a:rPr>
              <a:t>Chat replies, essay reviews, letter parsing, and exports run with retries and live progress.</a:t>
            </a:r>
            <a:endParaRPr lang="en-US" sz="13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888"/>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MOBILE</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Built for the phone in their pocket</a:t>
            </a:r>
            <a:endParaRPr lang="en-US" sz="3600" dirty="0"/>
          </a:p>
        </p:txBody>
      </p:sp>
      <p:sp>
        <p:nvSpPr>
          <p:cNvPr id="4" name="text-890"/>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Every screen works down to 320 pixels wide, with a bottom tab bar and a More menu.</a:t>
            </a:r>
            <a:endParaRPr lang="en-US" sz="1575" dirty="0"/>
          </a:p>
        </p:txBody>
      </p:sp>
      <p:sp>
        <p:nvSpPr>
          <p:cNvPr id="5" name="rect-891"/>
          <p:cNvSpPr/>
          <p:nvPr/>
        </p:nvSpPr>
        <p:spPr>
          <a:xfrm>
            <a:off x="1543050" y="1809780"/>
            <a:ext cx="1790670" cy="3695730"/>
          </a:xfrm>
          <a:prstGeom prst="roundRect">
            <a:avLst>
              <a:gd name="adj" fmla="val 13828"/>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pic>
        <p:nvPicPr>
          <p:cNvPr id="6" name="image-892" descr="Screenshot: Built for the phone in their pocket">    </p:cNvPr>
          <p:cNvPicPr>
            <a:picLocks noChangeAspect="1"/>
          </p:cNvPicPr>
          <p:nvPr/>
        </p:nvPicPr>
        <p:blipFill>
          <a:blip r:embed="rId1"/>
          <a:stretch>
            <a:fillRect/>
          </a:stretch>
        </p:blipFill>
        <p:spPr>
          <a:xfrm>
            <a:off x="1619220" y="1885950"/>
            <a:ext cx="1638330" cy="3543300"/>
          </a:xfrm>
          <a:prstGeom prst="rect">
            <a:avLst/>
          </a:prstGeom>
        </p:spPr>
      </p:pic>
      <p:sp>
        <p:nvSpPr>
          <p:cNvPr id="7" name="text-893"/>
          <p:cNvSpPr txBox="1"/>
          <p:nvPr/>
        </p:nvSpPr>
        <p:spPr>
          <a:xfrm>
            <a:off x="800100" y="5715000"/>
            <a:ext cx="3276570" cy="247620"/>
          </a:xfrm>
          <a:prstGeom prst="rect">
            <a:avLst/>
          </a:prstGeom>
          <a:noFill/>
          <a:ln/>
        </p:spPr>
        <p:txBody>
          <a:bodyPr wrap="square" lIns="0" tIns="0" rIns="0" bIns="0" rtlCol="0" anchor="t"/>
          <a:lstStyle/>
          <a:p>
            <a:pPr algn="ctr" indent="0" marL="0">
              <a:lnSpc>
                <a:spcPct val="120000"/>
              </a:lnSpc>
              <a:buNone/>
            </a:pPr>
            <a:r>
              <a:rPr lang="en-US" sz="1575" b="1" dirty="0">
                <a:solidFill>
                  <a:srgbClr val="14202F"/>
                </a:solidFill>
                <a:latin typeface="Arial" pitchFamily="34" charset="0"/>
                <a:ea typeface="Arial" pitchFamily="34" charset="-122"/>
                <a:cs typeface="Arial" pitchFamily="34" charset="-120"/>
              </a:rPr>
              <a:t>This week</a:t>
            </a:r>
            <a:endParaRPr lang="en-US" sz="1575" dirty="0"/>
          </a:p>
        </p:txBody>
      </p:sp>
      <p:sp>
        <p:nvSpPr>
          <p:cNvPr id="8" name="text-894"/>
          <p:cNvSpPr txBox="1"/>
          <p:nvPr/>
        </p:nvSpPr>
        <p:spPr>
          <a:xfrm>
            <a:off x="800100" y="6000750"/>
            <a:ext cx="3276570" cy="476220"/>
          </a:xfrm>
          <a:prstGeom prst="rect">
            <a:avLst/>
          </a:prstGeom>
          <a:noFill/>
          <a:ln/>
        </p:spPr>
        <p:txBody>
          <a:bodyPr wrap="square" lIns="0" tIns="0" rIns="0" bIns="0" rtlCol="0" anchor="t"/>
          <a:lstStyle/>
          <a:p>
            <a:pPr algn="ctr" indent="0" marL="0">
              <a:lnSpc>
                <a:spcPct val="140000"/>
              </a:lnSpc>
              <a:buNone/>
            </a:pPr>
            <a:r>
              <a:rPr lang="en-US" sz="1275" dirty="0">
                <a:solidFill>
                  <a:srgbClr val="3B4555"/>
                </a:solidFill>
                <a:latin typeface="Arial" pitchFamily="34" charset="0"/>
                <a:ea typeface="Arial" pitchFamily="34" charset="-122"/>
                <a:cs typeface="Arial" pitchFamily="34" charset="-120"/>
              </a:rPr>
              <a:t>Next step, plan, gap, and deadlines in one scroll.</a:t>
            </a:r>
            <a:endParaRPr lang="en-US" sz="1275" dirty="0"/>
          </a:p>
        </p:txBody>
      </p:sp>
      <p:sp>
        <p:nvSpPr>
          <p:cNvPr id="9" name="rect-895"/>
          <p:cNvSpPr/>
          <p:nvPr/>
        </p:nvSpPr>
        <p:spPr>
          <a:xfrm>
            <a:off x="5200650" y="1809780"/>
            <a:ext cx="1790670" cy="3695730"/>
          </a:xfrm>
          <a:prstGeom prst="roundRect">
            <a:avLst>
              <a:gd name="adj" fmla="val 13828"/>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pic>
        <p:nvPicPr>
          <p:cNvPr id="10" name="image-896" descr="Screenshot: Built for the phone in their pocket">    </p:cNvPr>
          <p:cNvPicPr>
            <a:picLocks noChangeAspect="1"/>
          </p:cNvPicPr>
          <p:nvPr/>
        </p:nvPicPr>
        <p:blipFill>
          <a:blip r:embed="rId2"/>
          <a:stretch>
            <a:fillRect/>
          </a:stretch>
        </p:blipFill>
        <p:spPr>
          <a:xfrm>
            <a:off x="5276820" y="1885950"/>
            <a:ext cx="1638330" cy="3543300"/>
          </a:xfrm>
          <a:prstGeom prst="rect">
            <a:avLst/>
          </a:prstGeom>
        </p:spPr>
      </p:pic>
      <p:sp>
        <p:nvSpPr>
          <p:cNvPr id="11" name="text-897"/>
          <p:cNvSpPr txBox="1"/>
          <p:nvPr/>
        </p:nvSpPr>
        <p:spPr>
          <a:xfrm>
            <a:off x="4457700" y="5715000"/>
            <a:ext cx="3276570" cy="247620"/>
          </a:xfrm>
          <a:prstGeom prst="rect">
            <a:avLst/>
          </a:prstGeom>
          <a:noFill/>
          <a:ln/>
        </p:spPr>
        <p:txBody>
          <a:bodyPr wrap="square" lIns="0" tIns="0" rIns="0" bIns="0" rtlCol="0" anchor="t"/>
          <a:lstStyle/>
          <a:p>
            <a:pPr algn="ctr" indent="0" marL="0">
              <a:lnSpc>
                <a:spcPct val="120000"/>
              </a:lnSpc>
              <a:buNone/>
            </a:pPr>
            <a:r>
              <a:rPr lang="en-US" sz="1575" b="1" dirty="0">
                <a:solidFill>
                  <a:srgbClr val="14202F"/>
                </a:solidFill>
                <a:latin typeface="Arial" pitchFamily="34" charset="0"/>
                <a:ea typeface="Arial" pitchFamily="34" charset="-122"/>
                <a:cs typeface="Arial" pitchFamily="34" charset="-120"/>
              </a:rPr>
              <a:t>Crew chat</a:t>
            </a:r>
            <a:endParaRPr lang="en-US" sz="1575" dirty="0"/>
          </a:p>
        </p:txBody>
      </p:sp>
      <p:sp>
        <p:nvSpPr>
          <p:cNvPr id="12" name="text-898"/>
          <p:cNvSpPr txBox="1"/>
          <p:nvPr/>
        </p:nvSpPr>
        <p:spPr>
          <a:xfrm>
            <a:off x="4457700" y="6000750"/>
            <a:ext cx="3276570" cy="476220"/>
          </a:xfrm>
          <a:prstGeom prst="rect">
            <a:avLst/>
          </a:prstGeom>
          <a:noFill/>
          <a:ln/>
        </p:spPr>
        <p:txBody>
          <a:bodyPr wrap="square" lIns="0" tIns="0" rIns="0" bIns="0" rtlCol="0" anchor="t"/>
          <a:lstStyle/>
          <a:p>
            <a:pPr algn="ctr" indent="0" marL="0">
              <a:lnSpc>
                <a:spcPct val="140000"/>
              </a:lnSpc>
              <a:buNone/>
            </a:pPr>
            <a:r>
              <a:rPr lang="en-US" sz="1275" dirty="0">
                <a:solidFill>
                  <a:srgbClr val="3B4555"/>
                </a:solidFill>
                <a:latin typeface="Arial" pitchFamily="34" charset="0"/>
                <a:ea typeface="Arial" pitchFamily="34" charset="-122"/>
                <a:cs typeface="Arial" pitchFamily="34" charset="-120"/>
              </a:rPr>
              <a:t>Replies with receipts and one-tap action cards.</a:t>
            </a:r>
            <a:endParaRPr lang="en-US" sz="1275" dirty="0"/>
          </a:p>
        </p:txBody>
      </p:sp>
      <p:sp>
        <p:nvSpPr>
          <p:cNvPr id="13" name="rect-899"/>
          <p:cNvSpPr/>
          <p:nvPr/>
        </p:nvSpPr>
        <p:spPr>
          <a:xfrm>
            <a:off x="8858250" y="1809780"/>
            <a:ext cx="1790670" cy="3695730"/>
          </a:xfrm>
          <a:prstGeom prst="roundRect">
            <a:avLst>
              <a:gd name="adj" fmla="val 13828"/>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pic>
        <p:nvPicPr>
          <p:cNvPr id="14" name="image-900" descr="Screenshot: Built for the phone in their pocket">    </p:cNvPr>
          <p:cNvPicPr>
            <a:picLocks noChangeAspect="1"/>
          </p:cNvPicPr>
          <p:nvPr/>
        </p:nvPicPr>
        <p:blipFill>
          <a:blip r:embed="rId3"/>
          <a:stretch>
            <a:fillRect/>
          </a:stretch>
        </p:blipFill>
        <p:spPr>
          <a:xfrm>
            <a:off x="8934420" y="1885950"/>
            <a:ext cx="1638330" cy="3543300"/>
          </a:xfrm>
          <a:prstGeom prst="rect">
            <a:avLst/>
          </a:prstGeom>
        </p:spPr>
      </p:pic>
      <p:sp>
        <p:nvSpPr>
          <p:cNvPr id="15" name="text-901"/>
          <p:cNvSpPr txBox="1"/>
          <p:nvPr/>
        </p:nvSpPr>
        <p:spPr>
          <a:xfrm>
            <a:off x="8115300" y="5715000"/>
            <a:ext cx="3276570" cy="247620"/>
          </a:xfrm>
          <a:prstGeom prst="rect">
            <a:avLst/>
          </a:prstGeom>
          <a:noFill/>
          <a:ln/>
        </p:spPr>
        <p:txBody>
          <a:bodyPr wrap="square" lIns="0" tIns="0" rIns="0" bIns="0" rtlCol="0" anchor="t"/>
          <a:lstStyle/>
          <a:p>
            <a:pPr algn="ctr" indent="0" marL="0">
              <a:lnSpc>
                <a:spcPct val="120000"/>
              </a:lnSpc>
              <a:buNone/>
            </a:pPr>
            <a:r>
              <a:rPr lang="en-US" sz="1575" b="1" dirty="0">
                <a:solidFill>
                  <a:srgbClr val="14202F"/>
                </a:solidFill>
                <a:latin typeface="Arial" pitchFamily="34" charset="0"/>
                <a:ea typeface="Arial" pitchFamily="34" charset="-122"/>
                <a:cs typeface="Arial" pitchFamily="34" charset="-120"/>
              </a:rPr>
              <a:t>Scholarships</a:t>
            </a:r>
            <a:endParaRPr lang="en-US" sz="1575" dirty="0"/>
          </a:p>
        </p:txBody>
      </p:sp>
      <p:sp>
        <p:nvSpPr>
          <p:cNvPr id="16" name="text-902"/>
          <p:cNvSpPr txBox="1"/>
          <p:nvPr/>
        </p:nvSpPr>
        <p:spPr>
          <a:xfrm>
            <a:off x="8115300" y="6000750"/>
            <a:ext cx="3276570" cy="476220"/>
          </a:xfrm>
          <a:prstGeom prst="rect">
            <a:avLst/>
          </a:prstGeom>
          <a:noFill/>
          <a:ln/>
        </p:spPr>
        <p:txBody>
          <a:bodyPr wrap="square" lIns="0" tIns="0" rIns="0" bIns="0" rtlCol="0" anchor="t"/>
          <a:lstStyle/>
          <a:p>
            <a:pPr algn="ctr" indent="0" marL="0">
              <a:lnSpc>
                <a:spcPct val="140000"/>
              </a:lnSpc>
              <a:buNone/>
            </a:pPr>
            <a:r>
              <a:rPr lang="en-US" sz="1275" dirty="0">
                <a:solidFill>
                  <a:srgbClr val="3B4555"/>
                </a:solidFill>
                <a:latin typeface="Arial" pitchFamily="34" charset="0"/>
                <a:ea typeface="Arial" pitchFamily="34" charset="-122"/>
                <a:cs typeface="Arial" pitchFamily="34" charset="-120"/>
              </a:rPr>
              <a:t>The board as stacked columns, with every action.</a:t>
            </a:r>
            <a:endParaRPr lang="en-US" sz="1275"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903"/>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PUBLIC SITE</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Free tools, no account needed</a:t>
            </a:r>
            <a:endParaRPr lang="en-US" sz="3600" dirty="0"/>
          </a:p>
        </p:txBody>
      </p:sp>
      <p:sp>
        <p:nvSpPr>
          <p:cNvPr id="4" name="text-905"/>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Useful on day one, and an honest way to meet the crew.</a:t>
            </a:r>
            <a:endParaRPr lang="en-US" sz="1575" dirty="0"/>
          </a:p>
        </p:txBody>
      </p:sp>
      <p:sp>
        <p:nvSpPr>
          <p:cNvPr id="5" name="rect-906"/>
          <p:cNvSpPr/>
          <p:nvPr/>
        </p:nvSpPr>
        <p:spPr>
          <a:xfrm>
            <a:off x="609630" y="1904970"/>
            <a:ext cx="3429000" cy="2390790"/>
          </a:xfrm>
          <a:prstGeom prst="roundRect">
            <a:avLst>
              <a:gd name="adj" fmla="val 557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907"/>
          <p:cNvSpPr/>
          <p:nvPr/>
        </p:nvSpPr>
        <p:spPr>
          <a:xfrm>
            <a:off x="742950" y="2000250"/>
            <a:ext cx="85771" cy="85771"/>
          </a:xfrm>
          <a:prstGeom prst="ellipse">
            <a:avLst/>
          </a:prstGeom>
          <a:solidFill>
            <a:srgbClr val="FF5F57"/>
          </a:solidFill>
          <a:ln/>
        </p:spPr>
      </p:sp>
      <p:sp>
        <p:nvSpPr>
          <p:cNvPr id="7" name="oval-908"/>
          <p:cNvSpPr/>
          <p:nvPr/>
        </p:nvSpPr>
        <p:spPr>
          <a:xfrm>
            <a:off x="876270" y="2000250"/>
            <a:ext cx="85771" cy="85771"/>
          </a:xfrm>
          <a:prstGeom prst="ellipse">
            <a:avLst/>
          </a:prstGeom>
          <a:solidFill>
            <a:srgbClr val="FEBC2E"/>
          </a:solidFill>
          <a:ln/>
        </p:spPr>
      </p:sp>
      <p:sp>
        <p:nvSpPr>
          <p:cNvPr id="8" name="oval-909"/>
          <p:cNvSpPr/>
          <p:nvPr/>
        </p:nvSpPr>
        <p:spPr>
          <a:xfrm>
            <a:off x="1009680" y="2000250"/>
            <a:ext cx="85771" cy="85771"/>
          </a:xfrm>
          <a:prstGeom prst="ellipse">
            <a:avLst/>
          </a:prstGeom>
          <a:solidFill>
            <a:srgbClr val="28C840"/>
          </a:solidFill>
          <a:ln/>
        </p:spPr>
      </p:sp>
      <p:sp>
        <p:nvSpPr>
          <p:cNvPr id="9" name="text-910"/>
          <p:cNvSpPr txBox="1"/>
          <p:nvPr/>
        </p:nvSpPr>
        <p:spPr>
          <a:xfrm>
            <a:off x="1200150" y="1962120"/>
            <a:ext cx="266703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a:t>
            </a:r>
            <a:endParaRPr lang="en-US" sz="900" dirty="0"/>
          </a:p>
        </p:txBody>
      </p:sp>
      <p:pic>
        <p:nvPicPr>
          <p:cNvPr id="10" name="image-911" descr="Screenshot: Free tools, no account needed">    </p:cNvPr>
          <p:cNvPicPr>
            <a:picLocks noChangeAspect="1"/>
          </p:cNvPicPr>
          <p:nvPr/>
        </p:nvPicPr>
        <p:blipFill>
          <a:blip r:embed="rId1"/>
          <a:stretch>
            <a:fillRect/>
          </a:stretch>
        </p:blipFill>
        <p:spPr>
          <a:xfrm>
            <a:off x="685800" y="2171700"/>
            <a:ext cx="3276570" cy="2047890"/>
          </a:xfrm>
          <a:prstGeom prst="rect">
            <a:avLst/>
          </a:prstGeom>
        </p:spPr>
      </p:pic>
      <p:sp>
        <p:nvSpPr>
          <p:cNvPr id="11" name="text-912"/>
          <p:cNvSpPr txBox="1"/>
          <p:nvPr/>
        </p:nvSpPr>
        <p:spPr>
          <a:xfrm>
            <a:off x="609630" y="4533870"/>
            <a:ext cx="3429000" cy="266730"/>
          </a:xfrm>
          <a:prstGeom prst="rect">
            <a:avLst/>
          </a:prstGeom>
          <a:noFill/>
          <a:ln/>
        </p:spPr>
        <p:txBody>
          <a:bodyPr wrap="square" lIns="0" tIns="0" rIns="0" bIns="0" rtlCol="0" anchor="t"/>
          <a:lstStyle/>
          <a:p>
            <a:pPr algn="l" indent="0" marL="0">
              <a:lnSpc>
                <a:spcPct val="120000"/>
              </a:lnSpc>
              <a:buNone/>
            </a:pPr>
            <a:r>
              <a:rPr lang="en-US" sz="1650" b="1" dirty="0">
                <a:solidFill>
                  <a:srgbClr val="14202F"/>
                </a:solidFill>
                <a:latin typeface="Arial" pitchFamily="34" charset="0"/>
                <a:ea typeface="Arial" pitchFamily="34" charset="-122"/>
                <a:cs typeface="Arial" pitchFamily="34" charset="-120"/>
              </a:rPr>
              <a:t>Landing page</a:t>
            </a:r>
            <a:endParaRPr lang="en-US" sz="1650" dirty="0"/>
          </a:p>
        </p:txBody>
      </p:sp>
      <p:sp>
        <p:nvSpPr>
          <p:cNvPr id="12" name="text-913"/>
          <p:cNvSpPr txBox="1"/>
          <p:nvPr/>
        </p:nvSpPr>
        <p:spPr>
          <a:xfrm>
            <a:off x="609630" y="4876770"/>
            <a:ext cx="3429000" cy="104772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The crew, the no-selling and no-referral-fee rules, how it works, and pricing.</a:t>
            </a:r>
            <a:endParaRPr lang="en-US" sz="1350" dirty="0"/>
          </a:p>
        </p:txBody>
      </p:sp>
      <p:sp>
        <p:nvSpPr>
          <p:cNvPr id="13" name="rect-914"/>
          <p:cNvSpPr/>
          <p:nvPr/>
        </p:nvSpPr>
        <p:spPr>
          <a:xfrm>
            <a:off x="4381530" y="1904970"/>
            <a:ext cx="3429000" cy="2390790"/>
          </a:xfrm>
          <a:prstGeom prst="roundRect">
            <a:avLst>
              <a:gd name="adj" fmla="val 557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14" name="oval-915"/>
          <p:cNvSpPr/>
          <p:nvPr/>
        </p:nvSpPr>
        <p:spPr>
          <a:xfrm>
            <a:off x="4514850" y="2000250"/>
            <a:ext cx="85771" cy="85771"/>
          </a:xfrm>
          <a:prstGeom prst="ellipse">
            <a:avLst/>
          </a:prstGeom>
          <a:solidFill>
            <a:srgbClr val="FF5F57"/>
          </a:solidFill>
          <a:ln/>
        </p:spPr>
      </p:sp>
      <p:sp>
        <p:nvSpPr>
          <p:cNvPr id="15" name="oval-916"/>
          <p:cNvSpPr/>
          <p:nvPr/>
        </p:nvSpPr>
        <p:spPr>
          <a:xfrm>
            <a:off x="4648170" y="2000250"/>
            <a:ext cx="85771" cy="85771"/>
          </a:xfrm>
          <a:prstGeom prst="ellipse">
            <a:avLst/>
          </a:prstGeom>
          <a:solidFill>
            <a:srgbClr val="FEBC2E"/>
          </a:solidFill>
          <a:ln/>
        </p:spPr>
      </p:sp>
      <p:sp>
        <p:nvSpPr>
          <p:cNvPr id="16" name="oval-917"/>
          <p:cNvSpPr/>
          <p:nvPr/>
        </p:nvSpPr>
        <p:spPr>
          <a:xfrm>
            <a:off x="4781580" y="2000250"/>
            <a:ext cx="85771" cy="85771"/>
          </a:xfrm>
          <a:prstGeom prst="ellipse">
            <a:avLst/>
          </a:prstGeom>
          <a:solidFill>
            <a:srgbClr val="28C840"/>
          </a:solidFill>
          <a:ln/>
        </p:spPr>
      </p:sp>
      <p:sp>
        <p:nvSpPr>
          <p:cNvPr id="17" name="text-918"/>
          <p:cNvSpPr txBox="1"/>
          <p:nvPr/>
        </p:nvSpPr>
        <p:spPr>
          <a:xfrm>
            <a:off x="4972050" y="1962120"/>
            <a:ext cx="266703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/directory/tx</a:t>
            </a:r>
            <a:endParaRPr lang="en-US" sz="900" dirty="0"/>
          </a:p>
        </p:txBody>
      </p:sp>
      <p:pic>
        <p:nvPicPr>
          <p:cNvPr id="18" name="image-919" descr="Screenshot: Free tools, no account needed">    </p:cNvPr>
          <p:cNvPicPr>
            <a:picLocks noChangeAspect="1"/>
          </p:cNvPicPr>
          <p:nvPr/>
        </p:nvPicPr>
        <p:blipFill>
          <a:blip r:embed="rId2"/>
          <a:stretch>
            <a:fillRect/>
          </a:stretch>
        </p:blipFill>
        <p:spPr>
          <a:xfrm>
            <a:off x="4457700" y="2171700"/>
            <a:ext cx="3276570" cy="2047890"/>
          </a:xfrm>
          <a:prstGeom prst="rect">
            <a:avLst/>
          </a:prstGeom>
        </p:spPr>
      </p:pic>
      <p:sp>
        <p:nvSpPr>
          <p:cNvPr id="19" name="text-920"/>
          <p:cNvSpPr txBox="1"/>
          <p:nvPr/>
        </p:nvSpPr>
        <p:spPr>
          <a:xfrm>
            <a:off x="4381530" y="4533870"/>
            <a:ext cx="3429000" cy="266730"/>
          </a:xfrm>
          <a:prstGeom prst="rect">
            <a:avLst/>
          </a:prstGeom>
          <a:noFill/>
          <a:ln/>
        </p:spPr>
        <p:txBody>
          <a:bodyPr wrap="square" lIns="0" tIns="0" rIns="0" bIns="0" rtlCol="0" anchor="t"/>
          <a:lstStyle/>
          <a:p>
            <a:pPr algn="l" indent="0" marL="0">
              <a:lnSpc>
                <a:spcPct val="120000"/>
              </a:lnSpc>
              <a:buNone/>
            </a:pPr>
            <a:r>
              <a:rPr lang="en-US" sz="1650" b="1" dirty="0">
                <a:solidFill>
                  <a:srgbClr val="14202F"/>
                </a:solidFill>
                <a:latin typeface="Arial" pitchFamily="34" charset="0"/>
                <a:ea typeface="Arial" pitchFamily="34" charset="-122"/>
                <a:cs typeface="Arial" pitchFamily="34" charset="-120"/>
              </a:rPr>
              <a:t>Scholarship directory</a:t>
            </a:r>
            <a:endParaRPr lang="en-US" sz="1650" dirty="0"/>
          </a:p>
        </p:txBody>
      </p:sp>
      <p:sp>
        <p:nvSpPr>
          <p:cNvPr id="20" name="text-921"/>
          <p:cNvSpPr txBox="1"/>
          <p:nvPr/>
        </p:nvSpPr>
        <p:spPr>
          <a:xfrm>
            <a:off x="4381530" y="4876770"/>
            <a:ext cx="3429000" cy="104772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Server-rendered pages per state, with verified dates, filters, and labels.</a:t>
            </a:r>
            <a:endParaRPr lang="en-US" sz="1350" dirty="0"/>
          </a:p>
        </p:txBody>
      </p:sp>
      <p:sp>
        <p:nvSpPr>
          <p:cNvPr id="21" name="rect-922"/>
          <p:cNvSpPr/>
          <p:nvPr/>
        </p:nvSpPr>
        <p:spPr>
          <a:xfrm>
            <a:off x="8153430" y="1904970"/>
            <a:ext cx="3429000" cy="2390790"/>
          </a:xfrm>
          <a:prstGeom prst="roundRect">
            <a:avLst>
              <a:gd name="adj" fmla="val 557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22" name="oval-923"/>
          <p:cNvSpPr/>
          <p:nvPr/>
        </p:nvSpPr>
        <p:spPr>
          <a:xfrm>
            <a:off x="8286750" y="2000250"/>
            <a:ext cx="85771" cy="85771"/>
          </a:xfrm>
          <a:prstGeom prst="ellipse">
            <a:avLst/>
          </a:prstGeom>
          <a:solidFill>
            <a:srgbClr val="FF5F57"/>
          </a:solidFill>
          <a:ln/>
        </p:spPr>
      </p:sp>
      <p:sp>
        <p:nvSpPr>
          <p:cNvPr id="23" name="oval-924"/>
          <p:cNvSpPr/>
          <p:nvPr/>
        </p:nvSpPr>
        <p:spPr>
          <a:xfrm>
            <a:off x="8420070" y="2000250"/>
            <a:ext cx="85771" cy="85771"/>
          </a:xfrm>
          <a:prstGeom prst="ellipse">
            <a:avLst/>
          </a:prstGeom>
          <a:solidFill>
            <a:srgbClr val="FEBC2E"/>
          </a:solidFill>
          <a:ln/>
        </p:spPr>
      </p:sp>
      <p:sp>
        <p:nvSpPr>
          <p:cNvPr id="24" name="oval-925"/>
          <p:cNvSpPr/>
          <p:nvPr/>
        </p:nvSpPr>
        <p:spPr>
          <a:xfrm>
            <a:off x="8553480" y="2000250"/>
            <a:ext cx="85771" cy="85771"/>
          </a:xfrm>
          <a:prstGeom prst="ellipse">
            <a:avLst/>
          </a:prstGeom>
          <a:solidFill>
            <a:srgbClr val="28C840"/>
          </a:solidFill>
          <a:ln/>
        </p:spPr>
      </p:sp>
      <p:sp>
        <p:nvSpPr>
          <p:cNvPr id="25" name="text-926"/>
          <p:cNvSpPr txBox="1"/>
          <p:nvPr/>
        </p:nvSpPr>
        <p:spPr>
          <a:xfrm>
            <a:off x="8743950" y="1962120"/>
            <a:ext cx="266703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/offer-tool</a:t>
            </a:r>
            <a:endParaRPr lang="en-US" sz="900" dirty="0"/>
          </a:p>
        </p:txBody>
      </p:sp>
      <p:pic>
        <p:nvPicPr>
          <p:cNvPr id="26" name="image-927" descr="Screenshot: Free tools, no account needed">    </p:cNvPr>
          <p:cNvPicPr>
            <a:picLocks noChangeAspect="1"/>
          </p:cNvPicPr>
          <p:nvPr/>
        </p:nvPicPr>
        <p:blipFill>
          <a:blip r:embed="rId3"/>
          <a:stretch>
            <a:fillRect/>
          </a:stretch>
        </p:blipFill>
        <p:spPr>
          <a:xfrm>
            <a:off x="8229600" y="2171700"/>
            <a:ext cx="3276570" cy="2047890"/>
          </a:xfrm>
          <a:prstGeom prst="rect">
            <a:avLst/>
          </a:prstGeom>
        </p:spPr>
      </p:pic>
      <p:sp>
        <p:nvSpPr>
          <p:cNvPr id="27" name="text-928"/>
          <p:cNvSpPr txBox="1"/>
          <p:nvPr/>
        </p:nvSpPr>
        <p:spPr>
          <a:xfrm>
            <a:off x="8153430" y="4533870"/>
            <a:ext cx="3429000" cy="266730"/>
          </a:xfrm>
          <a:prstGeom prst="rect">
            <a:avLst/>
          </a:prstGeom>
          <a:noFill/>
          <a:ln/>
        </p:spPr>
        <p:txBody>
          <a:bodyPr wrap="square" lIns="0" tIns="0" rIns="0" bIns="0" rtlCol="0" anchor="t"/>
          <a:lstStyle/>
          <a:p>
            <a:pPr algn="l" indent="0" marL="0">
              <a:lnSpc>
                <a:spcPct val="120000"/>
              </a:lnSpc>
              <a:buNone/>
            </a:pPr>
            <a:r>
              <a:rPr lang="en-US" sz="1650" b="1" dirty="0">
                <a:solidFill>
                  <a:srgbClr val="14202F"/>
                </a:solidFill>
                <a:latin typeface="Arial" pitchFamily="34" charset="0"/>
                <a:ea typeface="Arial" pitchFamily="34" charset="-122"/>
                <a:cs typeface="Arial" pitchFamily="34" charset="-120"/>
              </a:rPr>
              <a:t>Award-letter calculator</a:t>
            </a:r>
            <a:endParaRPr lang="en-US" sz="1650" dirty="0"/>
          </a:p>
        </p:txBody>
      </p:sp>
      <p:sp>
        <p:nvSpPr>
          <p:cNvPr id="28" name="text-929"/>
          <p:cNvSpPr txBox="1"/>
          <p:nvPr/>
        </p:nvSpPr>
        <p:spPr>
          <a:xfrm>
            <a:off x="8153430" y="4876770"/>
            <a:ext cx="3429000" cy="104772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Compare letters with plain code. Nothing is saved and no AI is used.</a:t>
            </a:r>
            <a:endParaRPr lang="en-US" sz="135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930"/>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ADMIN CONSOLE</a:t>
            </a:r>
            <a:pPr algn="l" indent="0" marL="0">
              <a:lnSpc>
                <a:spcPct val="120000"/>
              </a:lnSpc>
              <a:buNone/>
            </a:pPr>
            <a:r>
              <a:rPr lang="en-US" sz="1013" b="1" spc="122" kern="0" dirty="0">
                <a:solidFill>
                  <a:srgbClr val="EB6834"/>
                </a:solidFill>
                <a:latin typeface="Arial" pitchFamily="34" charset="0"/>
                <a:ea typeface="Arial" pitchFamily="34" charset="-122"/>
                <a:cs typeface="Arial" pitchFamily="34" charset="-120"/>
              </a:rPr>
              <a:t>   ●  </a:t>
            </a:r>
            <a:pPr algn="l" indent="0" marL="0">
              <a:lnSpc>
                <a:spcPct val="120000"/>
              </a:lnSpc>
              <a:buNone/>
            </a:pPr>
            <a:r>
              <a:rPr lang="en-US" sz="1013" b="1" spc="122" kern="0" dirty="0">
                <a:solidFill>
                  <a:srgbClr val="14202F"/>
                </a:solidFill>
                <a:latin typeface="Arial" pitchFamily="34" charset="0"/>
                <a:ea typeface="Arial" pitchFamily="34" charset="-122"/>
                <a:cs typeface="Arial" pitchFamily="34" charset="-120"/>
              </a:rPr>
              <a:t>SCOUT</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Keeping every listing true</a:t>
            </a:r>
            <a:endParaRPr lang="en-US" sz="3600" dirty="0"/>
          </a:p>
        </p:txBody>
      </p:sp>
      <p:sp>
        <p:nvSpPr>
          <p:cNvPr id="4" name="text-932"/>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Research finds candidates, code checks them, and a person decides.</a:t>
            </a:r>
            <a:endParaRPr lang="en-US" sz="1575" dirty="0"/>
          </a:p>
        </p:txBody>
      </p:sp>
      <p:sp>
        <p:nvSpPr>
          <p:cNvPr id="5" name="rect-933"/>
          <p:cNvSpPr/>
          <p:nvPr/>
        </p:nvSpPr>
        <p:spPr>
          <a:xfrm>
            <a:off x="609630" y="1828800"/>
            <a:ext cx="5867430" cy="3914821"/>
          </a:xfrm>
          <a:prstGeom prst="roundRect">
            <a:avLst>
              <a:gd name="adj" fmla="val 3406"/>
            </a:avLst>
          </a:prstGeom>
          <a:solidFill>
            <a:srgbClr val="FFFFFF"/>
          </a:solidFill>
          <a:ln w="9525">
            <a:solidFill>
              <a:srgbClr val="E5E1D7"/>
            </a:solidFill>
            <a:prstDash val="solid"/>
          </a:ln>
          <a:effectLst>
            <a:outerShdw sx="100000" sy="100000" kx="0" ky="0" algn="bl" rotWithShape="0" blurRad="228600" dist="76200" dir="5400000">
              <a:srgbClr val="14202F">
                <a:alpha val="20000"/>
              </a:srgbClr>
            </a:outerShdw>
          </a:effectLst>
        </p:spPr>
      </p:sp>
      <p:sp>
        <p:nvSpPr>
          <p:cNvPr id="6" name="oval-934"/>
          <p:cNvSpPr/>
          <p:nvPr/>
        </p:nvSpPr>
        <p:spPr>
          <a:xfrm>
            <a:off x="742950" y="1924080"/>
            <a:ext cx="85771" cy="85771"/>
          </a:xfrm>
          <a:prstGeom prst="ellipse">
            <a:avLst/>
          </a:prstGeom>
          <a:solidFill>
            <a:srgbClr val="FF5F57"/>
          </a:solidFill>
          <a:ln/>
        </p:spPr>
      </p:sp>
      <p:sp>
        <p:nvSpPr>
          <p:cNvPr id="7" name="oval-935"/>
          <p:cNvSpPr/>
          <p:nvPr/>
        </p:nvSpPr>
        <p:spPr>
          <a:xfrm>
            <a:off x="876270" y="1924080"/>
            <a:ext cx="85771" cy="85771"/>
          </a:xfrm>
          <a:prstGeom prst="ellipse">
            <a:avLst/>
          </a:prstGeom>
          <a:solidFill>
            <a:srgbClr val="FEBC2E"/>
          </a:solidFill>
          <a:ln/>
        </p:spPr>
      </p:sp>
      <p:sp>
        <p:nvSpPr>
          <p:cNvPr id="8" name="oval-936"/>
          <p:cNvSpPr/>
          <p:nvPr/>
        </p:nvSpPr>
        <p:spPr>
          <a:xfrm>
            <a:off x="1009680" y="1924080"/>
            <a:ext cx="85771" cy="85771"/>
          </a:xfrm>
          <a:prstGeom prst="ellipse">
            <a:avLst/>
          </a:prstGeom>
          <a:solidFill>
            <a:srgbClr val="28C840"/>
          </a:solidFill>
          <a:ln/>
        </p:spPr>
      </p:sp>
      <p:sp>
        <p:nvSpPr>
          <p:cNvPr id="9" name="text-937"/>
          <p:cNvSpPr txBox="1"/>
          <p:nvPr/>
        </p:nvSpPr>
        <p:spPr>
          <a:xfrm>
            <a:off x="1200150" y="1885950"/>
            <a:ext cx="510537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/admin/tasks</a:t>
            </a:r>
            <a:endParaRPr lang="en-US" sz="900" dirty="0"/>
          </a:p>
        </p:txBody>
      </p:sp>
      <p:pic>
        <p:nvPicPr>
          <p:cNvPr id="10" name="image-938" descr="Screenshot: Keeping every listing true">    </p:cNvPr>
          <p:cNvPicPr>
            <a:picLocks noChangeAspect="1"/>
          </p:cNvPicPr>
          <p:nvPr/>
        </p:nvPicPr>
        <p:blipFill>
          <a:blip r:embed="rId1"/>
          <a:stretch>
            <a:fillRect/>
          </a:stretch>
        </p:blipFill>
        <p:spPr>
          <a:xfrm>
            <a:off x="685800" y="2095530"/>
            <a:ext cx="5715000" cy="3571921"/>
          </a:xfrm>
          <a:prstGeom prst="rect">
            <a:avLst/>
          </a:prstGeom>
        </p:spPr>
      </p:pic>
      <p:sp>
        <p:nvSpPr>
          <p:cNvPr id="11" name="oval-939"/>
          <p:cNvSpPr/>
          <p:nvPr/>
        </p:nvSpPr>
        <p:spPr>
          <a:xfrm>
            <a:off x="6781830" y="2018355"/>
            <a:ext cx="104790" cy="104790"/>
          </a:xfrm>
          <a:prstGeom prst="ellipse">
            <a:avLst/>
          </a:prstGeom>
          <a:solidFill>
            <a:srgbClr val="EB6834"/>
          </a:solidFill>
          <a:ln/>
        </p:spPr>
      </p:sp>
      <p:sp>
        <p:nvSpPr>
          <p:cNvPr id="12" name="text-940"/>
          <p:cNvSpPr txBox="1"/>
          <p:nvPr/>
        </p:nvSpPr>
        <p:spPr>
          <a:xfrm>
            <a:off x="6972300" y="198022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THE PROBLEM</a:t>
            </a:r>
            <a:endParaRPr lang="en-US" sz="1013" dirty="0"/>
          </a:p>
        </p:txBody>
      </p:sp>
      <p:sp>
        <p:nvSpPr>
          <p:cNvPr id="13" name="text-941"/>
          <p:cNvSpPr txBox="1"/>
          <p:nvPr/>
        </p:nvSpPr>
        <p:spPr>
          <a:xfrm>
            <a:off x="6781830" y="2246955"/>
            <a:ext cx="4800600" cy="55056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Scholarship data rots: deadlines move, pages vanish, and scams copy real listings.</a:t>
            </a:r>
            <a:endParaRPr lang="en-US" sz="1388" dirty="0"/>
          </a:p>
        </p:txBody>
      </p:sp>
      <p:sp>
        <p:nvSpPr>
          <p:cNvPr id="14" name="oval-942"/>
          <p:cNvSpPr/>
          <p:nvPr/>
        </p:nvSpPr>
        <p:spPr>
          <a:xfrm>
            <a:off x="6781830" y="3197565"/>
            <a:ext cx="104790" cy="104790"/>
          </a:xfrm>
          <a:prstGeom prst="ellipse">
            <a:avLst/>
          </a:prstGeom>
          <a:solidFill>
            <a:srgbClr val="2A78D6"/>
          </a:solidFill>
          <a:ln/>
        </p:spPr>
      </p:sp>
      <p:sp>
        <p:nvSpPr>
          <p:cNvPr id="15" name="text-943"/>
          <p:cNvSpPr txBox="1"/>
          <p:nvPr/>
        </p:nvSpPr>
        <p:spPr>
          <a:xfrm>
            <a:off x="6972300" y="3159435"/>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HOW THE AI HELPS</a:t>
            </a:r>
            <a:endParaRPr lang="en-US" sz="1013" dirty="0"/>
          </a:p>
        </p:txBody>
      </p:sp>
      <p:sp>
        <p:nvSpPr>
          <p:cNvPr id="16" name="text-944"/>
          <p:cNvSpPr txBox="1"/>
          <p:nvPr/>
        </p:nvSpPr>
        <p:spPr>
          <a:xfrm>
            <a:off x="6781830" y="3426165"/>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 research agent uses web search and fetch to find local pages. Extraction turns each into a draft with a quote per field.</a:t>
            </a:r>
            <a:endParaRPr lang="en-US" sz="1388" dirty="0"/>
          </a:p>
        </p:txBody>
      </p:sp>
      <p:sp>
        <p:nvSpPr>
          <p:cNvPr id="17" name="oval-945"/>
          <p:cNvSpPr/>
          <p:nvPr/>
        </p:nvSpPr>
        <p:spPr>
          <a:xfrm>
            <a:off x="6781830" y="4623389"/>
            <a:ext cx="104790" cy="104790"/>
          </a:xfrm>
          <a:prstGeom prst="ellipse">
            <a:avLst/>
          </a:prstGeom>
          <a:solidFill>
            <a:srgbClr val="1BAF7A"/>
          </a:solidFill>
          <a:ln/>
        </p:spPr>
      </p:sp>
      <p:sp>
        <p:nvSpPr>
          <p:cNvPr id="18" name="text-946"/>
          <p:cNvSpPr txBox="1"/>
          <p:nvPr/>
        </p:nvSpPr>
        <p:spPr>
          <a:xfrm>
            <a:off x="6972300" y="4585350"/>
            <a:ext cx="4610130" cy="190470"/>
          </a:xfrm>
          <a:prstGeom prst="rect">
            <a:avLst/>
          </a:prstGeom>
          <a:noFill/>
          <a:ln/>
        </p:spPr>
        <p:txBody>
          <a:bodyPr wrap="square" lIns="0" tIns="0" rIns="0" bIns="0" rtlCol="0" anchor="t"/>
          <a:lstStyle/>
          <a:p>
            <a:pPr algn="l" indent="0" marL="0">
              <a:lnSpc>
                <a:spcPct val="120000"/>
              </a:lnSpc>
              <a:buNone/>
            </a:pPr>
            <a:r>
              <a:rPr lang="en-US" sz="1013" b="1" spc="101" kern="0" dirty="0">
                <a:solidFill>
                  <a:srgbClr val="14202F"/>
                </a:solidFill>
                <a:latin typeface="Arial" pitchFamily="34" charset="0"/>
                <a:ea typeface="Arial" pitchFamily="34" charset="-122"/>
                <a:cs typeface="Arial" pitchFamily="34" charset="-120"/>
              </a:rPr>
              <a:t>WHY IT MATTERS</a:t>
            </a:r>
            <a:endParaRPr lang="en-US" sz="1013" dirty="0"/>
          </a:p>
        </p:txBody>
      </p:sp>
      <p:sp>
        <p:nvSpPr>
          <p:cNvPr id="19" name="text-947"/>
          <p:cNvSpPr txBox="1"/>
          <p:nvPr/>
        </p:nvSpPr>
        <p:spPr>
          <a:xfrm>
            <a:off x="6781830" y="4851989"/>
            <a:ext cx="4800600" cy="797265"/>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Code checks quotes, deadlines, amounts, and scam rules. Only an admin publishes, and nightly re-checks catch changes.</a:t>
            </a:r>
            <a:endParaRPr lang="en-US" sz="1388" dirty="0"/>
          </a:p>
        </p:txBody>
      </p:sp>
      <p:sp>
        <p:nvSpPr>
          <p:cNvPr id="20" name="text-948"/>
          <p:cNvSpPr txBox="1"/>
          <p:nvPr/>
        </p:nvSpPr>
        <p:spPr>
          <a:xfrm>
            <a:off x="609630" y="6000750"/>
            <a:ext cx="857250" cy="152430"/>
          </a:xfrm>
          <a:prstGeom prst="rect">
            <a:avLst/>
          </a:prstGeom>
          <a:noFill/>
          <a:ln/>
        </p:spPr>
        <p:txBody>
          <a:bodyPr wrap="square" lIns="0" tIns="0" rIns="0" bIns="0" rtlCol="0" anchor="t"/>
          <a:lstStyle/>
          <a:p>
            <a:pPr algn="l" indent="0" marL="0">
              <a:lnSpc>
                <a:spcPct val="120000"/>
              </a:lnSpc>
              <a:buNone/>
            </a:pPr>
            <a:r>
              <a:rPr lang="en-US" sz="900" b="1" spc="108" kern="0" dirty="0">
                <a:solidFill>
                  <a:srgbClr val="8C929C"/>
                </a:solidFill>
                <a:latin typeface="Arial" pitchFamily="34" charset="0"/>
                <a:ea typeface="Arial" pitchFamily="34" charset="-122"/>
                <a:cs typeface="Arial" pitchFamily="34" charset="-120"/>
              </a:rPr>
              <a:t>FEATURES</a:t>
            </a:r>
            <a:endParaRPr lang="en-US" sz="900" dirty="0"/>
          </a:p>
        </p:txBody>
      </p:sp>
      <p:sp>
        <p:nvSpPr>
          <p:cNvPr id="21" name="rect-949"/>
          <p:cNvSpPr/>
          <p:nvPr/>
        </p:nvSpPr>
        <p:spPr>
          <a:xfrm>
            <a:off x="1485900" y="5924580"/>
            <a:ext cx="771571" cy="285750"/>
          </a:xfrm>
          <a:prstGeom prst="roundRect">
            <a:avLst>
              <a:gd name="adj" fmla="val 50016"/>
            </a:avLst>
          </a:prstGeom>
          <a:solidFill>
            <a:srgbClr val="FFFFFF"/>
          </a:solidFill>
          <a:ln w="9525">
            <a:solidFill>
              <a:srgbClr val="E5E1D7"/>
            </a:solidFill>
            <a:prstDash val="solid"/>
          </a:ln>
        </p:spPr>
      </p:sp>
      <p:sp>
        <p:nvSpPr>
          <p:cNvPr id="22" name="text-950"/>
          <p:cNvSpPr txBox="1"/>
          <p:nvPr/>
        </p:nvSpPr>
        <p:spPr>
          <a:xfrm>
            <a:off x="1485900" y="5991240"/>
            <a:ext cx="7715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Research</a:t>
            </a:r>
            <a:endParaRPr lang="en-US" sz="1013" dirty="0"/>
          </a:p>
        </p:txBody>
      </p:sp>
      <p:sp>
        <p:nvSpPr>
          <p:cNvPr id="23" name="rect-951"/>
          <p:cNvSpPr/>
          <p:nvPr/>
        </p:nvSpPr>
        <p:spPr>
          <a:xfrm>
            <a:off x="2333640" y="5924580"/>
            <a:ext cx="1724010" cy="285750"/>
          </a:xfrm>
          <a:prstGeom prst="roundRect">
            <a:avLst>
              <a:gd name="adj" fmla="val 50016"/>
            </a:avLst>
          </a:prstGeom>
          <a:solidFill>
            <a:srgbClr val="FFFFFF"/>
          </a:solidFill>
          <a:ln w="9525">
            <a:solidFill>
              <a:srgbClr val="E5E1D7"/>
            </a:solidFill>
            <a:prstDash val="solid"/>
          </a:ln>
        </p:spPr>
      </p:sp>
      <p:sp>
        <p:nvSpPr>
          <p:cNvPr id="24" name="text-952"/>
          <p:cNvSpPr txBox="1"/>
          <p:nvPr/>
        </p:nvSpPr>
        <p:spPr>
          <a:xfrm>
            <a:off x="2333640" y="5991240"/>
            <a:ext cx="172401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Extraction with quotes</a:t>
            </a:r>
            <a:endParaRPr lang="en-US" sz="1013" dirty="0"/>
          </a:p>
        </p:txBody>
      </p:sp>
      <p:sp>
        <p:nvSpPr>
          <p:cNvPr id="25" name="rect-953"/>
          <p:cNvSpPr/>
          <p:nvPr/>
        </p:nvSpPr>
        <p:spPr>
          <a:xfrm>
            <a:off x="4133820" y="5924580"/>
            <a:ext cx="1457371" cy="285750"/>
          </a:xfrm>
          <a:prstGeom prst="roundRect">
            <a:avLst>
              <a:gd name="adj" fmla="val 50016"/>
            </a:avLst>
          </a:prstGeom>
          <a:solidFill>
            <a:srgbClr val="FFFFFF"/>
          </a:solidFill>
          <a:ln w="9525">
            <a:solidFill>
              <a:srgbClr val="E5E1D7"/>
            </a:solidFill>
            <a:prstDash val="solid"/>
          </a:ln>
        </p:spPr>
      </p:sp>
      <p:sp>
        <p:nvSpPr>
          <p:cNvPr id="26" name="text-954"/>
          <p:cNvSpPr txBox="1"/>
          <p:nvPr/>
        </p:nvSpPr>
        <p:spPr>
          <a:xfrm>
            <a:off x="4133820" y="5991240"/>
            <a:ext cx="1457371"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Verification rules</a:t>
            </a:r>
            <a:endParaRPr lang="en-US" sz="1013" dirty="0"/>
          </a:p>
        </p:txBody>
      </p:sp>
      <p:sp>
        <p:nvSpPr>
          <p:cNvPr id="27" name="rect-955"/>
          <p:cNvSpPr/>
          <p:nvPr/>
        </p:nvSpPr>
        <p:spPr>
          <a:xfrm>
            <a:off x="5667360" y="5924580"/>
            <a:ext cx="1047720" cy="285750"/>
          </a:xfrm>
          <a:prstGeom prst="roundRect">
            <a:avLst>
              <a:gd name="adj" fmla="val 50016"/>
            </a:avLst>
          </a:prstGeom>
          <a:solidFill>
            <a:srgbClr val="FFFFFF"/>
          </a:solidFill>
          <a:ln w="9525">
            <a:solidFill>
              <a:srgbClr val="E5E1D7"/>
            </a:solidFill>
            <a:prstDash val="solid"/>
          </a:ln>
        </p:spPr>
      </p:sp>
      <p:sp>
        <p:nvSpPr>
          <p:cNvPr id="28" name="text-956"/>
          <p:cNvSpPr txBox="1"/>
          <p:nvPr/>
        </p:nvSpPr>
        <p:spPr>
          <a:xfrm>
            <a:off x="5667360" y="5991240"/>
            <a:ext cx="10477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Review queue</a:t>
            </a:r>
            <a:endParaRPr lang="en-US" sz="1013" dirty="0"/>
          </a:p>
        </p:txBody>
      </p:sp>
      <p:sp>
        <p:nvSpPr>
          <p:cNvPr id="29" name="rect-957"/>
          <p:cNvSpPr/>
          <p:nvPr/>
        </p:nvSpPr>
        <p:spPr>
          <a:xfrm>
            <a:off x="6791340" y="5924580"/>
            <a:ext cx="704820" cy="285750"/>
          </a:xfrm>
          <a:prstGeom prst="roundRect">
            <a:avLst>
              <a:gd name="adj" fmla="val 50016"/>
            </a:avLst>
          </a:prstGeom>
          <a:solidFill>
            <a:srgbClr val="FFFFFF"/>
          </a:solidFill>
          <a:ln w="9525">
            <a:solidFill>
              <a:srgbClr val="E5E1D7"/>
            </a:solidFill>
            <a:prstDash val="solid"/>
          </a:ln>
        </p:spPr>
      </p:sp>
      <p:sp>
        <p:nvSpPr>
          <p:cNvPr id="30" name="text-958"/>
          <p:cNvSpPr txBox="1"/>
          <p:nvPr/>
        </p:nvSpPr>
        <p:spPr>
          <a:xfrm>
            <a:off x="6791340" y="5991240"/>
            <a:ext cx="70482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Reports</a:t>
            </a:r>
            <a:endParaRPr lang="en-US" sz="1013" dirty="0"/>
          </a:p>
        </p:txBody>
      </p:sp>
      <p:sp>
        <p:nvSpPr>
          <p:cNvPr id="31" name="rect-959"/>
          <p:cNvSpPr/>
          <p:nvPr/>
        </p:nvSpPr>
        <p:spPr>
          <a:xfrm>
            <a:off x="7572421" y="5924580"/>
            <a:ext cx="1314450" cy="285750"/>
          </a:xfrm>
          <a:prstGeom prst="roundRect">
            <a:avLst>
              <a:gd name="adj" fmla="val 50016"/>
            </a:avLst>
          </a:prstGeom>
          <a:solidFill>
            <a:srgbClr val="FFFFFF"/>
          </a:solidFill>
          <a:ln w="9525">
            <a:solidFill>
              <a:srgbClr val="E5E1D7"/>
            </a:solidFill>
            <a:prstDash val="solid"/>
          </a:ln>
        </p:spPr>
      </p:sp>
      <p:sp>
        <p:nvSpPr>
          <p:cNvPr id="32" name="text-960"/>
          <p:cNvSpPr txBox="1"/>
          <p:nvPr/>
        </p:nvSpPr>
        <p:spPr>
          <a:xfrm>
            <a:off x="7572421" y="5991240"/>
            <a:ext cx="13144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Nightly re-check</a:t>
            </a:r>
            <a:endParaRPr lang="en-US" sz="1013" dirty="0"/>
          </a:p>
        </p:txBody>
      </p:sp>
      <p:sp>
        <p:nvSpPr>
          <p:cNvPr id="33" name="rect-961"/>
          <p:cNvSpPr/>
          <p:nvPr/>
        </p:nvSpPr>
        <p:spPr>
          <a:xfrm>
            <a:off x="8963040" y="5924580"/>
            <a:ext cx="1314450" cy="285750"/>
          </a:xfrm>
          <a:prstGeom prst="roundRect">
            <a:avLst>
              <a:gd name="adj" fmla="val 50016"/>
            </a:avLst>
          </a:prstGeom>
          <a:solidFill>
            <a:srgbClr val="FFFFFF"/>
          </a:solidFill>
          <a:ln w="9525">
            <a:solidFill>
              <a:srgbClr val="E5E1D7"/>
            </a:solidFill>
            <a:prstDash val="solid"/>
          </a:ln>
        </p:spPr>
      </p:sp>
      <p:sp>
        <p:nvSpPr>
          <p:cNvPr id="34" name="text-962"/>
          <p:cNvSpPr txBox="1"/>
          <p:nvPr/>
        </p:nvSpPr>
        <p:spPr>
          <a:xfrm>
            <a:off x="8963040" y="5991240"/>
            <a:ext cx="131445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Scorecard import</a:t>
            </a:r>
            <a:endParaRPr lang="en-US" sz="1013" dirty="0"/>
          </a:p>
        </p:txBody>
      </p:sp>
      <p:sp>
        <p:nvSpPr>
          <p:cNvPr id="35" name="rect-963"/>
          <p:cNvSpPr/>
          <p:nvPr/>
        </p:nvSpPr>
        <p:spPr>
          <a:xfrm>
            <a:off x="10353660" y="5924580"/>
            <a:ext cx="838230" cy="285750"/>
          </a:xfrm>
          <a:prstGeom prst="roundRect">
            <a:avLst>
              <a:gd name="adj" fmla="val 50016"/>
            </a:avLst>
          </a:prstGeom>
          <a:solidFill>
            <a:srgbClr val="FFFFFF"/>
          </a:solidFill>
          <a:ln w="9525">
            <a:solidFill>
              <a:srgbClr val="E5E1D7"/>
            </a:solidFill>
            <a:prstDash val="solid"/>
          </a:ln>
        </p:spPr>
      </p:sp>
      <p:sp>
        <p:nvSpPr>
          <p:cNvPr id="36" name="text-964"/>
          <p:cNvSpPr txBox="1"/>
          <p:nvPr/>
        </p:nvSpPr>
        <p:spPr>
          <a:xfrm>
            <a:off x="10353660" y="599124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Aid rules</a:t>
            </a:r>
            <a:endParaRPr lang="en-US" sz="1013" dirty="0"/>
          </a:p>
        </p:txBody>
      </p:sp>
      <p:sp>
        <p:nvSpPr>
          <p:cNvPr id="37" name="rect-965"/>
          <p:cNvSpPr/>
          <p:nvPr/>
        </p:nvSpPr>
        <p:spPr>
          <a:xfrm>
            <a:off x="1485900" y="6267480"/>
            <a:ext cx="838230" cy="285750"/>
          </a:xfrm>
          <a:prstGeom prst="roundRect">
            <a:avLst>
              <a:gd name="adj" fmla="val 50016"/>
            </a:avLst>
          </a:prstGeom>
          <a:solidFill>
            <a:srgbClr val="FFFFFF"/>
          </a:solidFill>
          <a:ln w="9525">
            <a:solidFill>
              <a:srgbClr val="E5E1D7"/>
            </a:solidFill>
            <a:prstDash val="solid"/>
          </a:ln>
        </p:spPr>
      </p:sp>
      <p:sp>
        <p:nvSpPr>
          <p:cNvPr id="38" name="text-966"/>
          <p:cNvSpPr txBox="1"/>
          <p:nvPr/>
        </p:nvSpPr>
        <p:spPr>
          <a:xfrm>
            <a:off x="1485900" y="6334140"/>
            <a:ext cx="838230" cy="171450"/>
          </a:xfrm>
          <a:prstGeom prst="rect">
            <a:avLst/>
          </a:prstGeom>
          <a:noFill/>
          <a:ln/>
        </p:spPr>
        <p:txBody>
          <a:bodyPr wrap="square" lIns="0" tIns="0" rIns="0" bIns="0" rtlCol="0" anchor="t"/>
          <a:lstStyle/>
          <a:p>
            <a:pPr algn="ctr" indent="0" marL="0">
              <a:lnSpc>
                <a:spcPct val="120000"/>
              </a:lnSpc>
              <a:buNone/>
            </a:pPr>
            <a:r>
              <a:rPr lang="en-US" sz="1013" dirty="0">
                <a:solidFill>
                  <a:srgbClr val="3B4555"/>
                </a:solidFill>
                <a:latin typeface="Arial" pitchFamily="34" charset="0"/>
                <a:ea typeface="Arial" pitchFamily="34" charset="-122"/>
                <a:cs typeface="Arial" pitchFamily="34" charset="-120"/>
              </a:rPr>
              <a:t>Audit log</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967"/>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ALSO INCLUDED</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Everything else in the box</a:t>
            </a:r>
            <a:endParaRPr lang="en-US" sz="3600" dirty="0"/>
          </a:p>
        </p:txBody>
      </p:sp>
      <p:sp>
        <p:nvSpPr>
          <p:cNvPr id="4" name="text-969"/>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The pieces that make the product complete.</a:t>
            </a:r>
            <a:endParaRPr lang="en-US" sz="1575" dirty="0"/>
          </a:p>
        </p:txBody>
      </p:sp>
      <p:sp>
        <p:nvSpPr>
          <p:cNvPr id="5" name="rect-970"/>
          <p:cNvSpPr/>
          <p:nvPr/>
        </p:nvSpPr>
        <p:spPr>
          <a:xfrm>
            <a:off x="609630" y="190497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971"/>
          <p:cNvSpPr/>
          <p:nvPr/>
        </p:nvSpPr>
        <p:spPr>
          <a:xfrm>
            <a:off x="857250" y="2152680"/>
            <a:ext cx="323880" cy="323880"/>
          </a:xfrm>
          <a:prstGeom prst="ellipse">
            <a:avLst/>
          </a:prstGeom>
          <a:solidFill>
            <a:srgbClr val="E9EEF5"/>
          </a:solidFill>
          <a:ln/>
        </p:spPr>
      </p:sp>
      <p:sp>
        <p:nvSpPr>
          <p:cNvPr id="7" name="text-972"/>
          <p:cNvSpPr txBox="1"/>
          <p:nvPr/>
        </p:nvSpPr>
        <p:spPr>
          <a:xfrm>
            <a:off x="85725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1</a:t>
            </a:r>
            <a:endParaRPr lang="en-US" sz="1125" dirty="0"/>
          </a:p>
        </p:txBody>
      </p:sp>
      <p:sp>
        <p:nvSpPr>
          <p:cNvPr id="8" name="text-973"/>
          <p:cNvSpPr txBox="1"/>
          <p:nvPr/>
        </p:nvSpPr>
        <p:spPr>
          <a:xfrm>
            <a:off x="85725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Browser extension</a:t>
            </a:r>
            <a:endParaRPr lang="en-US" sz="1650" dirty="0"/>
          </a:p>
        </p:txBody>
      </p:sp>
      <p:sp>
        <p:nvSpPr>
          <p:cNvPr id="9" name="text-974"/>
          <p:cNvSpPr txBox="1"/>
          <p:nvPr/>
        </p:nvSpPr>
        <p:spPr>
          <a:xfrm>
            <a:off x="857250" y="298606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Proposes answers from your profile on scholarship forms. You review each one; it never clicks submit.</a:t>
            </a:r>
            <a:endParaRPr lang="en-US" sz="1388" dirty="0"/>
          </a:p>
        </p:txBody>
      </p:sp>
      <p:sp>
        <p:nvSpPr>
          <p:cNvPr id="10" name="rect-975"/>
          <p:cNvSpPr/>
          <p:nvPr/>
        </p:nvSpPr>
        <p:spPr>
          <a:xfrm>
            <a:off x="4343400" y="190497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976"/>
          <p:cNvSpPr/>
          <p:nvPr/>
        </p:nvSpPr>
        <p:spPr>
          <a:xfrm>
            <a:off x="4591020" y="2152680"/>
            <a:ext cx="323880" cy="323880"/>
          </a:xfrm>
          <a:prstGeom prst="ellipse">
            <a:avLst/>
          </a:prstGeom>
          <a:solidFill>
            <a:srgbClr val="E9EEF5"/>
          </a:solidFill>
          <a:ln/>
        </p:spPr>
      </p:sp>
      <p:sp>
        <p:nvSpPr>
          <p:cNvPr id="12" name="text-977"/>
          <p:cNvSpPr txBox="1"/>
          <p:nvPr/>
        </p:nvSpPr>
        <p:spPr>
          <a:xfrm>
            <a:off x="459102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2</a:t>
            </a:r>
            <a:endParaRPr lang="en-US" sz="1125" dirty="0"/>
          </a:p>
        </p:txBody>
      </p:sp>
      <p:sp>
        <p:nvSpPr>
          <p:cNvPr id="13" name="text-978"/>
          <p:cNvSpPr txBox="1"/>
          <p:nvPr/>
        </p:nvSpPr>
        <p:spPr>
          <a:xfrm>
            <a:off x="459102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Notifications</a:t>
            </a:r>
            <a:endParaRPr lang="en-US" sz="1650" dirty="0"/>
          </a:p>
        </p:txBody>
      </p:sp>
      <p:sp>
        <p:nvSpPr>
          <p:cNvPr id="14" name="text-979"/>
          <p:cNvSpPr txBox="1"/>
          <p:nvPr/>
        </p:nvSpPr>
        <p:spPr>
          <a:xfrm>
            <a:off x="4591020" y="298606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In-app bell, weekly digest, 7-3-1 day reminders, optional texts, and quiet hours.</a:t>
            </a:r>
            <a:endParaRPr lang="en-US" sz="1388" dirty="0"/>
          </a:p>
        </p:txBody>
      </p:sp>
      <p:sp>
        <p:nvSpPr>
          <p:cNvPr id="15" name="rect-980"/>
          <p:cNvSpPr/>
          <p:nvPr/>
        </p:nvSpPr>
        <p:spPr>
          <a:xfrm>
            <a:off x="8077170" y="190497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981"/>
          <p:cNvSpPr/>
          <p:nvPr/>
        </p:nvSpPr>
        <p:spPr>
          <a:xfrm>
            <a:off x="8324880" y="2152680"/>
            <a:ext cx="323880" cy="323880"/>
          </a:xfrm>
          <a:prstGeom prst="ellipse">
            <a:avLst/>
          </a:prstGeom>
          <a:solidFill>
            <a:srgbClr val="E9EEF5"/>
          </a:solidFill>
          <a:ln/>
        </p:spPr>
      </p:sp>
      <p:sp>
        <p:nvSpPr>
          <p:cNvPr id="17" name="text-982"/>
          <p:cNvSpPr txBox="1"/>
          <p:nvPr/>
        </p:nvSpPr>
        <p:spPr>
          <a:xfrm>
            <a:off x="832488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3</a:t>
            </a:r>
            <a:endParaRPr lang="en-US" sz="1125" dirty="0"/>
          </a:p>
        </p:txBody>
      </p:sp>
      <p:sp>
        <p:nvSpPr>
          <p:cNvPr id="18" name="text-983"/>
          <p:cNvSpPr txBox="1"/>
          <p:nvPr/>
        </p:nvSpPr>
        <p:spPr>
          <a:xfrm>
            <a:off x="832488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Settings and data</a:t>
            </a:r>
            <a:endParaRPr lang="en-US" sz="1650" dirty="0"/>
          </a:p>
        </p:txBody>
      </p:sp>
      <p:sp>
        <p:nvSpPr>
          <p:cNvPr id="19" name="text-984"/>
          <p:cNvSpPr txBox="1"/>
          <p:nvPr/>
        </p:nvSpPr>
        <p:spPr>
          <a:xfrm>
            <a:off x="8324880" y="298606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Name and time zone, documents, export everything, sign out everywhere, and delete account.</a:t>
            </a:r>
            <a:endParaRPr lang="en-US" sz="1388" dirty="0"/>
          </a:p>
        </p:txBody>
      </p:sp>
      <p:sp>
        <p:nvSpPr>
          <p:cNvPr id="20" name="rect-985"/>
          <p:cNvSpPr/>
          <p:nvPr/>
        </p:nvSpPr>
        <p:spPr>
          <a:xfrm>
            <a:off x="609630" y="422910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986"/>
          <p:cNvSpPr/>
          <p:nvPr/>
        </p:nvSpPr>
        <p:spPr>
          <a:xfrm>
            <a:off x="857250" y="4476720"/>
            <a:ext cx="323880" cy="323880"/>
          </a:xfrm>
          <a:prstGeom prst="ellipse">
            <a:avLst/>
          </a:prstGeom>
          <a:solidFill>
            <a:srgbClr val="E9EEF5"/>
          </a:solidFill>
          <a:ln/>
        </p:spPr>
      </p:sp>
      <p:sp>
        <p:nvSpPr>
          <p:cNvPr id="22" name="text-987"/>
          <p:cNvSpPr txBox="1"/>
          <p:nvPr/>
        </p:nvSpPr>
        <p:spPr>
          <a:xfrm>
            <a:off x="857250" y="45434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4</a:t>
            </a:r>
            <a:endParaRPr lang="en-US" sz="1125" dirty="0"/>
          </a:p>
        </p:txBody>
      </p:sp>
      <p:sp>
        <p:nvSpPr>
          <p:cNvPr id="23" name="text-988"/>
          <p:cNvSpPr txBox="1"/>
          <p:nvPr/>
        </p:nvSpPr>
        <p:spPr>
          <a:xfrm>
            <a:off x="857250" y="49530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Billing</a:t>
            </a:r>
            <a:endParaRPr lang="en-US" sz="1650" dirty="0"/>
          </a:p>
        </p:txBody>
      </p:sp>
      <p:sp>
        <p:nvSpPr>
          <p:cNvPr id="24" name="text-989"/>
          <p:cNvSpPr txBox="1"/>
          <p:nvPr/>
        </p:nvSpPr>
        <p:spPr>
          <a:xfrm>
            <a:off x="857250" y="531019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Free, Family, and Season pass through Stripe, plus sponsor codes from schools and nonprofits.</a:t>
            </a:r>
            <a:endParaRPr lang="en-US" sz="1388" dirty="0"/>
          </a:p>
        </p:txBody>
      </p:sp>
      <p:sp>
        <p:nvSpPr>
          <p:cNvPr id="25" name="rect-990"/>
          <p:cNvSpPr/>
          <p:nvPr/>
        </p:nvSpPr>
        <p:spPr>
          <a:xfrm>
            <a:off x="4343400" y="422910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oval-991"/>
          <p:cNvSpPr/>
          <p:nvPr/>
        </p:nvSpPr>
        <p:spPr>
          <a:xfrm>
            <a:off x="4591020" y="4476720"/>
            <a:ext cx="323880" cy="323880"/>
          </a:xfrm>
          <a:prstGeom prst="ellipse">
            <a:avLst/>
          </a:prstGeom>
          <a:solidFill>
            <a:srgbClr val="E9EEF5"/>
          </a:solidFill>
          <a:ln/>
        </p:spPr>
      </p:sp>
      <p:sp>
        <p:nvSpPr>
          <p:cNvPr id="27" name="text-992"/>
          <p:cNvSpPr txBox="1"/>
          <p:nvPr/>
        </p:nvSpPr>
        <p:spPr>
          <a:xfrm>
            <a:off x="4591020" y="45434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5</a:t>
            </a:r>
            <a:endParaRPr lang="en-US" sz="1125" dirty="0"/>
          </a:p>
        </p:txBody>
      </p:sp>
      <p:sp>
        <p:nvSpPr>
          <p:cNvPr id="28" name="text-993"/>
          <p:cNvSpPr txBox="1"/>
          <p:nvPr/>
        </p:nvSpPr>
        <p:spPr>
          <a:xfrm>
            <a:off x="4591020" y="49530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Sign-in</a:t>
            </a:r>
            <a:endParaRPr lang="en-US" sz="1650" dirty="0"/>
          </a:p>
        </p:txBody>
      </p:sp>
      <p:sp>
        <p:nvSpPr>
          <p:cNvPr id="29" name="text-994"/>
          <p:cNvSpPr txBox="1"/>
          <p:nvPr/>
        </p:nvSpPr>
        <p:spPr>
          <a:xfrm>
            <a:off x="4591020" y="531019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One-time email links, 30-day sessions, an age gate, and origin checks on every change.</a:t>
            </a:r>
            <a:endParaRPr lang="en-US" sz="1388" dirty="0"/>
          </a:p>
        </p:txBody>
      </p:sp>
      <p:sp>
        <p:nvSpPr>
          <p:cNvPr id="30" name="rect-995"/>
          <p:cNvSpPr/>
          <p:nvPr/>
        </p:nvSpPr>
        <p:spPr>
          <a:xfrm>
            <a:off x="8077170" y="4229100"/>
            <a:ext cx="350517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1" name="oval-996"/>
          <p:cNvSpPr/>
          <p:nvPr/>
        </p:nvSpPr>
        <p:spPr>
          <a:xfrm>
            <a:off x="8324880" y="4476720"/>
            <a:ext cx="323880" cy="323880"/>
          </a:xfrm>
          <a:prstGeom prst="ellipse">
            <a:avLst/>
          </a:prstGeom>
          <a:solidFill>
            <a:srgbClr val="E9EEF5"/>
          </a:solidFill>
          <a:ln/>
        </p:spPr>
      </p:sp>
      <p:sp>
        <p:nvSpPr>
          <p:cNvPr id="32" name="text-997"/>
          <p:cNvSpPr txBox="1"/>
          <p:nvPr/>
        </p:nvSpPr>
        <p:spPr>
          <a:xfrm>
            <a:off x="8324880" y="45434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6</a:t>
            </a:r>
            <a:endParaRPr lang="en-US" sz="1125" dirty="0"/>
          </a:p>
        </p:txBody>
      </p:sp>
      <p:sp>
        <p:nvSpPr>
          <p:cNvPr id="33" name="text-998"/>
          <p:cNvSpPr txBox="1"/>
          <p:nvPr/>
        </p:nvSpPr>
        <p:spPr>
          <a:xfrm>
            <a:off x="8324880" y="49530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Accessibility</a:t>
            </a:r>
            <a:endParaRPr lang="en-US" sz="1650" dirty="0"/>
          </a:p>
        </p:txBody>
      </p:sp>
      <p:sp>
        <p:nvSpPr>
          <p:cNvPr id="34" name="text-999"/>
          <p:cNvSpPr txBox="1"/>
          <p:nvPr/>
        </p:nvSpPr>
        <p:spPr>
          <a:xfrm>
            <a:off x="8324880" y="5310195"/>
            <a:ext cx="3009930" cy="8429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Every status pairs an icon with words, never color alone, and controls are labeled.</a:t>
            </a:r>
            <a:endParaRPr lang="en-US" sz="1388"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1000"/>
          <p:cNvSpPr txBox="1"/>
          <p:nvPr/>
        </p:nvSpPr>
        <p:spPr>
          <a:xfrm>
            <a:off x="609630" y="2343150"/>
            <a:ext cx="57150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9FB0C6"/>
                </a:solidFill>
                <a:latin typeface="Arial" pitchFamily="34" charset="0"/>
                <a:ea typeface="Arial" pitchFamily="34" charset="-122"/>
                <a:cs typeface="Arial" pitchFamily="34" charset="-120"/>
              </a:rPr>
              <a:t>PART 3</a:t>
            </a:r>
            <a:endParaRPr lang="en-US" sz="1013" dirty="0"/>
          </a:p>
        </p:txBody>
      </p:sp>
      <p:sp>
        <p:nvSpPr>
          <p:cNvPr id="3" name="Text 0"/>
          <p:cNvSpPr/>
          <p:nvPr>
            <p:ph idx="100" type="title" hasCustomPrompt="1"/>
          </p:nvPr>
        </p:nvSpPr>
        <p:spPr>
          <a:xfrm>
            <a:off x="609630" y="2609880"/>
            <a:ext cx="10972800" cy="952530"/>
          </a:xfrm>
          <a:prstGeom prst="rect">
            <a:avLst/>
          </a:prstGeom>
          <a:noFill/>
          <a:ln/>
        </p:spPr>
        <p:txBody>
          <a:bodyPr wrap="square" lIns="0" tIns="0" rIns="0" bIns="0" rtlCol="0" anchor="t"/>
          <a:lstStyle/>
          <a:p>
            <a:pPr algn="l" indent="0" marL="0">
              <a:buNone/>
            </a:pPr>
            <a:r>
              <a:rPr lang="en-US" sz="6000" b="1" dirty="0">
                <a:solidFill>
                  <a:srgbClr val="FFFFFF"/>
                </a:solidFill>
                <a:latin typeface="Arial" pitchFamily="34" charset="0"/>
                <a:ea typeface="Arial" pitchFamily="34" charset="-122"/>
                <a:cs typeface="Arial" pitchFamily="34" charset="-120"/>
              </a:rPr>
              <a:t>Trust and safety</a:t>
            </a:r>
            <a:endParaRPr lang="en-US" sz="6000" dirty="0"/>
          </a:p>
        </p:txBody>
      </p:sp>
      <p:sp>
        <p:nvSpPr>
          <p:cNvPr id="4" name="text-1002"/>
          <p:cNvSpPr txBox="1"/>
          <p:nvPr/>
        </p:nvSpPr>
        <p:spPr>
          <a:xfrm>
            <a:off x="609630" y="3733770"/>
            <a:ext cx="8191470" cy="685800"/>
          </a:xfrm>
          <a:prstGeom prst="rect">
            <a:avLst/>
          </a:prstGeom>
          <a:noFill/>
          <a:ln/>
        </p:spPr>
        <p:txBody>
          <a:bodyPr wrap="square" lIns="0" tIns="0" rIns="0" bIns="0" rtlCol="0" anchor="t"/>
          <a:lstStyle/>
          <a:p>
            <a:pPr algn="l" indent="0" marL="0">
              <a:lnSpc>
                <a:spcPct val="135000"/>
              </a:lnSpc>
              <a:buNone/>
            </a:pPr>
            <a:r>
              <a:rPr lang="en-US" sz="1950" dirty="0">
                <a:solidFill>
                  <a:srgbClr val="C9D3E0"/>
                </a:solidFill>
                <a:latin typeface="Arial" pitchFamily="34" charset="0"/>
                <a:ea typeface="Arial" pitchFamily="34" charset="-122"/>
                <a:cs typeface="Arial" pitchFamily="34" charset="-120"/>
              </a:rPr>
              <a:t>Where AI is used, where it isn't, and the guardrails around both.</a:t>
            </a:r>
            <a:endParaRPr lang="en-US" sz="1950" dirty="0"/>
          </a:p>
        </p:txBody>
      </p:sp>
      <p:sp>
        <p:nvSpPr>
          <p:cNvPr id="5" name="oval-1003"/>
          <p:cNvSpPr/>
          <p:nvPr/>
        </p:nvSpPr>
        <p:spPr>
          <a:xfrm>
            <a:off x="609630" y="5333970"/>
            <a:ext cx="133320" cy="133320"/>
          </a:xfrm>
          <a:prstGeom prst="ellipse">
            <a:avLst/>
          </a:prstGeom>
          <a:solidFill>
            <a:srgbClr val="2A78D6"/>
          </a:solidFill>
          <a:ln/>
        </p:spPr>
      </p:sp>
      <p:sp>
        <p:nvSpPr>
          <p:cNvPr id="6" name="oval-1004"/>
          <p:cNvSpPr/>
          <p:nvPr/>
        </p:nvSpPr>
        <p:spPr>
          <a:xfrm>
            <a:off x="857250" y="5333970"/>
            <a:ext cx="133320" cy="133320"/>
          </a:xfrm>
          <a:prstGeom prst="ellipse">
            <a:avLst/>
          </a:prstGeom>
          <a:solidFill>
            <a:srgbClr val="EB6834"/>
          </a:solidFill>
          <a:ln/>
        </p:spPr>
      </p:sp>
      <p:sp>
        <p:nvSpPr>
          <p:cNvPr id="7" name="oval-1005"/>
          <p:cNvSpPr/>
          <p:nvPr/>
        </p:nvSpPr>
        <p:spPr>
          <a:xfrm>
            <a:off x="1104870" y="5333970"/>
            <a:ext cx="133320" cy="133320"/>
          </a:xfrm>
          <a:prstGeom prst="ellipse">
            <a:avLst/>
          </a:prstGeom>
          <a:solidFill>
            <a:srgbClr val="1BAF7A"/>
          </a:solidFill>
          <a:ln/>
        </p:spPr>
      </p:sp>
      <p:sp>
        <p:nvSpPr>
          <p:cNvPr id="8" name="oval-1006"/>
          <p:cNvSpPr/>
          <p:nvPr/>
        </p:nvSpPr>
        <p:spPr>
          <a:xfrm>
            <a:off x="1352580" y="5333970"/>
            <a:ext cx="133320" cy="133320"/>
          </a:xfrm>
          <a:prstGeom prst="ellipse">
            <a:avLst/>
          </a:prstGeom>
          <a:solidFill>
            <a:srgbClr val="EDA100"/>
          </a:solidFill>
          <a:ln/>
        </p:spPr>
      </p:sp>
      <p:sp>
        <p:nvSpPr>
          <p:cNvPr id="9" name="oval-1007"/>
          <p:cNvSpPr/>
          <p:nvPr/>
        </p:nvSpPr>
        <p:spPr>
          <a:xfrm>
            <a:off x="1600200" y="5333970"/>
            <a:ext cx="133320" cy="133320"/>
          </a:xfrm>
          <a:prstGeom prst="ellipse">
            <a:avLst/>
          </a:prstGeom>
          <a:solidFill>
            <a:srgbClr val="E87BA4"/>
          </a:solidFill>
          <a:ln/>
        </p:spPr>
      </p:sp>
      <p:sp>
        <p:nvSpPr>
          <p:cNvPr id="10" name="oval-1008"/>
          <p:cNvSpPr/>
          <p:nvPr/>
        </p:nvSpPr>
        <p:spPr>
          <a:xfrm>
            <a:off x="1847820" y="5333970"/>
            <a:ext cx="133320" cy="133320"/>
          </a:xfrm>
          <a:prstGeom prst="ellipse">
            <a:avLst/>
          </a:prstGeom>
          <a:solidFill>
            <a:srgbClr val="008300"/>
          </a:solidFill>
          <a:ln/>
        </p:spPr>
      </p:sp>
      <p:sp>
        <p:nvSpPr>
          <p:cNvPr id="11" name="oval-1009"/>
          <p:cNvSpPr/>
          <p:nvPr/>
        </p:nvSpPr>
        <p:spPr>
          <a:xfrm>
            <a:off x="2095530" y="5333970"/>
            <a:ext cx="133320" cy="133320"/>
          </a:xfrm>
          <a:prstGeom prst="ellipse">
            <a:avLst/>
          </a:prstGeom>
          <a:solidFill>
            <a:srgbClr val="4A3AA7"/>
          </a:solidFill>
          <a:ln/>
        </p:spPr>
      </p:sp>
      <p:sp>
        <p:nvSpPr>
          <p:cNvPr id="12" name="oval-1010"/>
          <p:cNvSpPr/>
          <p:nvPr/>
        </p:nvSpPr>
        <p:spPr>
          <a:xfrm>
            <a:off x="2343150" y="5333970"/>
            <a:ext cx="133320" cy="133320"/>
          </a:xfrm>
          <a:prstGeom prst="ellipse">
            <a:avLst/>
          </a:prstGeom>
          <a:solidFill>
            <a:srgbClr val="E34948"/>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1011"/>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THE DIVISION OF LABOR</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AI helps. Code decides</a:t>
            </a:r>
            <a:endParaRPr lang="en-US" sz="3600" dirty="0"/>
          </a:p>
        </p:txBody>
      </p:sp>
      <p:sp>
        <p:nvSpPr>
          <p:cNvPr id="4" name="text-1013"/>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Models explain, coordinate, and read documents. Anything that must be exact is code.</a:t>
            </a:r>
            <a:endParaRPr lang="en-US" sz="1575" dirty="0"/>
          </a:p>
        </p:txBody>
      </p:sp>
      <p:sp>
        <p:nvSpPr>
          <p:cNvPr id="5" name="rect-1014"/>
          <p:cNvSpPr/>
          <p:nvPr/>
        </p:nvSpPr>
        <p:spPr>
          <a:xfrm>
            <a:off x="609630" y="1866930"/>
            <a:ext cx="5372100" cy="4457700"/>
          </a:xfrm>
          <a:prstGeom prst="roundRect">
            <a:avLst>
              <a:gd name="adj" fmla="val 4273"/>
            </a:avLst>
          </a:prstGeom>
          <a:solidFill>
            <a:srgbClr val="E8F0FB"/>
          </a:solidFill>
          <a:ln/>
        </p:spPr>
      </p:sp>
      <p:sp>
        <p:nvSpPr>
          <p:cNvPr id="6" name="rect-1015"/>
          <p:cNvSpPr/>
          <p:nvPr/>
        </p:nvSpPr>
        <p:spPr>
          <a:xfrm>
            <a:off x="876270" y="2114550"/>
            <a:ext cx="361920" cy="228600"/>
          </a:xfrm>
          <a:prstGeom prst="roundRect">
            <a:avLst>
              <a:gd name="adj" fmla="val 50000"/>
            </a:avLst>
          </a:prstGeom>
          <a:solidFill>
            <a:srgbClr val="E8F0FB"/>
          </a:solidFill>
          <a:ln/>
        </p:spPr>
      </p:sp>
      <p:sp>
        <p:nvSpPr>
          <p:cNvPr id="7" name="text-1016"/>
          <p:cNvSpPr txBox="1"/>
          <p:nvPr/>
        </p:nvSpPr>
        <p:spPr>
          <a:xfrm>
            <a:off x="876270" y="215268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8" name="text-1017"/>
          <p:cNvSpPr txBox="1"/>
          <p:nvPr/>
        </p:nvSpPr>
        <p:spPr>
          <a:xfrm>
            <a:off x="876270" y="2438430"/>
            <a:ext cx="4838730" cy="323880"/>
          </a:xfrm>
          <a:prstGeom prst="rect">
            <a:avLst/>
          </a:prstGeom>
          <a:noFill/>
          <a:ln/>
        </p:spPr>
        <p:txBody>
          <a:bodyPr wrap="square" lIns="0" tIns="0" rIns="0" bIns="0" rtlCol="0" anchor="t"/>
          <a:lstStyle/>
          <a:p>
            <a:pPr algn="l" indent="0" marL="0">
              <a:lnSpc>
                <a:spcPct val="120000"/>
              </a:lnSpc>
              <a:buNone/>
            </a:pPr>
            <a:r>
              <a:rPr lang="en-US" sz="2025" b="1" dirty="0">
                <a:solidFill>
                  <a:srgbClr val="1F5FAE"/>
                </a:solidFill>
                <a:latin typeface="Arial" pitchFamily="34" charset="0"/>
                <a:ea typeface="Arial" pitchFamily="34" charset="-122"/>
                <a:cs typeface="Arial" pitchFamily="34" charset="-120"/>
              </a:rPr>
              <a:t>Where AI helps</a:t>
            </a:r>
            <a:endParaRPr lang="en-US" sz="2025" dirty="0"/>
          </a:p>
        </p:txBody>
      </p:sp>
      <p:sp>
        <p:nvSpPr>
          <p:cNvPr id="9" name="oval-1018"/>
          <p:cNvSpPr/>
          <p:nvPr/>
        </p:nvSpPr>
        <p:spPr>
          <a:xfrm>
            <a:off x="895380" y="3057571"/>
            <a:ext cx="95280" cy="95280"/>
          </a:xfrm>
          <a:prstGeom prst="ellipse">
            <a:avLst/>
          </a:prstGeom>
          <a:solidFill>
            <a:srgbClr val="1F5FAE"/>
          </a:solidFill>
          <a:ln/>
        </p:spPr>
      </p:sp>
      <p:sp>
        <p:nvSpPr>
          <p:cNvPr id="10" name="text-1019"/>
          <p:cNvSpPr txBox="1"/>
          <p:nvPr/>
        </p:nvSpPr>
        <p:spPr>
          <a:xfrm>
            <a:off x="1104870" y="299082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Compass coordinates the crew and writes each answer</a:t>
            </a:r>
            <a:endParaRPr lang="en-US" sz="1388" dirty="0"/>
          </a:p>
        </p:txBody>
      </p:sp>
      <p:sp>
        <p:nvSpPr>
          <p:cNvPr id="11" name="oval-1020"/>
          <p:cNvSpPr/>
          <p:nvPr/>
        </p:nvSpPr>
        <p:spPr>
          <a:xfrm>
            <a:off x="895380" y="3590940"/>
            <a:ext cx="95280" cy="95280"/>
          </a:xfrm>
          <a:prstGeom prst="ellipse">
            <a:avLst/>
          </a:prstGeom>
          <a:solidFill>
            <a:srgbClr val="1F5FAE"/>
          </a:solidFill>
          <a:ln/>
        </p:spPr>
      </p:sp>
      <p:sp>
        <p:nvSpPr>
          <p:cNvPr id="12" name="text-1021"/>
          <p:cNvSpPr txBox="1"/>
          <p:nvPr/>
        </p:nvSpPr>
        <p:spPr>
          <a:xfrm>
            <a:off x="1104870" y="352428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Specialists explain, prioritize, and propose next steps</a:t>
            </a:r>
            <a:endParaRPr lang="en-US" sz="1388" dirty="0"/>
          </a:p>
        </p:txBody>
      </p:sp>
      <p:sp>
        <p:nvSpPr>
          <p:cNvPr id="13" name="oval-1022"/>
          <p:cNvSpPr/>
          <p:nvPr/>
        </p:nvSpPr>
        <p:spPr>
          <a:xfrm>
            <a:off x="895380" y="4124310"/>
            <a:ext cx="95280" cy="95280"/>
          </a:xfrm>
          <a:prstGeom prst="ellipse">
            <a:avLst/>
          </a:prstGeom>
          <a:solidFill>
            <a:srgbClr val="1F5FAE"/>
          </a:solidFill>
          <a:ln/>
        </p:spPr>
      </p:sp>
      <p:sp>
        <p:nvSpPr>
          <p:cNvPr id="14" name="text-1023"/>
          <p:cNvSpPr txBox="1"/>
          <p:nvPr/>
        </p:nvSpPr>
        <p:spPr>
          <a:xfrm>
            <a:off x="1104870" y="405765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Quill asks questions about your draft and matches stories</a:t>
            </a:r>
            <a:endParaRPr lang="en-US" sz="1388" dirty="0"/>
          </a:p>
        </p:txBody>
      </p:sp>
      <p:sp>
        <p:nvSpPr>
          <p:cNvPr id="15" name="oval-1024"/>
          <p:cNvSpPr/>
          <p:nvPr/>
        </p:nvSpPr>
        <p:spPr>
          <a:xfrm>
            <a:off x="895380" y="4657771"/>
            <a:ext cx="95280" cy="95280"/>
          </a:xfrm>
          <a:prstGeom prst="ellipse">
            <a:avLst/>
          </a:prstGeom>
          <a:solidFill>
            <a:srgbClr val="1F5FAE"/>
          </a:solidFill>
          <a:ln/>
        </p:spPr>
      </p:sp>
      <p:sp>
        <p:nvSpPr>
          <p:cNvPr id="16" name="text-1025"/>
          <p:cNvSpPr txBox="1"/>
          <p:nvPr/>
        </p:nvSpPr>
        <p:spPr>
          <a:xfrm>
            <a:off x="1104870" y="459102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Aid reads award letters into labeled, cited lines</a:t>
            </a:r>
            <a:endParaRPr lang="en-US" sz="1388" dirty="0"/>
          </a:p>
        </p:txBody>
      </p:sp>
      <p:sp>
        <p:nvSpPr>
          <p:cNvPr id="17" name="oval-1026"/>
          <p:cNvSpPr/>
          <p:nvPr/>
        </p:nvSpPr>
        <p:spPr>
          <a:xfrm>
            <a:off x="895380" y="5191140"/>
            <a:ext cx="95280" cy="95280"/>
          </a:xfrm>
          <a:prstGeom prst="ellipse">
            <a:avLst/>
          </a:prstGeom>
          <a:solidFill>
            <a:srgbClr val="1F5FAE"/>
          </a:solidFill>
          <a:ln/>
        </p:spPr>
      </p:sp>
      <p:sp>
        <p:nvSpPr>
          <p:cNvPr id="18" name="text-1027"/>
          <p:cNvSpPr txBox="1"/>
          <p:nvPr/>
        </p:nvSpPr>
        <p:spPr>
          <a:xfrm>
            <a:off x="1104870" y="512448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Aid outlines appeals and Prep explains retake math</a:t>
            </a:r>
            <a:endParaRPr lang="en-US" sz="1388" dirty="0"/>
          </a:p>
        </p:txBody>
      </p:sp>
      <p:sp>
        <p:nvSpPr>
          <p:cNvPr id="19" name="oval-1028"/>
          <p:cNvSpPr/>
          <p:nvPr/>
        </p:nvSpPr>
        <p:spPr>
          <a:xfrm>
            <a:off x="895380" y="5724510"/>
            <a:ext cx="95280" cy="95280"/>
          </a:xfrm>
          <a:prstGeom prst="ellipse">
            <a:avLst/>
          </a:prstGeom>
          <a:solidFill>
            <a:srgbClr val="1F5FAE"/>
          </a:solidFill>
          <a:ln/>
        </p:spPr>
      </p:sp>
      <p:sp>
        <p:nvSpPr>
          <p:cNvPr id="20" name="text-1029"/>
          <p:cNvSpPr txBox="1"/>
          <p:nvPr/>
        </p:nvSpPr>
        <p:spPr>
          <a:xfrm>
            <a:off x="1104870" y="565785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The catalog agent researches and extracts listings</a:t>
            </a:r>
            <a:endParaRPr lang="en-US" sz="1388" dirty="0"/>
          </a:p>
        </p:txBody>
      </p:sp>
      <p:sp>
        <p:nvSpPr>
          <p:cNvPr id="21" name="rect-1030"/>
          <p:cNvSpPr/>
          <p:nvPr/>
        </p:nvSpPr>
        <p:spPr>
          <a:xfrm>
            <a:off x="6210330" y="1866930"/>
            <a:ext cx="5372100" cy="4457700"/>
          </a:xfrm>
          <a:prstGeom prst="roundRect">
            <a:avLst>
              <a:gd name="adj" fmla="val 4273"/>
            </a:avLst>
          </a:prstGeom>
          <a:solidFill>
            <a:srgbClr val="E6F4EC"/>
          </a:solidFill>
          <a:ln/>
        </p:spPr>
      </p:sp>
      <p:sp>
        <p:nvSpPr>
          <p:cNvPr id="22" name="rect-1031"/>
          <p:cNvSpPr/>
          <p:nvPr/>
        </p:nvSpPr>
        <p:spPr>
          <a:xfrm>
            <a:off x="6476970" y="2114550"/>
            <a:ext cx="533370" cy="228600"/>
          </a:xfrm>
          <a:prstGeom prst="roundRect">
            <a:avLst>
              <a:gd name="adj" fmla="val 50000"/>
            </a:avLst>
          </a:prstGeom>
          <a:solidFill>
            <a:srgbClr val="E6F4EC"/>
          </a:solidFill>
          <a:ln/>
        </p:spPr>
      </p:sp>
      <p:sp>
        <p:nvSpPr>
          <p:cNvPr id="23" name="text-1032"/>
          <p:cNvSpPr txBox="1"/>
          <p:nvPr/>
        </p:nvSpPr>
        <p:spPr>
          <a:xfrm>
            <a:off x="6476970" y="215268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24" name="text-1033"/>
          <p:cNvSpPr txBox="1"/>
          <p:nvPr/>
        </p:nvSpPr>
        <p:spPr>
          <a:xfrm>
            <a:off x="6476970" y="2438430"/>
            <a:ext cx="4838730" cy="323880"/>
          </a:xfrm>
          <a:prstGeom prst="rect">
            <a:avLst/>
          </a:prstGeom>
          <a:noFill/>
          <a:ln/>
        </p:spPr>
        <p:txBody>
          <a:bodyPr wrap="square" lIns="0" tIns="0" rIns="0" bIns="0" rtlCol="0" anchor="t"/>
          <a:lstStyle/>
          <a:p>
            <a:pPr algn="l" indent="0" marL="0">
              <a:lnSpc>
                <a:spcPct val="120000"/>
              </a:lnSpc>
              <a:buNone/>
            </a:pPr>
            <a:r>
              <a:rPr lang="en-US" sz="2025" b="1" dirty="0">
                <a:solidFill>
                  <a:srgbClr val="0B6B3A"/>
                </a:solidFill>
                <a:latin typeface="Arial" pitchFamily="34" charset="0"/>
                <a:ea typeface="Arial" pitchFamily="34" charset="-122"/>
                <a:cs typeface="Arial" pitchFamily="34" charset="-120"/>
              </a:rPr>
              <a:t>Where code decides</a:t>
            </a:r>
            <a:endParaRPr lang="en-US" sz="2025" dirty="0"/>
          </a:p>
        </p:txBody>
      </p:sp>
      <p:sp>
        <p:nvSpPr>
          <p:cNvPr id="25" name="oval-1034"/>
          <p:cNvSpPr/>
          <p:nvPr/>
        </p:nvSpPr>
        <p:spPr>
          <a:xfrm>
            <a:off x="6496080" y="3057571"/>
            <a:ext cx="95280" cy="95280"/>
          </a:xfrm>
          <a:prstGeom prst="ellipse">
            <a:avLst/>
          </a:prstGeom>
          <a:solidFill>
            <a:srgbClr val="0B6B3A"/>
          </a:solidFill>
          <a:ln/>
        </p:spPr>
      </p:sp>
      <p:sp>
        <p:nvSpPr>
          <p:cNvPr id="26" name="text-1035"/>
          <p:cNvSpPr txBox="1"/>
          <p:nvPr/>
        </p:nvSpPr>
        <p:spPr>
          <a:xfrm>
            <a:off x="6705570" y="299082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Eligibility matching and value-per-hour ranking</a:t>
            </a:r>
            <a:endParaRPr lang="en-US" sz="1388" dirty="0"/>
          </a:p>
        </p:txBody>
      </p:sp>
      <p:sp>
        <p:nvSpPr>
          <p:cNvPr id="27" name="oval-1036"/>
          <p:cNvSpPr/>
          <p:nvPr/>
        </p:nvSpPr>
        <p:spPr>
          <a:xfrm>
            <a:off x="6496080" y="3590940"/>
            <a:ext cx="95280" cy="95280"/>
          </a:xfrm>
          <a:prstGeom prst="ellipse">
            <a:avLst/>
          </a:prstGeom>
          <a:solidFill>
            <a:srgbClr val="0B6B3A"/>
          </a:solidFill>
          <a:ln/>
        </p:spPr>
      </p:sp>
      <p:sp>
        <p:nvSpPr>
          <p:cNvPr id="28" name="text-1037"/>
          <p:cNvSpPr txBox="1"/>
          <p:nvPr/>
        </p:nvSpPr>
        <p:spPr>
          <a:xfrm>
            <a:off x="6705570" y="352428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Every dollar: the gap, offers, loans, and retake value</a:t>
            </a:r>
            <a:endParaRPr lang="en-US" sz="1388" dirty="0"/>
          </a:p>
        </p:txBody>
      </p:sp>
      <p:sp>
        <p:nvSpPr>
          <p:cNvPr id="29" name="oval-1038"/>
          <p:cNvSpPr/>
          <p:nvPr/>
        </p:nvSpPr>
        <p:spPr>
          <a:xfrm>
            <a:off x="6496080" y="4124310"/>
            <a:ext cx="95280" cy="95280"/>
          </a:xfrm>
          <a:prstGeom prst="ellipse">
            <a:avLst/>
          </a:prstGeom>
          <a:solidFill>
            <a:srgbClr val="0B6B3A"/>
          </a:solidFill>
          <a:ln/>
        </p:spPr>
      </p:sp>
      <p:sp>
        <p:nvSpPr>
          <p:cNvPr id="30" name="text-1039"/>
          <p:cNvSpPr txBox="1"/>
          <p:nvPr/>
        </p:nvSpPr>
        <p:spPr>
          <a:xfrm>
            <a:off x="6705570" y="405765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Word and character counts, deadlines, and reminders</a:t>
            </a:r>
            <a:endParaRPr lang="en-US" sz="1388" dirty="0"/>
          </a:p>
        </p:txBody>
      </p:sp>
      <p:sp>
        <p:nvSpPr>
          <p:cNvPr id="31" name="oval-1040"/>
          <p:cNvSpPr/>
          <p:nvPr/>
        </p:nvSpPr>
        <p:spPr>
          <a:xfrm>
            <a:off x="6496080" y="4657771"/>
            <a:ext cx="95280" cy="95280"/>
          </a:xfrm>
          <a:prstGeom prst="ellipse">
            <a:avLst/>
          </a:prstGeom>
          <a:solidFill>
            <a:srgbClr val="0B6B3A"/>
          </a:solidFill>
          <a:ln/>
        </p:spPr>
      </p:sp>
      <p:sp>
        <p:nvSpPr>
          <p:cNvPr id="32" name="text-1041"/>
          <p:cNvSpPr txBox="1"/>
          <p:nvPr/>
        </p:nvSpPr>
        <p:spPr>
          <a:xfrm>
            <a:off x="6705570" y="459102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Scam and verification rules on every listing</a:t>
            </a:r>
            <a:endParaRPr lang="en-US" sz="1388" dirty="0"/>
          </a:p>
        </p:txBody>
      </p:sp>
      <p:sp>
        <p:nvSpPr>
          <p:cNvPr id="33" name="oval-1042"/>
          <p:cNvSpPr/>
          <p:nvPr/>
        </p:nvSpPr>
        <p:spPr>
          <a:xfrm>
            <a:off x="6496080" y="5191140"/>
            <a:ext cx="95280" cy="95280"/>
          </a:xfrm>
          <a:prstGeom prst="ellipse">
            <a:avLst/>
          </a:prstGeom>
          <a:solidFill>
            <a:srgbClr val="0B6B3A"/>
          </a:solidFill>
          <a:ln/>
        </p:spPr>
      </p:sp>
      <p:sp>
        <p:nvSpPr>
          <p:cNvPr id="34" name="text-1043"/>
          <p:cNvSpPr txBox="1"/>
          <p:nvPr/>
        </p:nvSpPr>
        <p:spPr>
          <a:xfrm>
            <a:off x="6705570" y="512448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Who can see what: sharing, helpers, and family</a:t>
            </a:r>
            <a:endParaRPr lang="en-US" sz="1388" dirty="0"/>
          </a:p>
        </p:txBody>
      </p:sp>
      <p:sp>
        <p:nvSpPr>
          <p:cNvPr id="35" name="oval-1044"/>
          <p:cNvSpPr/>
          <p:nvPr/>
        </p:nvSpPr>
        <p:spPr>
          <a:xfrm>
            <a:off x="6496080" y="5724510"/>
            <a:ext cx="95280" cy="95280"/>
          </a:xfrm>
          <a:prstGeom prst="ellipse">
            <a:avLst/>
          </a:prstGeom>
          <a:solidFill>
            <a:srgbClr val="0B6B3A"/>
          </a:solidFill>
          <a:ln/>
        </p:spPr>
      </p:sp>
      <p:sp>
        <p:nvSpPr>
          <p:cNvPr id="36" name="text-1045"/>
          <p:cNvSpPr txBox="1"/>
          <p:nvPr/>
        </p:nvSpPr>
        <p:spPr>
          <a:xfrm>
            <a:off x="6705570" y="5657850"/>
            <a:ext cx="4572000" cy="476220"/>
          </a:xfrm>
          <a:prstGeom prst="rect">
            <a:avLst/>
          </a:prstGeom>
          <a:noFill/>
          <a:ln/>
        </p:spPr>
        <p:txBody>
          <a:bodyPr wrap="square" lIns="0" tIns="0" rIns="0" bIns="0" rtlCol="0" anchor="t"/>
          <a:lstStyle/>
          <a:p>
            <a:pPr algn="l" indent="0" marL="0">
              <a:lnSpc>
                <a:spcPct val="130000"/>
              </a:lnSpc>
              <a:buNone/>
            </a:pPr>
            <a:r>
              <a:rPr lang="en-US" sz="1388" dirty="0">
                <a:solidFill>
                  <a:srgbClr val="14202F"/>
                </a:solidFill>
                <a:latin typeface="Arial" pitchFamily="34" charset="0"/>
                <a:ea typeface="Arial" pitchFamily="34" charset="-122"/>
                <a:cs typeface="Arial" pitchFamily="34" charset="-120"/>
              </a:rPr>
              <a:t>Writes happen only when you click an action card</a:t>
            </a:r>
            <a:endParaRPr lang="en-US" sz="1388"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1046"/>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GUARDRAILS</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Five guards on every reply</a:t>
            </a:r>
            <a:endParaRPr lang="en-US" sz="3600" dirty="0"/>
          </a:p>
        </p:txBody>
      </p:sp>
      <p:sp>
        <p:nvSpPr>
          <p:cNvPr id="4" name="text-1048"/>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Checks run in code before anything is saved or shown.</a:t>
            </a:r>
            <a:endParaRPr lang="en-US" sz="1575" dirty="0"/>
          </a:p>
        </p:txBody>
      </p:sp>
      <p:sp>
        <p:nvSpPr>
          <p:cNvPr id="5" name="rect-1049"/>
          <p:cNvSpPr/>
          <p:nvPr/>
        </p:nvSpPr>
        <p:spPr>
          <a:xfrm>
            <a:off x="60963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rect-1050"/>
          <p:cNvSpPr/>
          <p:nvPr/>
        </p:nvSpPr>
        <p:spPr>
          <a:xfrm>
            <a:off x="857250" y="2152680"/>
            <a:ext cx="533370" cy="228600"/>
          </a:xfrm>
          <a:prstGeom prst="roundRect">
            <a:avLst>
              <a:gd name="adj" fmla="val 50000"/>
            </a:avLst>
          </a:prstGeom>
          <a:solidFill>
            <a:srgbClr val="E6F4EC"/>
          </a:solidFill>
          <a:ln/>
        </p:spPr>
      </p:sp>
      <p:sp>
        <p:nvSpPr>
          <p:cNvPr id="7" name="text-1051"/>
          <p:cNvSpPr txBox="1"/>
          <p:nvPr/>
        </p:nvSpPr>
        <p:spPr>
          <a:xfrm>
            <a:off x="857250" y="219072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8" name="text-1052"/>
          <p:cNvSpPr txBox="1"/>
          <p:nvPr/>
        </p:nvSpPr>
        <p:spPr>
          <a:xfrm>
            <a:off x="857250" y="253362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Crisis</a:t>
            </a:r>
            <a:endParaRPr lang="en-US" sz="1650" dirty="0"/>
          </a:p>
        </p:txBody>
      </p:sp>
      <p:sp>
        <p:nvSpPr>
          <p:cNvPr id="9" name="text-1053"/>
          <p:cNvSpPr txBox="1"/>
          <p:nvPr/>
        </p:nvSpPr>
        <p:spPr>
          <a:xfrm>
            <a:off x="857250" y="2890876"/>
            <a:ext cx="3009930" cy="10524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Self-harm language gets reviewed 988 and 911 information before any model runs.</a:t>
            </a:r>
            <a:endParaRPr lang="en-US" sz="1388" dirty="0"/>
          </a:p>
        </p:txBody>
      </p:sp>
      <p:sp>
        <p:nvSpPr>
          <p:cNvPr id="10" name="rect-1054"/>
          <p:cNvSpPr/>
          <p:nvPr/>
        </p:nvSpPr>
        <p:spPr>
          <a:xfrm>
            <a:off x="434340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rect-1055"/>
          <p:cNvSpPr/>
          <p:nvPr/>
        </p:nvSpPr>
        <p:spPr>
          <a:xfrm>
            <a:off x="4591020" y="2152680"/>
            <a:ext cx="533370" cy="228600"/>
          </a:xfrm>
          <a:prstGeom prst="roundRect">
            <a:avLst>
              <a:gd name="adj" fmla="val 50000"/>
            </a:avLst>
          </a:prstGeom>
          <a:solidFill>
            <a:srgbClr val="E6F4EC"/>
          </a:solidFill>
          <a:ln/>
        </p:spPr>
      </p:sp>
      <p:sp>
        <p:nvSpPr>
          <p:cNvPr id="12" name="text-1056"/>
          <p:cNvSpPr txBox="1"/>
          <p:nvPr/>
        </p:nvSpPr>
        <p:spPr>
          <a:xfrm>
            <a:off x="4591020" y="219072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13" name="text-1057"/>
          <p:cNvSpPr txBox="1"/>
          <p:nvPr/>
        </p:nvSpPr>
        <p:spPr>
          <a:xfrm>
            <a:off x="4591020" y="253362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Integrity</a:t>
            </a:r>
            <a:endParaRPr lang="en-US" sz="1650" dirty="0"/>
          </a:p>
        </p:txBody>
      </p:sp>
      <p:sp>
        <p:nvSpPr>
          <p:cNvPr id="14" name="text-1058"/>
          <p:cNvSpPr txBox="1"/>
          <p:nvPr/>
        </p:nvSpPr>
        <p:spPr>
          <a:xfrm>
            <a:off x="4591020" y="2890876"/>
            <a:ext cx="3009930" cy="10524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Quill output with more than 25 words of new prose is blocked, retried once, then dropped.</a:t>
            </a:r>
            <a:endParaRPr lang="en-US" sz="1388" dirty="0"/>
          </a:p>
        </p:txBody>
      </p:sp>
      <p:sp>
        <p:nvSpPr>
          <p:cNvPr id="15" name="rect-1059"/>
          <p:cNvSpPr/>
          <p:nvPr/>
        </p:nvSpPr>
        <p:spPr>
          <a:xfrm>
            <a:off x="807717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rect-1060"/>
          <p:cNvSpPr/>
          <p:nvPr/>
        </p:nvSpPr>
        <p:spPr>
          <a:xfrm>
            <a:off x="8324880" y="2152680"/>
            <a:ext cx="533370" cy="228600"/>
          </a:xfrm>
          <a:prstGeom prst="roundRect">
            <a:avLst>
              <a:gd name="adj" fmla="val 50000"/>
            </a:avLst>
          </a:prstGeom>
          <a:solidFill>
            <a:srgbClr val="E6F4EC"/>
          </a:solidFill>
          <a:ln/>
        </p:spPr>
      </p:sp>
      <p:sp>
        <p:nvSpPr>
          <p:cNvPr id="17" name="text-1061"/>
          <p:cNvSpPr txBox="1"/>
          <p:nvPr/>
        </p:nvSpPr>
        <p:spPr>
          <a:xfrm>
            <a:off x="8324880" y="219072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18" name="text-1062"/>
          <p:cNvSpPr txBox="1"/>
          <p:nvPr/>
        </p:nvSpPr>
        <p:spPr>
          <a:xfrm>
            <a:off x="8324880" y="253362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Sources</a:t>
            </a:r>
            <a:endParaRPr lang="en-US" sz="1650" dirty="0"/>
          </a:p>
        </p:txBody>
      </p:sp>
      <p:sp>
        <p:nvSpPr>
          <p:cNvPr id="19" name="text-1063"/>
          <p:cNvSpPr txBox="1"/>
          <p:nvPr/>
        </p:nvSpPr>
        <p:spPr>
          <a:xfrm>
            <a:off x="8324880" y="2890876"/>
            <a:ext cx="3009930" cy="10524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Every receipt item must be a fact, record, listing, or calculation the run actually saw.</a:t>
            </a:r>
            <a:endParaRPr lang="en-US" sz="1388" dirty="0"/>
          </a:p>
        </p:txBody>
      </p:sp>
      <p:sp>
        <p:nvSpPr>
          <p:cNvPr id="20" name="rect-1064"/>
          <p:cNvSpPr/>
          <p:nvPr/>
        </p:nvSpPr>
        <p:spPr>
          <a:xfrm>
            <a:off x="60963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rect-1065"/>
          <p:cNvSpPr/>
          <p:nvPr/>
        </p:nvSpPr>
        <p:spPr>
          <a:xfrm>
            <a:off x="857250" y="4591020"/>
            <a:ext cx="533370" cy="228600"/>
          </a:xfrm>
          <a:prstGeom prst="roundRect">
            <a:avLst>
              <a:gd name="adj" fmla="val 50000"/>
            </a:avLst>
          </a:prstGeom>
          <a:solidFill>
            <a:srgbClr val="E6F4EC"/>
          </a:solidFill>
          <a:ln/>
        </p:spPr>
      </p:sp>
      <p:sp>
        <p:nvSpPr>
          <p:cNvPr id="22" name="text-1066"/>
          <p:cNvSpPr txBox="1"/>
          <p:nvPr/>
        </p:nvSpPr>
        <p:spPr>
          <a:xfrm>
            <a:off x="857250" y="462915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23" name="text-1067"/>
          <p:cNvSpPr txBox="1"/>
          <p:nvPr/>
        </p:nvSpPr>
        <p:spPr>
          <a:xfrm>
            <a:off x="857250" y="497205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Privacy</a:t>
            </a:r>
            <a:endParaRPr lang="en-US" sz="1650" dirty="0"/>
          </a:p>
        </p:txBody>
      </p:sp>
      <p:sp>
        <p:nvSpPr>
          <p:cNvPr id="24" name="text-1068"/>
          <p:cNvSpPr txBox="1"/>
          <p:nvPr/>
        </p:nvSpPr>
        <p:spPr>
          <a:xfrm>
            <a:off x="857250" y="5329215"/>
            <a:ext cx="3009930" cy="8238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Family-room replies may use only the categories both sides shared.</a:t>
            </a:r>
            <a:endParaRPr lang="en-US" sz="1388" dirty="0"/>
          </a:p>
        </p:txBody>
      </p:sp>
      <p:sp>
        <p:nvSpPr>
          <p:cNvPr id="25" name="rect-1069"/>
          <p:cNvSpPr/>
          <p:nvPr/>
        </p:nvSpPr>
        <p:spPr>
          <a:xfrm>
            <a:off x="434340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rect-1070"/>
          <p:cNvSpPr/>
          <p:nvPr/>
        </p:nvSpPr>
        <p:spPr>
          <a:xfrm>
            <a:off x="4591020" y="4591020"/>
            <a:ext cx="533370" cy="228600"/>
          </a:xfrm>
          <a:prstGeom prst="roundRect">
            <a:avLst>
              <a:gd name="adj" fmla="val 50000"/>
            </a:avLst>
          </a:prstGeom>
          <a:solidFill>
            <a:srgbClr val="E6F4EC"/>
          </a:solidFill>
          <a:ln/>
        </p:spPr>
      </p:sp>
      <p:sp>
        <p:nvSpPr>
          <p:cNvPr id="27" name="text-1071"/>
          <p:cNvSpPr txBox="1"/>
          <p:nvPr/>
        </p:nvSpPr>
        <p:spPr>
          <a:xfrm>
            <a:off x="4591020" y="4629150"/>
            <a:ext cx="53337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0B6B3A"/>
                </a:solidFill>
                <a:latin typeface="Arial" pitchFamily="34" charset="0"/>
                <a:ea typeface="Arial" pitchFamily="34" charset="-122"/>
                <a:cs typeface="Arial" pitchFamily="34" charset="-120"/>
              </a:rPr>
              <a:t>CODE</a:t>
            </a:r>
            <a:endParaRPr lang="en-US" sz="863" dirty="0"/>
          </a:p>
        </p:txBody>
      </p:sp>
      <p:sp>
        <p:nvSpPr>
          <p:cNvPr id="28" name="text-1072"/>
          <p:cNvSpPr txBox="1"/>
          <p:nvPr/>
        </p:nvSpPr>
        <p:spPr>
          <a:xfrm>
            <a:off x="4591020" y="497205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Untrusted content</a:t>
            </a:r>
            <a:endParaRPr lang="en-US" sz="1650" dirty="0"/>
          </a:p>
        </p:txBody>
      </p:sp>
      <p:sp>
        <p:nvSpPr>
          <p:cNvPr id="29" name="text-1073"/>
          <p:cNvSpPr txBox="1"/>
          <p:nvPr/>
        </p:nvSpPr>
        <p:spPr>
          <a:xfrm>
            <a:off x="4591020" y="5329215"/>
            <a:ext cx="3009930" cy="8238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Pages, letters, drafts, and history go to the model as data, never as instructions.</a:t>
            </a:r>
            <a:endParaRPr lang="en-US" sz="1388" dirty="0"/>
          </a:p>
        </p:txBody>
      </p:sp>
      <p:sp>
        <p:nvSpPr>
          <p:cNvPr id="30" name="rect-1074"/>
          <p:cNvSpPr/>
          <p:nvPr/>
        </p:nvSpPr>
        <p:spPr>
          <a:xfrm>
            <a:off x="807717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1" name="rect-1075"/>
          <p:cNvSpPr/>
          <p:nvPr/>
        </p:nvSpPr>
        <p:spPr>
          <a:xfrm>
            <a:off x="8324880" y="4591020"/>
            <a:ext cx="361920" cy="228600"/>
          </a:xfrm>
          <a:prstGeom prst="roundRect">
            <a:avLst>
              <a:gd name="adj" fmla="val 50000"/>
            </a:avLst>
          </a:prstGeom>
          <a:solidFill>
            <a:srgbClr val="E8F0FB"/>
          </a:solidFill>
          <a:ln/>
        </p:spPr>
      </p:sp>
      <p:sp>
        <p:nvSpPr>
          <p:cNvPr id="32" name="text-1076"/>
          <p:cNvSpPr txBox="1"/>
          <p:nvPr/>
        </p:nvSpPr>
        <p:spPr>
          <a:xfrm>
            <a:off x="8324880" y="4629150"/>
            <a:ext cx="361920" cy="152430"/>
          </a:xfrm>
          <a:prstGeom prst="rect">
            <a:avLst/>
          </a:prstGeom>
          <a:noFill/>
          <a:ln/>
        </p:spPr>
        <p:txBody>
          <a:bodyPr wrap="square" lIns="0" tIns="0" rIns="0" bIns="0" rtlCol="0" anchor="t"/>
          <a:lstStyle/>
          <a:p>
            <a:pPr algn="ctr" indent="0" marL="0">
              <a:lnSpc>
                <a:spcPct val="120000"/>
              </a:lnSpc>
              <a:buNone/>
            </a:pPr>
            <a:r>
              <a:rPr lang="en-US" sz="863" b="1" spc="86" kern="0" dirty="0">
                <a:solidFill>
                  <a:srgbClr val="1F5FAE"/>
                </a:solidFill>
                <a:latin typeface="Arial" pitchFamily="34" charset="0"/>
                <a:ea typeface="Arial" pitchFamily="34" charset="-122"/>
                <a:cs typeface="Arial" pitchFamily="34" charset="-120"/>
              </a:rPr>
              <a:t>AI</a:t>
            </a:r>
            <a:endParaRPr lang="en-US" sz="863" dirty="0"/>
          </a:p>
        </p:txBody>
      </p:sp>
      <p:sp>
        <p:nvSpPr>
          <p:cNvPr id="33" name="text-1077"/>
          <p:cNvSpPr txBox="1"/>
          <p:nvPr/>
        </p:nvSpPr>
        <p:spPr>
          <a:xfrm>
            <a:off x="8324880" y="497205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Bounded runs</a:t>
            </a:r>
            <a:endParaRPr lang="en-US" sz="1650" dirty="0"/>
          </a:p>
        </p:txBody>
      </p:sp>
      <p:sp>
        <p:nvSpPr>
          <p:cNvPr id="34" name="text-1078"/>
          <p:cNvSpPr txBox="1"/>
          <p:nvPr/>
        </p:nvSpPr>
        <p:spPr>
          <a:xfrm>
            <a:off x="8324880" y="5329215"/>
            <a:ext cx="3009930" cy="823874"/>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At most 4 Compass calls, 4 consults, and 120 seconds. Refusals get a polite reply.</a:t>
            </a:r>
            <a:endParaRPr lang="en-US" sz="1388"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1079"/>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PRODUCT RULES</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Eight rules every feature follows</a:t>
            </a:r>
            <a:endParaRPr lang="en-US" sz="3600" dirty="0"/>
          </a:p>
        </p:txBody>
      </p:sp>
      <p:sp>
        <p:nvSpPr>
          <p:cNvPr id="4" name="text-1081"/>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Written into the spec, enforced in code, and checked by tests.</a:t>
            </a:r>
            <a:endParaRPr lang="en-US" sz="1575" dirty="0"/>
          </a:p>
        </p:txBody>
      </p:sp>
      <p:sp>
        <p:nvSpPr>
          <p:cNvPr id="5" name="rect-1082"/>
          <p:cNvSpPr/>
          <p:nvPr/>
        </p:nvSpPr>
        <p:spPr>
          <a:xfrm>
            <a:off x="609630" y="190497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083"/>
          <p:cNvSpPr/>
          <p:nvPr/>
        </p:nvSpPr>
        <p:spPr>
          <a:xfrm>
            <a:off x="819120" y="2114550"/>
            <a:ext cx="323880" cy="323880"/>
          </a:xfrm>
          <a:prstGeom prst="ellipse">
            <a:avLst/>
          </a:prstGeom>
          <a:solidFill>
            <a:srgbClr val="E9EEF5"/>
          </a:solidFill>
          <a:ln/>
        </p:spPr>
      </p:sp>
      <p:sp>
        <p:nvSpPr>
          <p:cNvPr id="7" name="text-1084"/>
          <p:cNvSpPr txBox="1"/>
          <p:nvPr/>
        </p:nvSpPr>
        <p:spPr>
          <a:xfrm>
            <a:off x="819120" y="218121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1</a:t>
            </a:r>
            <a:endParaRPr lang="en-US" sz="1125" dirty="0"/>
          </a:p>
        </p:txBody>
      </p:sp>
      <p:sp>
        <p:nvSpPr>
          <p:cNvPr id="8" name="text-1085"/>
          <p:cNvSpPr txBox="1"/>
          <p:nvPr/>
        </p:nvSpPr>
        <p:spPr>
          <a:xfrm>
            <a:off x="819120" y="259077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The student writes every essay</a:t>
            </a:r>
            <a:endParaRPr lang="en-US" sz="1500" dirty="0"/>
          </a:p>
        </p:txBody>
      </p:sp>
      <p:sp>
        <p:nvSpPr>
          <p:cNvPr id="9" name="text-1086"/>
          <p:cNvSpPr txBox="1"/>
          <p:nvPr/>
        </p:nvSpPr>
        <p:spPr>
          <a:xfrm>
            <a:off x="819120" y="316227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Quill comments and asks; it never produces submittable prose.</a:t>
            </a:r>
            <a:endParaRPr lang="en-US" sz="1313" dirty="0"/>
          </a:p>
        </p:txBody>
      </p:sp>
      <p:sp>
        <p:nvSpPr>
          <p:cNvPr id="10" name="rect-1087"/>
          <p:cNvSpPr/>
          <p:nvPr/>
        </p:nvSpPr>
        <p:spPr>
          <a:xfrm>
            <a:off x="3409980" y="190497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088"/>
          <p:cNvSpPr/>
          <p:nvPr/>
        </p:nvSpPr>
        <p:spPr>
          <a:xfrm>
            <a:off x="3619470" y="2114550"/>
            <a:ext cx="323880" cy="323880"/>
          </a:xfrm>
          <a:prstGeom prst="ellipse">
            <a:avLst/>
          </a:prstGeom>
          <a:solidFill>
            <a:srgbClr val="E9EEF5"/>
          </a:solidFill>
          <a:ln/>
        </p:spPr>
      </p:sp>
      <p:sp>
        <p:nvSpPr>
          <p:cNvPr id="12" name="text-1089"/>
          <p:cNvSpPr txBox="1"/>
          <p:nvPr/>
        </p:nvSpPr>
        <p:spPr>
          <a:xfrm>
            <a:off x="3619470" y="218121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2</a:t>
            </a:r>
            <a:endParaRPr lang="en-US" sz="1125" dirty="0"/>
          </a:p>
        </p:txBody>
      </p:sp>
      <p:sp>
        <p:nvSpPr>
          <p:cNvPr id="13" name="text-1090"/>
          <p:cNvSpPr txBox="1"/>
          <p:nvPr/>
        </p:nvSpPr>
        <p:spPr>
          <a:xfrm>
            <a:off x="3619470" y="259077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Nothing is submitted for you</a:t>
            </a:r>
            <a:endParaRPr lang="en-US" sz="1500" dirty="0"/>
          </a:p>
        </p:txBody>
      </p:sp>
      <p:sp>
        <p:nvSpPr>
          <p:cNvPr id="14" name="text-1091"/>
          <p:cNvSpPr txBox="1"/>
          <p:nvPr/>
        </p:nvSpPr>
        <p:spPr>
          <a:xfrm>
            <a:off x="3619470" y="316227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No portal logins, no FSA ID, no passwords for other sites.</a:t>
            </a:r>
            <a:endParaRPr lang="en-US" sz="1313" dirty="0"/>
          </a:p>
        </p:txBody>
      </p:sp>
      <p:sp>
        <p:nvSpPr>
          <p:cNvPr id="15" name="rect-1092"/>
          <p:cNvSpPr/>
          <p:nvPr/>
        </p:nvSpPr>
        <p:spPr>
          <a:xfrm>
            <a:off x="6210330" y="190497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093"/>
          <p:cNvSpPr/>
          <p:nvPr/>
        </p:nvSpPr>
        <p:spPr>
          <a:xfrm>
            <a:off x="6419820" y="2114550"/>
            <a:ext cx="323880" cy="323880"/>
          </a:xfrm>
          <a:prstGeom prst="ellipse">
            <a:avLst/>
          </a:prstGeom>
          <a:solidFill>
            <a:srgbClr val="E9EEF5"/>
          </a:solidFill>
          <a:ln/>
        </p:spPr>
      </p:sp>
      <p:sp>
        <p:nvSpPr>
          <p:cNvPr id="17" name="text-1094"/>
          <p:cNvSpPr txBox="1"/>
          <p:nvPr/>
        </p:nvSpPr>
        <p:spPr>
          <a:xfrm>
            <a:off x="6419820" y="218121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3</a:t>
            </a:r>
            <a:endParaRPr lang="en-US" sz="1125" dirty="0"/>
          </a:p>
        </p:txBody>
      </p:sp>
      <p:sp>
        <p:nvSpPr>
          <p:cNvPr id="18" name="text-1095"/>
          <p:cNvSpPr txBox="1"/>
          <p:nvPr/>
        </p:nvSpPr>
        <p:spPr>
          <a:xfrm>
            <a:off x="6419820" y="259077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No fact without a source</a:t>
            </a:r>
            <a:endParaRPr lang="en-US" sz="1500" dirty="0"/>
          </a:p>
        </p:txBody>
      </p:sp>
      <p:sp>
        <p:nvSpPr>
          <p:cNvPr id="19" name="text-1096"/>
          <p:cNvSpPr txBox="1"/>
          <p:nvPr/>
        </p:nvSpPr>
        <p:spPr>
          <a:xfrm>
            <a:off x="6419820" y="316227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Listings, deadlines, and amounts carry a source and verified date.</a:t>
            </a:r>
            <a:endParaRPr lang="en-US" sz="1313" dirty="0"/>
          </a:p>
        </p:txBody>
      </p:sp>
      <p:sp>
        <p:nvSpPr>
          <p:cNvPr id="20" name="rect-1097"/>
          <p:cNvSpPr/>
          <p:nvPr/>
        </p:nvSpPr>
        <p:spPr>
          <a:xfrm>
            <a:off x="9010680" y="190497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098"/>
          <p:cNvSpPr/>
          <p:nvPr/>
        </p:nvSpPr>
        <p:spPr>
          <a:xfrm>
            <a:off x="9220170" y="2114550"/>
            <a:ext cx="323880" cy="323880"/>
          </a:xfrm>
          <a:prstGeom prst="ellipse">
            <a:avLst/>
          </a:prstGeom>
          <a:solidFill>
            <a:srgbClr val="E9EEF5"/>
          </a:solidFill>
          <a:ln/>
        </p:spPr>
      </p:sp>
      <p:sp>
        <p:nvSpPr>
          <p:cNvPr id="22" name="text-1099"/>
          <p:cNvSpPr txBox="1"/>
          <p:nvPr/>
        </p:nvSpPr>
        <p:spPr>
          <a:xfrm>
            <a:off x="9220170" y="218121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4</a:t>
            </a:r>
            <a:endParaRPr lang="en-US" sz="1125" dirty="0"/>
          </a:p>
        </p:txBody>
      </p:sp>
      <p:sp>
        <p:nvSpPr>
          <p:cNvPr id="23" name="text-1100"/>
          <p:cNvSpPr txBox="1"/>
          <p:nvPr/>
        </p:nvSpPr>
        <p:spPr>
          <a:xfrm>
            <a:off x="9220170" y="259077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Money math is code</a:t>
            </a:r>
            <a:endParaRPr lang="en-US" sz="1500" dirty="0"/>
          </a:p>
        </p:txBody>
      </p:sp>
      <p:sp>
        <p:nvSpPr>
          <p:cNvPr id="24" name="text-1101"/>
          <p:cNvSpPr txBox="1"/>
          <p:nvPr/>
        </p:nvSpPr>
        <p:spPr>
          <a:xfrm>
            <a:off x="9220170" y="2924160"/>
            <a:ext cx="2152680" cy="943021"/>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Calculators compute; the model explains.</a:t>
            </a:r>
            <a:endParaRPr lang="en-US" sz="1313" dirty="0"/>
          </a:p>
        </p:txBody>
      </p:sp>
      <p:sp>
        <p:nvSpPr>
          <p:cNvPr id="25" name="rect-1102"/>
          <p:cNvSpPr/>
          <p:nvPr/>
        </p:nvSpPr>
        <p:spPr>
          <a:xfrm>
            <a:off x="609630" y="422910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oval-1103"/>
          <p:cNvSpPr/>
          <p:nvPr/>
        </p:nvSpPr>
        <p:spPr>
          <a:xfrm>
            <a:off x="819120" y="4438680"/>
            <a:ext cx="323880" cy="323880"/>
          </a:xfrm>
          <a:prstGeom prst="ellipse">
            <a:avLst/>
          </a:prstGeom>
          <a:solidFill>
            <a:srgbClr val="E9EEF5"/>
          </a:solidFill>
          <a:ln/>
        </p:spPr>
      </p:sp>
      <p:sp>
        <p:nvSpPr>
          <p:cNvPr id="27" name="text-1104"/>
          <p:cNvSpPr txBox="1"/>
          <p:nvPr/>
        </p:nvSpPr>
        <p:spPr>
          <a:xfrm>
            <a:off x="819120" y="4505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5</a:t>
            </a:r>
            <a:endParaRPr lang="en-US" sz="1125" dirty="0"/>
          </a:p>
        </p:txBody>
      </p:sp>
      <p:sp>
        <p:nvSpPr>
          <p:cNvPr id="28" name="text-1105"/>
          <p:cNvSpPr txBox="1"/>
          <p:nvPr/>
        </p:nvSpPr>
        <p:spPr>
          <a:xfrm>
            <a:off x="819120" y="491490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Sensitive facts stay sealed</a:t>
            </a:r>
            <a:endParaRPr lang="en-US" sz="1500" dirty="0"/>
          </a:p>
        </p:txBody>
      </p:sp>
      <p:sp>
        <p:nvSpPr>
          <p:cNvPr id="29" name="text-1106"/>
          <p:cNvSpPr txBox="1"/>
          <p:nvPr/>
        </p:nvSpPr>
        <p:spPr>
          <a:xfrm>
            <a:off x="819120" y="548640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Opt-in, encrypted, read only by code, never sent to a model.</a:t>
            </a:r>
            <a:endParaRPr lang="en-US" sz="1313" dirty="0"/>
          </a:p>
        </p:txBody>
      </p:sp>
      <p:sp>
        <p:nvSpPr>
          <p:cNvPr id="30" name="rect-1107"/>
          <p:cNvSpPr/>
          <p:nvPr/>
        </p:nvSpPr>
        <p:spPr>
          <a:xfrm>
            <a:off x="3409980" y="422910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1" name="oval-1108"/>
          <p:cNvSpPr/>
          <p:nvPr/>
        </p:nvSpPr>
        <p:spPr>
          <a:xfrm>
            <a:off x="3619470" y="4438680"/>
            <a:ext cx="323880" cy="323880"/>
          </a:xfrm>
          <a:prstGeom prst="ellipse">
            <a:avLst/>
          </a:prstGeom>
          <a:solidFill>
            <a:srgbClr val="E9EEF5"/>
          </a:solidFill>
          <a:ln/>
        </p:spPr>
      </p:sp>
      <p:sp>
        <p:nvSpPr>
          <p:cNvPr id="32" name="text-1109"/>
          <p:cNvSpPr txBox="1"/>
          <p:nvPr/>
        </p:nvSpPr>
        <p:spPr>
          <a:xfrm>
            <a:off x="3619470" y="4505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6</a:t>
            </a:r>
            <a:endParaRPr lang="en-US" sz="1125" dirty="0"/>
          </a:p>
        </p:txBody>
      </p:sp>
      <p:sp>
        <p:nvSpPr>
          <p:cNvPr id="33" name="text-1110"/>
          <p:cNvSpPr txBox="1"/>
          <p:nvPr/>
        </p:nvSpPr>
        <p:spPr>
          <a:xfrm>
            <a:off x="3619470" y="491490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Sharing is per category</a:t>
            </a:r>
            <a:endParaRPr lang="en-US" sz="1500" dirty="0"/>
          </a:p>
        </p:txBody>
      </p:sp>
      <p:sp>
        <p:nvSpPr>
          <p:cNvPr id="34" name="text-1111"/>
          <p:cNvSpPr txBox="1"/>
          <p:nvPr/>
        </p:nvSpPr>
        <p:spPr>
          <a:xfrm>
            <a:off x="3619470" y="548640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Paying for a plan doesn't unlock anyone's data.</a:t>
            </a:r>
            <a:endParaRPr lang="en-US" sz="1313" dirty="0"/>
          </a:p>
        </p:txBody>
      </p:sp>
      <p:sp>
        <p:nvSpPr>
          <p:cNvPr id="35" name="rect-1112"/>
          <p:cNvSpPr/>
          <p:nvPr/>
        </p:nvSpPr>
        <p:spPr>
          <a:xfrm>
            <a:off x="6210330" y="422910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6" name="oval-1113"/>
          <p:cNvSpPr/>
          <p:nvPr/>
        </p:nvSpPr>
        <p:spPr>
          <a:xfrm>
            <a:off x="6419820" y="4438680"/>
            <a:ext cx="323880" cy="323880"/>
          </a:xfrm>
          <a:prstGeom prst="ellipse">
            <a:avLst/>
          </a:prstGeom>
          <a:solidFill>
            <a:srgbClr val="E9EEF5"/>
          </a:solidFill>
          <a:ln/>
        </p:spPr>
      </p:sp>
      <p:sp>
        <p:nvSpPr>
          <p:cNvPr id="37" name="text-1114"/>
          <p:cNvSpPr txBox="1"/>
          <p:nvPr/>
        </p:nvSpPr>
        <p:spPr>
          <a:xfrm>
            <a:off x="6419820" y="4505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7</a:t>
            </a:r>
            <a:endParaRPr lang="en-US" sz="1125" dirty="0"/>
          </a:p>
        </p:txBody>
      </p:sp>
      <p:sp>
        <p:nvSpPr>
          <p:cNvPr id="38" name="text-1115"/>
          <p:cNvSpPr txBox="1"/>
          <p:nvPr/>
        </p:nvSpPr>
        <p:spPr>
          <a:xfrm>
            <a:off x="6419820" y="4914900"/>
            <a:ext cx="2152680" cy="51435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No selling, no lead fees</a:t>
            </a:r>
            <a:endParaRPr lang="en-US" sz="1500" dirty="0"/>
          </a:p>
        </p:txBody>
      </p:sp>
      <p:sp>
        <p:nvSpPr>
          <p:cNvPr id="39" name="text-1116"/>
          <p:cNvSpPr txBox="1"/>
          <p:nvPr/>
        </p:nvSpPr>
        <p:spPr>
          <a:xfrm>
            <a:off x="6419820" y="5486400"/>
            <a:ext cx="2152680" cy="704820"/>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No data sales, lender referral fees, sweepstakes, or guarantees.</a:t>
            </a:r>
            <a:endParaRPr lang="en-US" sz="1313" dirty="0"/>
          </a:p>
        </p:txBody>
      </p:sp>
      <p:sp>
        <p:nvSpPr>
          <p:cNvPr id="40" name="rect-1117"/>
          <p:cNvSpPr/>
          <p:nvPr/>
        </p:nvSpPr>
        <p:spPr>
          <a:xfrm>
            <a:off x="9010680" y="4229100"/>
            <a:ext cx="2571750" cy="2095530"/>
          </a:xfrm>
          <a:prstGeom prst="roundRect">
            <a:avLst>
              <a:gd name="adj" fmla="val 727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41" name="oval-1118"/>
          <p:cNvSpPr/>
          <p:nvPr/>
        </p:nvSpPr>
        <p:spPr>
          <a:xfrm>
            <a:off x="9220170" y="4438680"/>
            <a:ext cx="323880" cy="323880"/>
          </a:xfrm>
          <a:prstGeom prst="ellipse">
            <a:avLst/>
          </a:prstGeom>
          <a:solidFill>
            <a:srgbClr val="E9EEF5"/>
          </a:solidFill>
          <a:ln/>
        </p:spPr>
      </p:sp>
      <p:sp>
        <p:nvSpPr>
          <p:cNvPr id="42" name="text-1119"/>
          <p:cNvSpPr txBox="1"/>
          <p:nvPr/>
        </p:nvSpPr>
        <p:spPr>
          <a:xfrm>
            <a:off x="9220170" y="4505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8</a:t>
            </a:r>
            <a:endParaRPr lang="en-US" sz="1125" dirty="0"/>
          </a:p>
        </p:txBody>
      </p:sp>
      <p:sp>
        <p:nvSpPr>
          <p:cNvPr id="43" name="text-1120"/>
          <p:cNvSpPr txBox="1"/>
          <p:nvPr/>
        </p:nvSpPr>
        <p:spPr>
          <a:xfrm>
            <a:off x="9220170" y="4914900"/>
            <a:ext cx="2152680" cy="276240"/>
          </a:xfrm>
          <a:prstGeom prst="rect">
            <a:avLst/>
          </a:prstGeom>
          <a:noFill/>
          <a:ln/>
        </p:spPr>
        <p:txBody>
          <a:bodyPr wrap="square" lIns="0" tIns="0" rIns="0" bIns="0" rtlCol="0" anchor="t"/>
          <a:lstStyle/>
          <a:p>
            <a:pPr algn="l" indent="0" marL="0">
              <a:lnSpc>
                <a:spcPct val="125000"/>
              </a:lnSpc>
              <a:buNone/>
            </a:pPr>
            <a:r>
              <a:rPr lang="en-US" sz="1500" b="1" dirty="0">
                <a:solidFill>
                  <a:srgbClr val="14202F"/>
                </a:solidFill>
                <a:latin typeface="Arial" pitchFamily="34" charset="0"/>
                <a:ea typeface="Arial" pitchFamily="34" charset="-122"/>
                <a:cs typeface="Arial" pitchFamily="34" charset="-120"/>
              </a:rPr>
              <a:t>13 and older</a:t>
            </a:r>
            <a:endParaRPr lang="en-US" sz="1500" dirty="0"/>
          </a:p>
        </p:txBody>
      </p:sp>
      <p:sp>
        <p:nvSpPr>
          <p:cNvPr id="44" name="text-1121"/>
          <p:cNvSpPr txBox="1"/>
          <p:nvPr/>
        </p:nvSpPr>
        <p:spPr>
          <a:xfrm>
            <a:off x="9220170" y="5248290"/>
            <a:ext cx="2152680" cy="943021"/>
          </a:xfrm>
          <a:prstGeom prst="rect">
            <a:avLst/>
          </a:prstGeom>
          <a:noFill/>
          <a:ln/>
        </p:spPr>
        <p:txBody>
          <a:bodyPr wrap="square" lIns="0" tIns="0" rIns="0" bIns="0" rtlCol="0" anchor="t"/>
          <a:lstStyle/>
          <a:p>
            <a:pPr algn="l" indent="0" marL="0">
              <a:lnSpc>
                <a:spcPct val="142000"/>
              </a:lnSpc>
              <a:buNone/>
            </a:pPr>
            <a:r>
              <a:rPr lang="en-US" sz="1313" dirty="0">
                <a:solidFill>
                  <a:srgbClr val="3B4555"/>
                </a:solidFill>
                <a:latin typeface="Arial" pitchFamily="34" charset="0"/>
                <a:ea typeface="Arial" pitchFamily="34" charset="-122"/>
                <a:cs typeface="Arial" pitchFamily="34" charset="-120"/>
              </a:rPr>
              <a:t>Students under 13 can't sign up.</a:t>
            </a:r>
            <a:endParaRPr lang="en-US" sz="13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1122"/>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PRIVACY AND SECURITY</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Private by design</a:t>
            </a:r>
            <a:endParaRPr lang="en-US" sz="3600" dirty="0"/>
          </a:p>
        </p:txBody>
      </p:sp>
      <p:sp>
        <p:nvSpPr>
          <p:cNvPr id="4" name="text-1124"/>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Built for a teenager's data from the first line of code.</a:t>
            </a:r>
            <a:endParaRPr lang="en-US" sz="1575" dirty="0"/>
          </a:p>
        </p:txBody>
      </p:sp>
      <p:sp>
        <p:nvSpPr>
          <p:cNvPr id="5" name="rect-1125"/>
          <p:cNvSpPr/>
          <p:nvPr/>
        </p:nvSpPr>
        <p:spPr>
          <a:xfrm>
            <a:off x="60963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126"/>
          <p:cNvSpPr/>
          <p:nvPr/>
        </p:nvSpPr>
        <p:spPr>
          <a:xfrm>
            <a:off x="857250" y="2152680"/>
            <a:ext cx="323880" cy="323880"/>
          </a:xfrm>
          <a:prstGeom prst="ellipse">
            <a:avLst/>
          </a:prstGeom>
          <a:solidFill>
            <a:srgbClr val="E9EEF5"/>
          </a:solidFill>
          <a:ln/>
        </p:spPr>
      </p:sp>
      <p:sp>
        <p:nvSpPr>
          <p:cNvPr id="7" name="text-1127"/>
          <p:cNvSpPr txBox="1"/>
          <p:nvPr/>
        </p:nvSpPr>
        <p:spPr>
          <a:xfrm>
            <a:off x="85725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1</a:t>
            </a:r>
            <a:endParaRPr lang="en-US" sz="1125" dirty="0"/>
          </a:p>
        </p:txBody>
      </p:sp>
      <p:sp>
        <p:nvSpPr>
          <p:cNvPr id="8" name="text-1128"/>
          <p:cNvSpPr txBox="1"/>
          <p:nvPr/>
        </p:nvSpPr>
        <p:spPr>
          <a:xfrm>
            <a:off x="85725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Authorization everywhere</a:t>
            </a:r>
            <a:endParaRPr lang="en-US" sz="1650" dirty="0"/>
          </a:p>
        </p:txBody>
      </p:sp>
      <p:sp>
        <p:nvSpPr>
          <p:cNvPr id="9" name="text-1129"/>
          <p:cNvSpPr txBox="1"/>
          <p:nvPr/>
        </p:nvSpPr>
        <p:spPr>
          <a:xfrm>
            <a:off x="857250" y="2986065"/>
            <a:ext cx="3009930" cy="9572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Every service checks ownership or a share grant. Cross-user and cross-family tests pass.</a:t>
            </a:r>
            <a:endParaRPr lang="en-US" sz="1388" dirty="0"/>
          </a:p>
        </p:txBody>
      </p:sp>
      <p:sp>
        <p:nvSpPr>
          <p:cNvPr id="10" name="rect-1130"/>
          <p:cNvSpPr/>
          <p:nvPr/>
        </p:nvSpPr>
        <p:spPr>
          <a:xfrm>
            <a:off x="434340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131"/>
          <p:cNvSpPr/>
          <p:nvPr/>
        </p:nvSpPr>
        <p:spPr>
          <a:xfrm>
            <a:off x="4591020" y="2152680"/>
            <a:ext cx="323880" cy="323880"/>
          </a:xfrm>
          <a:prstGeom prst="ellipse">
            <a:avLst/>
          </a:prstGeom>
          <a:solidFill>
            <a:srgbClr val="E9EEF5"/>
          </a:solidFill>
          <a:ln/>
        </p:spPr>
      </p:sp>
      <p:sp>
        <p:nvSpPr>
          <p:cNvPr id="12" name="text-1132"/>
          <p:cNvSpPr txBox="1"/>
          <p:nvPr/>
        </p:nvSpPr>
        <p:spPr>
          <a:xfrm>
            <a:off x="459102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2</a:t>
            </a:r>
            <a:endParaRPr lang="en-US" sz="1125" dirty="0"/>
          </a:p>
        </p:txBody>
      </p:sp>
      <p:sp>
        <p:nvSpPr>
          <p:cNvPr id="13" name="text-1133"/>
          <p:cNvSpPr txBox="1"/>
          <p:nvPr/>
        </p:nvSpPr>
        <p:spPr>
          <a:xfrm>
            <a:off x="459102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Encryption</a:t>
            </a:r>
            <a:endParaRPr lang="en-US" sz="1650" dirty="0"/>
          </a:p>
        </p:txBody>
      </p:sp>
      <p:sp>
        <p:nvSpPr>
          <p:cNvPr id="14" name="text-1134"/>
          <p:cNvSpPr txBox="1"/>
          <p:nvPr/>
        </p:nvSpPr>
        <p:spPr>
          <a:xfrm>
            <a:off x="4591020" y="2986065"/>
            <a:ext cx="3009930" cy="9572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Sensitive facts and uploaded files are encrypted with AES-256-GCM. Keys never reach logs.</a:t>
            </a:r>
            <a:endParaRPr lang="en-US" sz="1388" dirty="0"/>
          </a:p>
        </p:txBody>
      </p:sp>
      <p:sp>
        <p:nvSpPr>
          <p:cNvPr id="15" name="rect-1135"/>
          <p:cNvSpPr/>
          <p:nvPr/>
        </p:nvSpPr>
        <p:spPr>
          <a:xfrm>
            <a:off x="8077170" y="190497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136"/>
          <p:cNvSpPr/>
          <p:nvPr/>
        </p:nvSpPr>
        <p:spPr>
          <a:xfrm>
            <a:off x="8324880" y="2152680"/>
            <a:ext cx="323880" cy="323880"/>
          </a:xfrm>
          <a:prstGeom prst="ellipse">
            <a:avLst/>
          </a:prstGeom>
          <a:solidFill>
            <a:srgbClr val="E9EEF5"/>
          </a:solidFill>
          <a:ln/>
        </p:spPr>
      </p:sp>
      <p:sp>
        <p:nvSpPr>
          <p:cNvPr id="17" name="text-1137"/>
          <p:cNvSpPr txBox="1"/>
          <p:nvPr/>
        </p:nvSpPr>
        <p:spPr>
          <a:xfrm>
            <a:off x="832488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3</a:t>
            </a:r>
            <a:endParaRPr lang="en-US" sz="1125" dirty="0"/>
          </a:p>
        </p:txBody>
      </p:sp>
      <p:sp>
        <p:nvSpPr>
          <p:cNvPr id="18" name="text-1138"/>
          <p:cNvSpPr txBox="1"/>
          <p:nvPr/>
        </p:nvSpPr>
        <p:spPr>
          <a:xfrm>
            <a:off x="832488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Audit trail</a:t>
            </a:r>
            <a:endParaRPr lang="en-US" sz="1650" dirty="0"/>
          </a:p>
        </p:txBody>
      </p:sp>
      <p:sp>
        <p:nvSpPr>
          <p:cNvPr id="19" name="text-1139"/>
          <p:cNvSpPr txBox="1"/>
          <p:nvPr/>
        </p:nvSpPr>
        <p:spPr>
          <a:xfrm>
            <a:off x="8324880" y="2986065"/>
            <a:ext cx="3009930" cy="9572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Sign-ins, sharing changes, exports, deletions, admin edits, and helper-link use.</a:t>
            </a:r>
            <a:endParaRPr lang="en-US" sz="1388" dirty="0"/>
          </a:p>
        </p:txBody>
      </p:sp>
      <p:sp>
        <p:nvSpPr>
          <p:cNvPr id="20" name="rect-1140"/>
          <p:cNvSpPr/>
          <p:nvPr/>
        </p:nvSpPr>
        <p:spPr>
          <a:xfrm>
            <a:off x="60963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141"/>
          <p:cNvSpPr/>
          <p:nvPr/>
        </p:nvSpPr>
        <p:spPr>
          <a:xfrm>
            <a:off x="857250" y="4591020"/>
            <a:ext cx="323880" cy="323880"/>
          </a:xfrm>
          <a:prstGeom prst="ellipse">
            <a:avLst/>
          </a:prstGeom>
          <a:solidFill>
            <a:srgbClr val="E9EEF5"/>
          </a:solidFill>
          <a:ln/>
        </p:spPr>
      </p:sp>
      <p:sp>
        <p:nvSpPr>
          <p:cNvPr id="22" name="text-1142"/>
          <p:cNvSpPr txBox="1"/>
          <p:nvPr/>
        </p:nvSpPr>
        <p:spPr>
          <a:xfrm>
            <a:off x="857250" y="46577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4</a:t>
            </a:r>
            <a:endParaRPr lang="en-US" sz="1125" dirty="0"/>
          </a:p>
        </p:txBody>
      </p:sp>
      <p:sp>
        <p:nvSpPr>
          <p:cNvPr id="23" name="text-1143"/>
          <p:cNvSpPr txBox="1"/>
          <p:nvPr/>
        </p:nvSpPr>
        <p:spPr>
          <a:xfrm>
            <a:off x="857250" y="50673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No trackers</a:t>
            </a:r>
            <a:endParaRPr lang="en-US" sz="1650" dirty="0"/>
          </a:p>
        </p:txBody>
      </p:sp>
      <p:sp>
        <p:nvSpPr>
          <p:cNvPr id="24" name="text-1144"/>
          <p:cNvSpPr txBox="1"/>
          <p:nvPr/>
        </p:nvSpPr>
        <p:spPr>
          <a:xfrm>
            <a:off x="857250" y="542449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No third-party analytics or ad SDKs on any signed-in page.</a:t>
            </a:r>
            <a:endParaRPr lang="en-US" sz="1388" dirty="0"/>
          </a:p>
        </p:txBody>
      </p:sp>
      <p:sp>
        <p:nvSpPr>
          <p:cNvPr id="25" name="rect-1145"/>
          <p:cNvSpPr/>
          <p:nvPr/>
        </p:nvSpPr>
        <p:spPr>
          <a:xfrm>
            <a:off x="434340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oval-1146"/>
          <p:cNvSpPr/>
          <p:nvPr/>
        </p:nvSpPr>
        <p:spPr>
          <a:xfrm>
            <a:off x="4591020" y="4591020"/>
            <a:ext cx="323880" cy="323880"/>
          </a:xfrm>
          <a:prstGeom prst="ellipse">
            <a:avLst/>
          </a:prstGeom>
          <a:solidFill>
            <a:srgbClr val="E9EEF5"/>
          </a:solidFill>
          <a:ln/>
        </p:spPr>
      </p:sp>
      <p:sp>
        <p:nvSpPr>
          <p:cNvPr id="27" name="text-1147"/>
          <p:cNvSpPr txBox="1"/>
          <p:nvPr/>
        </p:nvSpPr>
        <p:spPr>
          <a:xfrm>
            <a:off x="4591020" y="46577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5</a:t>
            </a:r>
            <a:endParaRPr lang="en-US" sz="1125" dirty="0"/>
          </a:p>
        </p:txBody>
      </p:sp>
      <p:sp>
        <p:nvSpPr>
          <p:cNvPr id="28" name="text-1148"/>
          <p:cNvSpPr txBox="1"/>
          <p:nvPr/>
        </p:nvSpPr>
        <p:spPr>
          <a:xfrm>
            <a:off x="4591020" y="50673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Rate limits</a:t>
            </a:r>
            <a:endParaRPr lang="en-US" sz="1650" dirty="0"/>
          </a:p>
        </p:txBody>
      </p:sp>
      <p:sp>
        <p:nvSpPr>
          <p:cNvPr id="29" name="text-1149"/>
          <p:cNvSpPr txBox="1"/>
          <p:nvPr/>
        </p:nvSpPr>
        <p:spPr>
          <a:xfrm>
            <a:off x="4591020" y="542449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Per-user and per-IP limits on sign-in, crew requests, uploads, and public tools.</a:t>
            </a:r>
            <a:endParaRPr lang="en-US" sz="1388" dirty="0"/>
          </a:p>
        </p:txBody>
      </p:sp>
      <p:sp>
        <p:nvSpPr>
          <p:cNvPr id="30" name="rect-1150"/>
          <p:cNvSpPr/>
          <p:nvPr/>
        </p:nvSpPr>
        <p:spPr>
          <a:xfrm>
            <a:off x="8077170" y="434340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31" name="oval-1151"/>
          <p:cNvSpPr/>
          <p:nvPr/>
        </p:nvSpPr>
        <p:spPr>
          <a:xfrm>
            <a:off x="8324880" y="4591020"/>
            <a:ext cx="323880" cy="323880"/>
          </a:xfrm>
          <a:prstGeom prst="ellipse">
            <a:avLst/>
          </a:prstGeom>
          <a:solidFill>
            <a:srgbClr val="E9EEF5"/>
          </a:solidFill>
          <a:ln/>
        </p:spPr>
      </p:sp>
      <p:sp>
        <p:nvSpPr>
          <p:cNvPr id="32" name="text-1152"/>
          <p:cNvSpPr txBox="1"/>
          <p:nvPr/>
        </p:nvSpPr>
        <p:spPr>
          <a:xfrm>
            <a:off x="8324880" y="46577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6</a:t>
            </a:r>
            <a:endParaRPr lang="en-US" sz="1125" dirty="0"/>
          </a:p>
        </p:txBody>
      </p:sp>
      <p:sp>
        <p:nvSpPr>
          <p:cNvPr id="33" name="text-1153"/>
          <p:cNvSpPr txBox="1"/>
          <p:nvPr/>
        </p:nvSpPr>
        <p:spPr>
          <a:xfrm>
            <a:off x="8324880" y="50673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Short retention</a:t>
            </a:r>
            <a:endParaRPr lang="en-US" sz="1650" dirty="0"/>
          </a:p>
        </p:txBody>
      </p:sp>
      <p:sp>
        <p:nvSpPr>
          <p:cNvPr id="34" name="text-1154"/>
          <p:cNvSpPr txBox="1"/>
          <p:nvPr/>
        </p:nvSpPr>
        <p:spPr>
          <a:xfrm>
            <a:off x="8324880" y="542449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Temporary chats last 24 hours. Deleted accounts are purged within 7 days.</a:t>
            </a:r>
            <a:endParaRPr lang="en-US" sz="1388"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1155"/>
          <p:cNvSpPr txBox="1"/>
          <p:nvPr/>
        </p:nvSpPr>
        <p:spPr>
          <a:xfrm>
            <a:off x="609630" y="2343150"/>
            <a:ext cx="57150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9FB0C6"/>
                </a:solidFill>
                <a:latin typeface="Arial" pitchFamily="34" charset="0"/>
                <a:ea typeface="Arial" pitchFamily="34" charset="-122"/>
                <a:cs typeface="Arial" pitchFamily="34" charset="-120"/>
              </a:rPr>
              <a:t>PART 4</a:t>
            </a:r>
            <a:endParaRPr lang="en-US" sz="1013" dirty="0"/>
          </a:p>
        </p:txBody>
      </p:sp>
      <p:sp>
        <p:nvSpPr>
          <p:cNvPr id="3" name="Text 0"/>
          <p:cNvSpPr/>
          <p:nvPr>
            <p:ph idx="100" type="title" hasCustomPrompt="1"/>
          </p:nvPr>
        </p:nvSpPr>
        <p:spPr>
          <a:xfrm>
            <a:off x="609630" y="2609880"/>
            <a:ext cx="10972800" cy="952530"/>
          </a:xfrm>
          <a:prstGeom prst="rect">
            <a:avLst/>
          </a:prstGeom>
          <a:noFill/>
          <a:ln/>
        </p:spPr>
        <p:txBody>
          <a:bodyPr wrap="square" lIns="0" tIns="0" rIns="0" bIns="0" rtlCol="0" anchor="t"/>
          <a:lstStyle/>
          <a:p>
            <a:pPr algn="l" indent="0" marL="0">
              <a:buNone/>
            </a:pPr>
            <a:r>
              <a:rPr lang="en-US" sz="6000" b="1" dirty="0">
                <a:solidFill>
                  <a:srgbClr val="FFFFFF"/>
                </a:solidFill>
                <a:latin typeface="Arial" pitchFamily="34" charset="0"/>
                <a:ea typeface="Arial" pitchFamily="34" charset="-122"/>
                <a:cs typeface="Arial" pitchFamily="34" charset="-120"/>
              </a:rPr>
              <a:t>Why it works</a:t>
            </a:r>
            <a:endParaRPr lang="en-US" sz="6000" dirty="0"/>
          </a:p>
        </p:txBody>
      </p:sp>
      <p:sp>
        <p:nvSpPr>
          <p:cNvPr id="4" name="text-1157"/>
          <p:cNvSpPr txBox="1"/>
          <p:nvPr/>
        </p:nvSpPr>
        <p:spPr>
          <a:xfrm>
            <a:off x="609630" y="3733770"/>
            <a:ext cx="8191470" cy="685800"/>
          </a:xfrm>
          <a:prstGeom prst="rect">
            <a:avLst/>
          </a:prstGeom>
          <a:noFill/>
          <a:ln/>
        </p:spPr>
        <p:txBody>
          <a:bodyPr wrap="square" lIns="0" tIns="0" rIns="0" bIns="0" rtlCol="0" anchor="t"/>
          <a:lstStyle/>
          <a:p>
            <a:pPr algn="l" indent="0" marL="0">
              <a:lnSpc>
                <a:spcPct val="135000"/>
              </a:lnSpc>
              <a:buNone/>
            </a:pPr>
            <a:r>
              <a:rPr lang="en-US" sz="1950" dirty="0">
                <a:solidFill>
                  <a:srgbClr val="C9D3E0"/>
                </a:solidFill>
                <a:latin typeface="Arial" pitchFamily="34" charset="0"/>
                <a:ea typeface="Arial" pitchFamily="34" charset="-122"/>
                <a:cs typeface="Arial" pitchFamily="34" charset="-120"/>
              </a:rPr>
              <a:t>The value for families, pricing, and how the product was verified.</a:t>
            </a:r>
            <a:endParaRPr lang="en-US" sz="1950" dirty="0"/>
          </a:p>
        </p:txBody>
      </p:sp>
      <p:sp>
        <p:nvSpPr>
          <p:cNvPr id="5" name="oval-1158"/>
          <p:cNvSpPr/>
          <p:nvPr/>
        </p:nvSpPr>
        <p:spPr>
          <a:xfrm>
            <a:off x="609630" y="5333970"/>
            <a:ext cx="133320" cy="133320"/>
          </a:xfrm>
          <a:prstGeom prst="ellipse">
            <a:avLst/>
          </a:prstGeom>
          <a:solidFill>
            <a:srgbClr val="2A78D6"/>
          </a:solidFill>
          <a:ln/>
        </p:spPr>
      </p:sp>
      <p:sp>
        <p:nvSpPr>
          <p:cNvPr id="6" name="oval-1159"/>
          <p:cNvSpPr/>
          <p:nvPr/>
        </p:nvSpPr>
        <p:spPr>
          <a:xfrm>
            <a:off x="857250" y="5333970"/>
            <a:ext cx="133320" cy="133320"/>
          </a:xfrm>
          <a:prstGeom prst="ellipse">
            <a:avLst/>
          </a:prstGeom>
          <a:solidFill>
            <a:srgbClr val="EB6834"/>
          </a:solidFill>
          <a:ln/>
        </p:spPr>
      </p:sp>
      <p:sp>
        <p:nvSpPr>
          <p:cNvPr id="7" name="oval-1160"/>
          <p:cNvSpPr/>
          <p:nvPr/>
        </p:nvSpPr>
        <p:spPr>
          <a:xfrm>
            <a:off x="1104870" y="5333970"/>
            <a:ext cx="133320" cy="133320"/>
          </a:xfrm>
          <a:prstGeom prst="ellipse">
            <a:avLst/>
          </a:prstGeom>
          <a:solidFill>
            <a:srgbClr val="1BAF7A"/>
          </a:solidFill>
          <a:ln/>
        </p:spPr>
      </p:sp>
      <p:sp>
        <p:nvSpPr>
          <p:cNvPr id="8" name="oval-1161"/>
          <p:cNvSpPr/>
          <p:nvPr/>
        </p:nvSpPr>
        <p:spPr>
          <a:xfrm>
            <a:off x="1352580" y="5333970"/>
            <a:ext cx="133320" cy="133320"/>
          </a:xfrm>
          <a:prstGeom prst="ellipse">
            <a:avLst/>
          </a:prstGeom>
          <a:solidFill>
            <a:srgbClr val="EDA100"/>
          </a:solidFill>
          <a:ln/>
        </p:spPr>
      </p:sp>
      <p:sp>
        <p:nvSpPr>
          <p:cNvPr id="9" name="oval-1162"/>
          <p:cNvSpPr/>
          <p:nvPr/>
        </p:nvSpPr>
        <p:spPr>
          <a:xfrm>
            <a:off x="1600200" y="5333970"/>
            <a:ext cx="133320" cy="133320"/>
          </a:xfrm>
          <a:prstGeom prst="ellipse">
            <a:avLst/>
          </a:prstGeom>
          <a:solidFill>
            <a:srgbClr val="E87BA4"/>
          </a:solidFill>
          <a:ln/>
        </p:spPr>
      </p:sp>
      <p:sp>
        <p:nvSpPr>
          <p:cNvPr id="10" name="oval-1163"/>
          <p:cNvSpPr/>
          <p:nvPr/>
        </p:nvSpPr>
        <p:spPr>
          <a:xfrm>
            <a:off x="1847820" y="5333970"/>
            <a:ext cx="133320" cy="133320"/>
          </a:xfrm>
          <a:prstGeom prst="ellipse">
            <a:avLst/>
          </a:prstGeom>
          <a:solidFill>
            <a:srgbClr val="008300"/>
          </a:solidFill>
          <a:ln/>
        </p:spPr>
      </p:sp>
      <p:sp>
        <p:nvSpPr>
          <p:cNvPr id="11" name="oval-1164"/>
          <p:cNvSpPr/>
          <p:nvPr/>
        </p:nvSpPr>
        <p:spPr>
          <a:xfrm>
            <a:off x="2095530" y="5333970"/>
            <a:ext cx="133320" cy="133320"/>
          </a:xfrm>
          <a:prstGeom prst="ellipse">
            <a:avLst/>
          </a:prstGeom>
          <a:solidFill>
            <a:srgbClr val="4A3AA7"/>
          </a:solidFill>
          <a:ln/>
        </p:spPr>
      </p:sp>
      <p:sp>
        <p:nvSpPr>
          <p:cNvPr id="12" name="oval-1165"/>
          <p:cNvSpPr/>
          <p:nvPr/>
        </p:nvSpPr>
        <p:spPr>
          <a:xfrm>
            <a:off x="2343150" y="5333970"/>
            <a:ext cx="133320" cy="133320"/>
          </a:xfrm>
          <a:prstGeom prst="ellipse">
            <a:avLst/>
          </a:prstGeom>
          <a:solidFill>
            <a:srgbClr val="E34948"/>
          </a:solidFill>
          <a:ln/>
        </p:spPr>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1166"/>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WHY IT'S USEFUL</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From scattered tabs to one plan</a:t>
            </a:r>
            <a:endParaRPr lang="en-US" sz="3600" dirty="0"/>
          </a:p>
        </p:txBody>
      </p:sp>
      <p:sp>
        <p:nvSpPr>
          <p:cNvPr id="4" name="text-1168"/>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What changes for a family doing this for the first time.</a:t>
            </a:r>
            <a:endParaRPr lang="en-US" sz="1575" dirty="0"/>
          </a:p>
        </p:txBody>
      </p:sp>
      <p:sp>
        <p:nvSpPr>
          <p:cNvPr id="5" name="text-1169"/>
          <p:cNvSpPr txBox="1"/>
          <p:nvPr/>
        </p:nvSpPr>
        <p:spPr>
          <a:xfrm>
            <a:off x="609630" y="1904970"/>
            <a:ext cx="4953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8C929C"/>
                </a:solidFill>
                <a:latin typeface="Arial" pitchFamily="34" charset="0"/>
                <a:ea typeface="Arial" pitchFamily="34" charset="-122"/>
                <a:cs typeface="Arial" pitchFamily="34" charset="-120"/>
              </a:rPr>
              <a:t>WITHOUT</a:t>
            </a:r>
            <a:endParaRPr lang="en-US" sz="1013" dirty="0"/>
          </a:p>
        </p:txBody>
      </p:sp>
      <p:sp>
        <p:nvSpPr>
          <p:cNvPr id="6" name="text-1170"/>
          <p:cNvSpPr txBox="1"/>
          <p:nvPr/>
        </p:nvSpPr>
        <p:spPr>
          <a:xfrm>
            <a:off x="5943600" y="1904970"/>
            <a:ext cx="56388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1E3A5F"/>
                </a:solidFill>
                <a:latin typeface="Arial" pitchFamily="34" charset="0"/>
                <a:ea typeface="Arial" pitchFamily="34" charset="-122"/>
                <a:cs typeface="Arial" pitchFamily="34" charset="-120"/>
              </a:rPr>
              <a:t>WITH SCHOLARCREW</a:t>
            </a:r>
            <a:endParaRPr lang="en-US" sz="1013" dirty="0"/>
          </a:p>
        </p:txBody>
      </p:sp>
      <p:sp>
        <p:nvSpPr>
          <p:cNvPr id="7" name="rect-1171"/>
          <p:cNvSpPr/>
          <p:nvPr/>
        </p:nvSpPr>
        <p:spPr>
          <a:xfrm>
            <a:off x="5753130" y="1790670"/>
            <a:ext cx="5829300" cy="4533870"/>
          </a:xfrm>
          <a:prstGeom prst="roundRect">
            <a:avLst>
              <a:gd name="adj" fmla="val 3782"/>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8" name="text-1172"/>
          <p:cNvSpPr txBox="1"/>
          <p:nvPr/>
        </p:nvSpPr>
        <p:spPr>
          <a:xfrm>
            <a:off x="609630" y="2305020"/>
            <a:ext cx="209580" cy="228600"/>
          </a:xfrm>
          <a:prstGeom prst="rect">
            <a:avLst/>
          </a:prstGeom>
          <a:noFill/>
          <a:ln/>
        </p:spPr>
        <p:txBody>
          <a:bodyPr wrap="square" lIns="0" tIns="0" rIns="0" bIns="0" rtlCol="0" anchor="t"/>
          <a:lstStyle/>
          <a:p>
            <a:pPr algn="l" indent="0" marL="0">
              <a:lnSpc>
                <a:spcPct val="120000"/>
              </a:lnSpc>
              <a:buNone/>
            </a:pPr>
            <a:r>
              <a:rPr lang="en-US" sz="1350" b="1" dirty="0">
                <a:solidFill>
                  <a:srgbClr val="8C929C"/>
                </a:solidFill>
                <a:latin typeface="Arial" pitchFamily="34" charset="0"/>
                <a:ea typeface="Arial" pitchFamily="34" charset="-122"/>
                <a:cs typeface="Arial" pitchFamily="34" charset="-120"/>
              </a:rPr>
              <a:t>✕</a:t>
            </a:r>
            <a:endParaRPr lang="en-US" sz="1350" dirty="0"/>
          </a:p>
        </p:txBody>
      </p:sp>
      <p:sp>
        <p:nvSpPr>
          <p:cNvPr id="9" name="text-1173"/>
          <p:cNvSpPr txBox="1"/>
          <p:nvPr/>
        </p:nvSpPr>
        <p:spPr>
          <a:xfrm>
            <a:off x="914400" y="2266980"/>
            <a:ext cx="4572000" cy="571500"/>
          </a:xfrm>
          <a:prstGeom prst="rect">
            <a:avLst/>
          </a:prstGeom>
          <a:noFill/>
          <a:ln/>
        </p:spPr>
        <p:txBody>
          <a:bodyPr wrap="square" lIns="0" tIns="0" rIns="0" bIns="0" rtlCol="0" anchor="t"/>
          <a:lstStyle/>
          <a:p>
            <a:pPr algn="l" indent="0" marL="0">
              <a:lnSpc>
                <a:spcPct val="135000"/>
              </a:lnSpc>
              <a:buNone/>
            </a:pPr>
            <a:r>
              <a:rPr lang="en-US" sz="1463" dirty="0">
                <a:solidFill>
                  <a:srgbClr val="636B78"/>
                </a:solidFill>
                <a:latin typeface="Arial" pitchFamily="34" charset="0"/>
                <a:ea typeface="Arial" pitchFamily="34" charset="-122"/>
                <a:cs typeface="Arial" pitchFamily="34" charset="-120"/>
              </a:rPr>
              <a:t>Search sites full of long shots and scams</a:t>
            </a:r>
            <a:endParaRPr lang="en-US" sz="1463" dirty="0"/>
          </a:p>
        </p:txBody>
      </p:sp>
      <p:sp>
        <p:nvSpPr>
          <p:cNvPr id="10" name="oval-1174"/>
          <p:cNvSpPr/>
          <p:nvPr/>
        </p:nvSpPr>
        <p:spPr>
          <a:xfrm>
            <a:off x="5943600" y="2305020"/>
            <a:ext cx="209580" cy="209580"/>
          </a:xfrm>
          <a:prstGeom prst="ellipse">
            <a:avLst/>
          </a:prstGeom>
          <a:solidFill>
            <a:srgbClr val="E6F4EC"/>
          </a:solidFill>
          <a:ln/>
        </p:spPr>
      </p:sp>
      <p:sp>
        <p:nvSpPr>
          <p:cNvPr id="11" name="text-1175"/>
          <p:cNvSpPr txBox="1"/>
          <p:nvPr/>
        </p:nvSpPr>
        <p:spPr>
          <a:xfrm>
            <a:off x="5943600" y="2324130"/>
            <a:ext cx="209580" cy="171450"/>
          </a:xfrm>
          <a:prstGeom prst="rect">
            <a:avLst/>
          </a:prstGeom>
          <a:noFill/>
          <a:ln/>
        </p:spPr>
        <p:txBody>
          <a:bodyPr wrap="square" lIns="0" tIns="0" rIns="0" bIns="0" rtlCol="0" anchor="t"/>
          <a:lstStyle/>
          <a:p>
            <a:pPr algn="ctr" indent="0" marL="0">
              <a:lnSpc>
                <a:spcPct val="120000"/>
              </a:lnSpc>
              <a:buNone/>
            </a:pPr>
            <a:r>
              <a:rPr lang="en-US" sz="975" b="1" dirty="0">
                <a:solidFill>
                  <a:srgbClr val="0B6B3A"/>
                </a:solidFill>
                <a:latin typeface="Arial" pitchFamily="34" charset="0"/>
                <a:ea typeface="Arial" pitchFamily="34" charset="-122"/>
                <a:cs typeface="Arial" pitchFamily="34" charset="-120"/>
              </a:rPr>
              <a:t>✓</a:t>
            </a:r>
            <a:endParaRPr lang="en-US" sz="975" dirty="0"/>
          </a:p>
        </p:txBody>
      </p:sp>
      <p:sp>
        <p:nvSpPr>
          <p:cNvPr id="12" name="text-1176"/>
          <p:cNvSpPr txBox="1"/>
          <p:nvPr/>
        </p:nvSpPr>
        <p:spPr>
          <a:xfrm>
            <a:off x="6267480" y="2266980"/>
            <a:ext cx="5124480" cy="571500"/>
          </a:xfrm>
          <a:prstGeom prst="rect">
            <a:avLst/>
          </a:prstGeom>
          <a:noFill/>
          <a:ln/>
        </p:spPr>
        <p:txBody>
          <a:bodyPr wrap="square" lIns="0" tIns="0" rIns="0" bIns="0" rtlCol="0" anchor="t"/>
          <a:lstStyle/>
          <a:p>
            <a:pPr algn="l" indent="0" marL="0">
              <a:lnSpc>
                <a:spcPct val="135000"/>
              </a:lnSpc>
              <a:buNone/>
            </a:pPr>
            <a:r>
              <a:rPr lang="en-US" sz="1463" dirty="0">
                <a:solidFill>
                  <a:srgbClr val="14202F"/>
                </a:solidFill>
                <a:latin typeface="Arial" pitchFamily="34" charset="0"/>
                <a:ea typeface="Arial" pitchFamily="34" charset="-122"/>
                <a:cs typeface="Arial" pitchFamily="34" charset="-120"/>
              </a:rPr>
              <a:t>Verified matches ranked by value per hour, scams hidden</a:t>
            </a:r>
            <a:endParaRPr lang="en-US" sz="1463" dirty="0"/>
          </a:p>
        </p:txBody>
      </p:sp>
      <p:sp>
        <p:nvSpPr>
          <p:cNvPr id="13" name="rect-1177"/>
          <p:cNvSpPr/>
          <p:nvPr/>
        </p:nvSpPr>
        <p:spPr>
          <a:xfrm>
            <a:off x="609630" y="2933670"/>
            <a:ext cx="10972800" cy="9510"/>
          </a:xfrm>
          <a:prstGeom prst="rect">
            <a:avLst/>
          </a:prstGeom>
          <a:solidFill>
            <a:srgbClr val="E5E1D7"/>
          </a:solidFill>
          <a:ln/>
        </p:spPr>
      </p:sp>
      <p:sp>
        <p:nvSpPr>
          <p:cNvPr id="14" name="text-1178"/>
          <p:cNvSpPr txBox="1"/>
          <p:nvPr/>
        </p:nvSpPr>
        <p:spPr>
          <a:xfrm>
            <a:off x="609630" y="3105120"/>
            <a:ext cx="209580" cy="228600"/>
          </a:xfrm>
          <a:prstGeom prst="rect">
            <a:avLst/>
          </a:prstGeom>
          <a:noFill/>
          <a:ln/>
        </p:spPr>
        <p:txBody>
          <a:bodyPr wrap="square" lIns="0" tIns="0" rIns="0" bIns="0" rtlCol="0" anchor="t"/>
          <a:lstStyle/>
          <a:p>
            <a:pPr algn="l" indent="0" marL="0">
              <a:lnSpc>
                <a:spcPct val="120000"/>
              </a:lnSpc>
              <a:buNone/>
            </a:pPr>
            <a:r>
              <a:rPr lang="en-US" sz="1350" b="1" dirty="0">
                <a:solidFill>
                  <a:srgbClr val="8C929C"/>
                </a:solidFill>
                <a:latin typeface="Arial" pitchFamily="34" charset="0"/>
                <a:ea typeface="Arial" pitchFamily="34" charset="-122"/>
                <a:cs typeface="Arial" pitchFamily="34" charset="-120"/>
              </a:rPr>
              <a:t>✕</a:t>
            </a:r>
            <a:endParaRPr lang="en-US" sz="1350" dirty="0"/>
          </a:p>
        </p:txBody>
      </p:sp>
      <p:sp>
        <p:nvSpPr>
          <p:cNvPr id="15" name="text-1179"/>
          <p:cNvSpPr txBox="1"/>
          <p:nvPr/>
        </p:nvSpPr>
        <p:spPr>
          <a:xfrm>
            <a:off x="914400" y="3067080"/>
            <a:ext cx="4572000" cy="571500"/>
          </a:xfrm>
          <a:prstGeom prst="rect">
            <a:avLst/>
          </a:prstGeom>
          <a:noFill/>
          <a:ln/>
        </p:spPr>
        <p:txBody>
          <a:bodyPr wrap="square" lIns="0" tIns="0" rIns="0" bIns="0" rtlCol="0" anchor="t"/>
          <a:lstStyle/>
          <a:p>
            <a:pPr algn="l" indent="0" marL="0">
              <a:lnSpc>
                <a:spcPct val="135000"/>
              </a:lnSpc>
              <a:buNone/>
            </a:pPr>
            <a:r>
              <a:rPr lang="en-US" sz="1463" dirty="0">
                <a:solidFill>
                  <a:srgbClr val="636B78"/>
                </a:solidFill>
                <a:latin typeface="Arial" pitchFamily="34" charset="0"/>
                <a:ea typeface="Arial" pitchFamily="34" charset="-122"/>
                <a:cs typeface="Arial" pitchFamily="34" charset="-120"/>
              </a:rPr>
              <a:t>A blank page for every essay prompt</a:t>
            </a:r>
            <a:endParaRPr lang="en-US" sz="1463" dirty="0"/>
          </a:p>
        </p:txBody>
      </p:sp>
      <p:sp>
        <p:nvSpPr>
          <p:cNvPr id="16" name="oval-1180"/>
          <p:cNvSpPr/>
          <p:nvPr/>
        </p:nvSpPr>
        <p:spPr>
          <a:xfrm>
            <a:off x="5943600" y="3105120"/>
            <a:ext cx="209580" cy="209580"/>
          </a:xfrm>
          <a:prstGeom prst="ellipse">
            <a:avLst/>
          </a:prstGeom>
          <a:solidFill>
            <a:srgbClr val="E6F4EC"/>
          </a:solidFill>
          <a:ln/>
        </p:spPr>
      </p:sp>
      <p:sp>
        <p:nvSpPr>
          <p:cNvPr id="17" name="text-1181"/>
          <p:cNvSpPr txBox="1"/>
          <p:nvPr/>
        </p:nvSpPr>
        <p:spPr>
          <a:xfrm>
            <a:off x="5943600" y="3124230"/>
            <a:ext cx="209580" cy="171450"/>
          </a:xfrm>
          <a:prstGeom prst="rect">
            <a:avLst/>
          </a:prstGeom>
          <a:noFill/>
          <a:ln/>
        </p:spPr>
        <p:txBody>
          <a:bodyPr wrap="square" lIns="0" tIns="0" rIns="0" bIns="0" rtlCol="0" anchor="t"/>
          <a:lstStyle/>
          <a:p>
            <a:pPr algn="ctr" indent="0" marL="0">
              <a:lnSpc>
                <a:spcPct val="120000"/>
              </a:lnSpc>
              <a:buNone/>
            </a:pPr>
            <a:r>
              <a:rPr lang="en-US" sz="975" b="1" dirty="0">
                <a:solidFill>
                  <a:srgbClr val="0B6B3A"/>
                </a:solidFill>
                <a:latin typeface="Arial" pitchFamily="34" charset="0"/>
                <a:ea typeface="Arial" pitchFamily="34" charset="-122"/>
                <a:cs typeface="Arial" pitchFamily="34" charset="-120"/>
              </a:rPr>
              <a:t>✓</a:t>
            </a:r>
            <a:endParaRPr lang="en-US" sz="975" dirty="0"/>
          </a:p>
        </p:txBody>
      </p:sp>
      <p:sp>
        <p:nvSpPr>
          <p:cNvPr id="18" name="text-1182"/>
          <p:cNvSpPr txBox="1"/>
          <p:nvPr/>
        </p:nvSpPr>
        <p:spPr>
          <a:xfrm>
            <a:off x="6267480" y="3067080"/>
            <a:ext cx="5124480" cy="571500"/>
          </a:xfrm>
          <a:prstGeom prst="rect">
            <a:avLst/>
          </a:prstGeom>
          <a:noFill/>
          <a:ln/>
        </p:spPr>
        <p:txBody>
          <a:bodyPr wrap="square" lIns="0" tIns="0" rIns="0" bIns="0" rtlCol="0" anchor="t"/>
          <a:lstStyle/>
          <a:p>
            <a:pPr algn="l" indent="0" marL="0">
              <a:lnSpc>
                <a:spcPct val="135000"/>
              </a:lnSpc>
              <a:buNone/>
            </a:pPr>
            <a:r>
              <a:rPr lang="en-US" sz="1463" dirty="0">
                <a:solidFill>
                  <a:srgbClr val="14202F"/>
                </a:solidFill>
                <a:latin typeface="Arial" pitchFamily="34" charset="0"/>
                <a:ea typeface="Arial" pitchFamily="34" charset="-122"/>
                <a:cs typeface="Arial" pitchFamily="34" charset="-120"/>
              </a:rPr>
              <a:t>Stories reused, with feedback that keeps your voice</a:t>
            </a:r>
            <a:endParaRPr lang="en-US" sz="1463" dirty="0"/>
          </a:p>
        </p:txBody>
      </p:sp>
      <p:sp>
        <p:nvSpPr>
          <p:cNvPr id="19" name="rect-1183"/>
          <p:cNvSpPr/>
          <p:nvPr/>
        </p:nvSpPr>
        <p:spPr>
          <a:xfrm>
            <a:off x="609630" y="3733770"/>
            <a:ext cx="10972800" cy="9510"/>
          </a:xfrm>
          <a:prstGeom prst="rect">
            <a:avLst/>
          </a:prstGeom>
          <a:solidFill>
            <a:srgbClr val="E5E1D7"/>
          </a:solidFill>
          <a:ln/>
        </p:spPr>
      </p:sp>
      <p:sp>
        <p:nvSpPr>
          <p:cNvPr id="20" name="text-1184"/>
          <p:cNvSpPr txBox="1"/>
          <p:nvPr/>
        </p:nvSpPr>
        <p:spPr>
          <a:xfrm>
            <a:off x="609630" y="3905220"/>
            <a:ext cx="209580" cy="228600"/>
          </a:xfrm>
          <a:prstGeom prst="rect">
            <a:avLst/>
          </a:prstGeom>
          <a:noFill/>
          <a:ln/>
        </p:spPr>
        <p:txBody>
          <a:bodyPr wrap="square" lIns="0" tIns="0" rIns="0" bIns="0" rtlCol="0" anchor="t"/>
          <a:lstStyle/>
          <a:p>
            <a:pPr algn="l" indent="0" marL="0">
              <a:lnSpc>
                <a:spcPct val="120000"/>
              </a:lnSpc>
              <a:buNone/>
            </a:pPr>
            <a:r>
              <a:rPr lang="en-US" sz="1350" b="1" dirty="0">
                <a:solidFill>
                  <a:srgbClr val="8C929C"/>
                </a:solidFill>
                <a:latin typeface="Arial" pitchFamily="34" charset="0"/>
                <a:ea typeface="Arial" pitchFamily="34" charset="-122"/>
                <a:cs typeface="Arial" pitchFamily="34" charset="-120"/>
              </a:rPr>
              <a:t>✕</a:t>
            </a:r>
            <a:endParaRPr lang="en-US" sz="1350" dirty="0"/>
          </a:p>
        </p:txBody>
      </p:sp>
      <p:sp>
        <p:nvSpPr>
          <p:cNvPr id="21" name="text-1185"/>
          <p:cNvSpPr txBox="1"/>
          <p:nvPr/>
        </p:nvSpPr>
        <p:spPr>
          <a:xfrm>
            <a:off x="914400" y="3867180"/>
            <a:ext cx="4572000" cy="571500"/>
          </a:xfrm>
          <a:prstGeom prst="rect">
            <a:avLst/>
          </a:prstGeom>
          <a:noFill/>
          <a:ln/>
        </p:spPr>
        <p:txBody>
          <a:bodyPr wrap="square" lIns="0" tIns="0" rIns="0" bIns="0" rtlCol="0" anchor="t"/>
          <a:lstStyle/>
          <a:p>
            <a:pPr algn="l" indent="0" marL="0">
              <a:lnSpc>
                <a:spcPct val="135000"/>
              </a:lnSpc>
              <a:buNone/>
            </a:pPr>
            <a:r>
              <a:rPr lang="en-US" sz="1463" dirty="0">
                <a:solidFill>
                  <a:srgbClr val="636B78"/>
                </a:solidFill>
                <a:latin typeface="Arial" pitchFamily="34" charset="0"/>
                <a:ea typeface="Arial" pitchFamily="34" charset="-122"/>
                <a:cs typeface="Arial" pitchFamily="34" charset="-120"/>
              </a:rPr>
              <a:t>Award letters that blur loans and grants</a:t>
            </a:r>
            <a:endParaRPr lang="en-US" sz="1463" dirty="0"/>
          </a:p>
        </p:txBody>
      </p:sp>
      <p:sp>
        <p:nvSpPr>
          <p:cNvPr id="22" name="oval-1186"/>
          <p:cNvSpPr/>
          <p:nvPr/>
        </p:nvSpPr>
        <p:spPr>
          <a:xfrm>
            <a:off x="5943600" y="3905220"/>
            <a:ext cx="209580" cy="209580"/>
          </a:xfrm>
          <a:prstGeom prst="ellipse">
            <a:avLst/>
          </a:prstGeom>
          <a:solidFill>
            <a:srgbClr val="E6F4EC"/>
          </a:solidFill>
          <a:ln/>
        </p:spPr>
      </p:sp>
      <p:sp>
        <p:nvSpPr>
          <p:cNvPr id="23" name="text-1187"/>
          <p:cNvSpPr txBox="1"/>
          <p:nvPr/>
        </p:nvSpPr>
        <p:spPr>
          <a:xfrm>
            <a:off x="5943600" y="3924330"/>
            <a:ext cx="209580" cy="171450"/>
          </a:xfrm>
          <a:prstGeom prst="rect">
            <a:avLst/>
          </a:prstGeom>
          <a:noFill/>
          <a:ln/>
        </p:spPr>
        <p:txBody>
          <a:bodyPr wrap="square" lIns="0" tIns="0" rIns="0" bIns="0" rtlCol="0" anchor="t"/>
          <a:lstStyle/>
          <a:p>
            <a:pPr algn="ctr" indent="0" marL="0">
              <a:lnSpc>
                <a:spcPct val="120000"/>
              </a:lnSpc>
              <a:buNone/>
            </a:pPr>
            <a:r>
              <a:rPr lang="en-US" sz="975" b="1" dirty="0">
                <a:solidFill>
                  <a:srgbClr val="0B6B3A"/>
                </a:solidFill>
                <a:latin typeface="Arial" pitchFamily="34" charset="0"/>
                <a:ea typeface="Arial" pitchFamily="34" charset="-122"/>
                <a:cs typeface="Arial" pitchFamily="34" charset="-120"/>
              </a:rPr>
              <a:t>✓</a:t>
            </a:r>
            <a:endParaRPr lang="en-US" sz="975" dirty="0"/>
          </a:p>
        </p:txBody>
      </p:sp>
      <p:sp>
        <p:nvSpPr>
          <p:cNvPr id="24" name="text-1188"/>
          <p:cNvSpPr txBox="1"/>
          <p:nvPr/>
        </p:nvSpPr>
        <p:spPr>
          <a:xfrm>
            <a:off x="6267480" y="3867180"/>
            <a:ext cx="5124480" cy="571500"/>
          </a:xfrm>
          <a:prstGeom prst="rect">
            <a:avLst/>
          </a:prstGeom>
          <a:noFill/>
          <a:ln/>
        </p:spPr>
        <p:txBody>
          <a:bodyPr wrap="square" lIns="0" tIns="0" rIns="0" bIns="0" rtlCol="0" anchor="t"/>
          <a:lstStyle/>
          <a:p>
            <a:pPr algn="l" indent="0" marL="0">
              <a:lnSpc>
                <a:spcPct val="135000"/>
              </a:lnSpc>
              <a:buNone/>
            </a:pPr>
            <a:r>
              <a:rPr lang="en-US" sz="1463" dirty="0">
                <a:solidFill>
                  <a:srgbClr val="14202F"/>
                </a:solidFill>
                <a:latin typeface="Arial" pitchFamily="34" charset="0"/>
                <a:ea typeface="Arial" pitchFamily="34" charset="-122"/>
                <a:cs typeface="Arial" pitchFamily="34" charset="-120"/>
              </a:rPr>
              <a:t>Every line decoded, compared for year 1 and 4 years</a:t>
            </a:r>
            <a:endParaRPr lang="en-US" sz="1463" dirty="0"/>
          </a:p>
        </p:txBody>
      </p:sp>
      <p:sp>
        <p:nvSpPr>
          <p:cNvPr id="25" name="rect-1189"/>
          <p:cNvSpPr/>
          <p:nvPr/>
        </p:nvSpPr>
        <p:spPr>
          <a:xfrm>
            <a:off x="609630" y="4533870"/>
            <a:ext cx="10972800" cy="9510"/>
          </a:xfrm>
          <a:prstGeom prst="rect">
            <a:avLst/>
          </a:prstGeom>
          <a:solidFill>
            <a:srgbClr val="E5E1D7"/>
          </a:solidFill>
          <a:ln/>
        </p:spPr>
      </p:sp>
      <p:sp>
        <p:nvSpPr>
          <p:cNvPr id="26" name="text-1190"/>
          <p:cNvSpPr txBox="1"/>
          <p:nvPr/>
        </p:nvSpPr>
        <p:spPr>
          <a:xfrm>
            <a:off x="609630" y="4705320"/>
            <a:ext cx="209580" cy="228600"/>
          </a:xfrm>
          <a:prstGeom prst="rect">
            <a:avLst/>
          </a:prstGeom>
          <a:noFill/>
          <a:ln/>
        </p:spPr>
        <p:txBody>
          <a:bodyPr wrap="square" lIns="0" tIns="0" rIns="0" bIns="0" rtlCol="0" anchor="t"/>
          <a:lstStyle/>
          <a:p>
            <a:pPr algn="l" indent="0" marL="0">
              <a:lnSpc>
                <a:spcPct val="120000"/>
              </a:lnSpc>
              <a:buNone/>
            </a:pPr>
            <a:r>
              <a:rPr lang="en-US" sz="1350" b="1" dirty="0">
                <a:solidFill>
                  <a:srgbClr val="8C929C"/>
                </a:solidFill>
                <a:latin typeface="Arial" pitchFamily="34" charset="0"/>
                <a:ea typeface="Arial" pitchFamily="34" charset="-122"/>
                <a:cs typeface="Arial" pitchFamily="34" charset="-120"/>
              </a:rPr>
              <a:t>✕</a:t>
            </a:r>
            <a:endParaRPr lang="en-US" sz="1350" dirty="0"/>
          </a:p>
        </p:txBody>
      </p:sp>
      <p:sp>
        <p:nvSpPr>
          <p:cNvPr id="27" name="text-1191"/>
          <p:cNvSpPr txBox="1"/>
          <p:nvPr/>
        </p:nvSpPr>
        <p:spPr>
          <a:xfrm>
            <a:off x="914400" y="4667280"/>
            <a:ext cx="4572000" cy="571500"/>
          </a:xfrm>
          <a:prstGeom prst="rect">
            <a:avLst/>
          </a:prstGeom>
          <a:noFill/>
          <a:ln/>
        </p:spPr>
        <p:txBody>
          <a:bodyPr wrap="square" lIns="0" tIns="0" rIns="0" bIns="0" rtlCol="0" anchor="t"/>
          <a:lstStyle/>
          <a:p>
            <a:pPr algn="l" indent="0" marL="0">
              <a:lnSpc>
                <a:spcPct val="135000"/>
              </a:lnSpc>
              <a:buNone/>
            </a:pPr>
            <a:r>
              <a:rPr lang="en-US" sz="1463" dirty="0">
                <a:solidFill>
                  <a:srgbClr val="636B78"/>
                </a:solidFill>
                <a:latin typeface="Arial" pitchFamily="34" charset="0"/>
                <a:ea typeface="Arial" pitchFamily="34" charset="-122"/>
                <a:cs typeface="Arial" pitchFamily="34" charset="-120"/>
              </a:rPr>
              <a:t>Deadlines spread across five websites</a:t>
            </a:r>
            <a:endParaRPr lang="en-US" sz="1463" dirty="0"/>
          </a:p>
        </p:txBody>
      </p:sp>
      <p:sp>
        <p:nvSpPr>
          <p:cNvPr id="28" name="oval-1192"/>
          <p:cNvSpPr/>
          <p:nvPr/>
        </p:nvSpPr>
        <p:spPr>
          <a:xfrm>
            <a:off x="5943600" y="4705320"/>
            <a:ext cx="209580" cy="209580"/>
          </a:xfrm>
          <a:prstGeom prst="ellipse">
            <a:avLst/>
          </a:prstGeom>
          <a:solidFill>
            <a:srgbClr val="E6F4EC"/>
          </a:solidFill>
          <a:ln/>
        </p:spPr>
      </p:sp>
      <p:sp>
        <p:nvSpPr>
          <p:cNvPr id="29" name="text-1193"/>
          <p:cNvSpPr txBox="1"/>
          <p:nvPr/>
        </p:nvSpPr>
        <p:spPr>
          <a:xfrm>
            <a:off x="5943600" y="4724430"/>
            <a:ext cx="209580" cy="171450"/>
          </a:xfrm>
          <a:prstGeom prst="rect">
            <a:avLst/>
          </a:prstGeom>
          <a:noFill/>
          <a:ln/>
        </p:spPr>
        <p:txBody>
          <a:bodyPr wrap="square" lIns="0" tIns="0" rIns="0" bIns="0" rtlCol="0" anchor="t"/>
          <a:lstStyle/>
          <a:p>
            <a:pPr algn="ctr" indent="0" marL="0">
              <a:lnSpc>
                <a:spcPct val="120000"/>
              </a:lnSpc>
              <a:buNone/>
            </a:pPr>
            <a:r>
              <a:rPr lang="en-US" sz="975" b="1" dirty="0">
                <a:solidFill>
                  <a:srgbClr val="0B6B3A"/>
                </a:solidFill>
                <a:latin typeface="Arial" pitchFamily="34" charset="0"/>
                <a:ea typeface="Arial" pitchFamily="34" charset="-122"/>
                <a:cs typeface="Arial" pitchFamily="34" charset="-120"/>
              </a:rPr>
              <a:t>✓</a:t>
            </a:r>
            <a:endParaRPr lang="en-US" sz="975" dirty="0"/>
          </a:p>
        </p:txBody>
      </p:sp>
      <p:sp>
        <p:nvSpPr>
          <p:cNvPr id="30" name="text-1194"/>
          <p:cNvSpPr txBox="1"/>
          <p:nvPr/>
        </p:nvSpPr>
        <p:spPr>
          <a:xfrm>
            <a:off x="6267480" y="4667280"/>
            <a:ext cx="5124480" cy="571500"/>
          </a:xfrm>
          <a:prstGeom prst="rect">
            <a:avLst/>
          </a:prstGeom>
          <a:noFill/>
          <a:ln/>
        </p:spPr>
        <p:txBody>
          <a:bodyPr wrap="square" lIns="0" tIns="0" rIns="0" bIns="0" rtlCol="0" anchor="t"/>
          <a:lstStyle/>
          <a:p>
            <a:pPr algn="l" indent="0" marL="0">
              <a:lnSpc>
                <a:spcPct val="135000"/>
              </a:lnSpc>
              <a:buNone/>
            </a:pPr>
            <a:r>
              <a:rPr lang="en-US" sz="1463" dirty="0">
                <a:solidFill>
                  <a:srgbClr val="14202F"/>
                </a:solidFill>
                <a:latin typeface="Arial" pitchFamily="34" charset="0"/>
                <a:ea typeface="Arial" pitchFamily="34" charset="-122"/>
                <a:cs typeface="Arial" pitchFamily="34" charset="-120"/>
              </a:rPr>
              <a:t>One weekly plan, one calendar, timely reminders</a:t>
            </a:r>
            <a:endParaRPr lang="en-US" sz="1463" dirty="0"/>
          </a:p>
        </p:txBody>
      </p:sp>
      <p:sp>
        <p:nvSpPr>
          <p:cNvPr id="31" name="rect-1195"/>
          <p:cNvSpPr/>
          <p:nvPr/>
        </p:nvSpPr>
        <p:spPr>
          <a:xfrm>
            <a:off x="609630" y="5333970"/>
            <a:ext cx="10972800" cy="9510"/>
          </a:xfrm>
          <a:prstGeom prst="rect">
            <a:avLst/>
          </a:prstGeom>
          <a:solidFill>
            <a:srgbClr val="E5E1D7"/>
          </a:solidFill>
          <a:ln/>
        </p:spPr>
      </p:sp>
      <p:sp>
        <p:nvSpPr>
          <p:cNvPr id="32" name="text-1196"/>
          <p:cNvSpPr txBox="1"/>
          <p:nvPr/>
        </p:nvSpPr>
        <p:spPr>
          <a:xfrm>
            <a:off x="609630" y="5505420"/>
            <a:ext cx="209580" cy="228600"/>
          </a:xfrm>
          <a:prstGeom prst="rect">
            <a:avLst/>
          </a:prstGeom>
          <a:noFill/>
          <a:ln/>
        </p:spPr>
        <p:txBody>
          <a:bodyPr wrap="square" lIns="0" tIns="0" rIns="0" bIns="0" rtlCol="0" anchor="t"/>
          <a:lstStyle/>
          <a:p>
            <a:pPr algn="l" indent="0" marL="0">
              <a:lnSpc>
                <a:spcPct val="120000"/>
              </a:lnSpc>
              <a:buNone/>
            </a:pPr>
            <a:r>
              <a:rPr lang="en-US" sz="1350" b="1" dirty="0">
                <a:solidFill>
                  <a:srgbClr val="8C929C"/>
                </a:solidFill>
                <a:latin typeface="Arial" pitchFamily="34" charset="0"/>
                <a:ea typeface="Arial" pitchFamily="34" charset="-122"/>
                <a:cs typeface="Arial" pitchFamily="34" charset="-120"/>
              </a:rPr>
              <a:t>✕</a:t>
            </a:r>
            <a:endParaRPr lang="en-US" sz="1350" dirty="0"/>
          </a:p>
        </p:txBody>
      </p:sp>
      <p:sp>
        <p:nvSpPr>
          <p:cNvPr id="33" name="text-1197"/>
          <p:cNvSpPr txBox="1"/>
          <p:nvPr/>
        </p:nvSpPr>
        <p:spPr>
          <a:xfrm>
            <a:off x="914400" y="5467380"/>
            <a:ext cx="4572000" cy="571500"/>
          </a:xfrm>
          <a:prstGeom prst="rect">
            <a:avLst/>
          </a:prstGeom>
          <a:noFill/>
          <a:ln/>
        </p:spPr>
        <p:txBody>
          <a:bodyPr wrap="square" lIns="0" tIns="0" rIns="0" bIns="0" rtlCol="0" anchor="t"/>
          <a:lstStyle/>
          <a:p>
            <a:pPr algn="l" indent="0" marL="0">
              <a:lnSpc>
                <a:spcPct val="135000"/>
              </a:lnSpc>
              <a:buNone/>
            </a:pPr>
            <a:r>
              <a:rPr lang="en-US" sz="1463" dirty="0">
                <a:solidFill>
                  <a:srgbClr val="636B78"/>
                </a:solidFill>
                <a:latin typeface="Arial" pitchFamily="34" charset="0"/>
                <a:ea typeface="Arial" pitchFamily="34" charset="-122"/>
                <a:cs typeface="Arial" pitchFamily="34" charset="-120"/>
              </a:rPr>
              <a:t>A parent who wants to help but doesn't know the system</a:t>
            </a:r>
            <a:endParaRPr lang="en-US" sz="1463" dirty="0"/>
          </a:p>
        </p:txBody>
      </p:sp>
      <p:sp>
        <p:nvSpPr>
          <p:cNvPr id="34" name="oval-1198"/>
          <p:cNvSpPr/>
          <p:nvPr/>
        </p:nvSpPr>
        <p:spPr>
          <a:xfrm>
            <a:off x="5943600" y="5505420"/>
            <a:ext cx="209580" cy="209580"/>
          </a:xfrm>
          <a:prstGeom prst="ellipse">
            <a:avLst/>
          </a:prstGeom>
          <a:solidFill>
            <a:srgbClr val="E6F4EC"/>
          </a:solidFill>
          <a:ln/>
        </p:spPr>
      </p:sp>
      <p:sp>
        <p:nvSpPr>
          <p:cNvPr id="35" name="text-1199"/>
          <p:cNvSpPr txBox="1"/>
          <p:nvPr/>
        </p:nvSpPr>
        <p:spPr>
          <a:xfrm>
            <a:off x="5943600" y="5524530"/>
            <a:ext cx="209580" cy="171450"/>
          </a:xfrm>
          <a:prstGeom prst="rect">
            <a:avLst/>
          </a:prstGeom>
          <a:noFill/>
          <a:ln/>
        </p:spPr>
        <p:txBody>
          <a:bodyPr wrap="square" lIns="0" tIns="0" rIns="0" bIns="0" rtlCol="0" anchor="t"/>
          <a:lstStyle/>
          <a:p>
            <a:pPr algn="ctr" indent="0" marL="0">
              <a:lnSpc>
                <a:spcPct val="120000"/>
              </a:lnSpc>
              <a:buNone/>
            </a:pPr>
            <a:r>
              <a:rPr lang="en-US" sz="975" b="1" dirty="0">
                <a:solidFill>
                  <a:srgbClr val="0B6B3A"/>
                </a:solidFill>
                <a:latin typeface="Arial" pitchFamily="34" charset="0"/>
                <a:ea typeface="Arial" pitchFamily="34" charset="-122"/>
                <a:cs typeface="Arial" pitchFamily="34" charset="-120"/>
              </a:rPr>
              <a:t>✓</a:t>
            </a:r>
            <a:endParaRPr lang="en-US" sz="975" dirty="0"/>
          </a:p>
        </p:txBody>
      </p:sp>
      <p:sp>
        <p:nvSpPr>
          <p:cNvPr id="36" name="text-1200"/>
          <p:cNvSpPr txBox="1"/>
          <p:nvPr/>
        </p:nvSpPr>
        <p:spPr>
          <a:xfrm>
            <a:off x="6267480" y="5467380"/>
            <a:ext cx="5124480" cy="571500"/>
          </a:xfrm>
          <a:prstGeom prst="rect">
            <a:avLst/>
          </a:prstGeom>
          <a:noFill/>
          <a:ln/>
        </p:spPr>
        <p:txBody>
          <a:bodyPr wrap="square" lIns="0" tIns="0" rIns="0" bIns="0" rtlCol="0" anchor="t"/>
          <a:lstStyle/>
          <a:p>
            <a:pPr algn="l" indent="0" marL="0">
              <a:lnSpc>
                <a:spcPct val="135000"/>
              </a:lnSpc>
              <a:buNone/>
            </a:pPr>
            <a:r>
              <a:rPr lang="en-US" sz="1463" dirty="0">
                <a:solidFill>
                  <a:srgbClr val="14202F"/>
                </a:solidFill>
                <a:latin typeface="Arial" pitchFamily="34" charset="0"/>
                <a:ea typeface="Arial" pitchFamily="34" charset="-122"/>
                <a:cs typeface="Arial" pitchFamily="34" charset="-120"/>
              </a:rPr>
              <a:t>A parent with their own steps and a crew to ask</a:t>
            </a:r>
            <a:endParaRPr lang="en-US" sz="146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1201"/>
          <p:cNvSpPr txBox="1"/>
          <p:nvPr/>
        </p:nvSpPr>
        <p:spPr>
          <a:xfrm>
            <a:off x="609630" y="1771650"/>
            <a:ext cx="533397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WHAT THIS MEANS FOR A FAMILY LIKE MINE</a:t>
            </a:r>
            <a:endParaRPr lang="en-US" sz="1013" dirty="0"/>
          </a:p>
        </p:txBody>
      </p:sp>
      <p:sp>
        <p:nvSpPr>
          <p:cNvPr id="3" name="Text 0"/>
          <p:cNvSpPr/>
          <p:nvPr>
            <p:ph idx="100" type="title" hasCustomPrompt="1"/>
          </p:nvPr>
        </p:nvSpPr>
        <p:spPr>
          <a:xfrm>
            <a:off x="609630" y="2038380"/>
            <a:ext cx="5143500" cy="2190720"/>
          </a:xfrm>
          <a:prstGeom prst="rect">
            <a:avLst/>
          </a:prstGeom>
          <a:noFill/>
          <a:ln/>
        </p:spPr>
        <p:txBody>
          <a:bodyPr wrap="square" lIns="0" tIns="0" rIns="0" bIns="0" rtlCol="0" anchor="t"/>
          <a:lstStyle/>
          <a:p>
            <a:pPr algn="l" indent="0" marL="0">
              <a:buNone/>
            </a:pPr>
            <a:r>
              <a:rPr lang="en-US" sz="3000" dirty="0">
                <a:solidFill>
                  <a:srgbClr val="FFFFFF"/>
                </a:solidFill>
                <a:latin typeface="Georgia" pitchFamily="34" charset="0"/>
                <a:ea typeface="Georgia" pitchFamily="34" charset="-122"/>
                <a:cs typeface="Georgia" pitchFamily="34" charset="-120"/>
              </a:rPr>
              <a:t>A parent who has never seen the system can still help.</a:t>
            </a:r>
            <a:endParaRPr lang="en-US" sz="3000" dirty="0"/>
          </a:p>
        </p:txBody>
      </p:sp>
      <p:sp>
        <p:nvSpPr>
          <p:cNvPr id="4" name="text-1203"/>
          <p:cNvSpPr txBox="1"/>
          <p:nvPr/>
        </p:nvSpPr>
        <p:spPr>
          <a:xfrm>
            <a:off x="609630" y="3238530"/>
            <a:ext cx="4953030" cy="1238280"/>
          </a:xfrm>
          <a:prstGeom prst="rect">
            <a:avLst/>
          </a:prstGeom>
          <a:noFill/>
          <a:ln/>
        </p:spPr>
        <p:txBody>
          <a:bodyPr wrap="square" lIns="0" tIns="0" rIns="0" bIns="0" rtlCol="0" anchor="t"/>
          <a:lstStyle/>
          <a:p>
            <a:pPr algn="l" indent="0" marL="0">
              <a:lnSpc>
                <a:spcPct val="150000"/>
              </a:lnSpc>
              <a:buNone/>
            </a:pPr>
            <a:r>
              <a:rPr lang="en-US" sz="1500" dirty="0">
                <a:solidFill>
                  <a:srgbClr val="F6E3D3"/>
                </a:solidFill>
                <a:latin typeface="Arial" pitchFamily="34" charset="0"/>
                <a:ea typeface="Arial" pitchFamily="34" charset="-122"/>
                <a:cs typeface="Arial" pitchFamily="34" charset="-120"/>
              </a:rPr>
              <a:t>Each parent gets their own short list of steps, like the FAFSA, with what to do and when. They can ask the crew questions in the family room. And the student always decides what's shared.</a:t>
            </a:r>
            <a:endParaRPr lang="en-US" sz="1500" dirty="0"/>
          </a:p>
        </p:txBody>
      </p:sp>
      <p:sp>
        <p:nvSpPr>
          <p:cNvPr id="5" name="rect-1204"/>
          <p:cNvSpPr/>
          <p:nvPr/>
        </p:nvSpPr>
        <p:spPr>
          <a:xfrm>
            <a:off x="6096030" y="1590690"/>
            <a:ext cx="5486400" cy="3676620"/>
          </a:xfrm>
          <a:prstGeom prst="roundRect">
            <a:avLst>
              <a:gd name="adj" fmla="val 3626"/>
            </a:avLst>
          </a:prstGeom>
          <a:solidFill>
            <a:srgbClr val="FFFFFF"/>
          </a:solidFill>
          <a:ln/>
          <a:effectLst>
            <a:outerShdw sx="100000" sy="100000" kx="0" ky="0" algn="bl" rotWithShape="0" blurRad="228600" dist="76200" dir="5400000">
              <a:srgbClr val="14202F">
                <a:alpha val="20000"/>
              </a:srgbClr>
            </a:outerShdw>
          </a:effectLst>
        </p:spPr>
      </p:sp>
      <p:sp>
        <p:nvSpPr>
          <p:cNvPr id="6" name="oval-1205"/>
          <p:cNvSpPr/>
          <p:nvPr/>
        </p:nvSpPr>
        <p:spPr>
          <a:xfrm>
            <a:off x="6229350" y="1685971"/>
            <a:ext cx="85771" cy="85771"/>
          </a:xfrm>
          <a:prstGeom prst="ellipse">
            <a:avLst/>
          </a:prstGeom>
          <a:solidFill>
            <a:srgbClr val="FF5F57"/>
          </a:solidFill>
          <a:ln/>
        </p:spPr>
      </p:sp>
      <p:sp>
        <p:nvSpPr>
          <p:cNvPr id="7" name="oval-1206"/>
          <p:cNvSpPr/>
          <p:nvPr/>
        </p:nvSpPr>
        <p:spPr>
          <a:xfrm>
            <a:off x="6362670" y="1685971"/>
            <a:ext cx="85771" cy="85771"/>
          </a:xfrm>
          <a:prstGeom prst="ellipse">
            <a:avLst/>
          </a:prstGeom>
          <a:solidFill>
            <a:srgbClr val="FEBC2E"/>
          </a:solidFill>
          <a:ln/>
        </p:spPr>
      </p:sp>
      <p:sp>
        <p:nvSpPr>
          <p:cNvPr id="8" name="oval-1207"/>
          <p:cNvSpPr/>
          <p:nvPr/>
        </p:nvSpPr>
        <p:spPr>
          <a:xfrm>
            <a:off x="6496080" y="1685971"/>
            <a:ext cx="85771" cy="85771"/>
          </a:xfrm>
          <a:prstGeom prst="ellipse">
            <a:avLst/>
          </a:prstGeom>
          <a:solidFill>
            <a:srgbClr val="28C840"/>
          </a:solidFill>
          <a:ln/>
        </p:spPr>
      </p:sp>
      <p:sp>
        <p:nvSpPr>
          <p:cNvPr id="9" name="text-1208"/>
          <p:cNvSpPr txBox="1"/>
          <p:nvPr/>
        </p:nvSpPr>
        <p:spPr>
          <a:xfrm>
            <a:off x="6686550" y="1647840"/>
            <a:ext cx="4724430" cy="171450"/>
          </a:xfrm>
          <a:prstGeom prst="rect">
            <a:avLst/>
          </a:prstGeom>
          <a:noFill/>
          <a:ln/>
        </p:spPr>
        <p:txBody>
          <a:bodyPr wrap="square" lIns="0" tIns="0" rIns="0" bIns="0" rtlCol="0" anchor="t"/>
          <a:lstStyle/>
          <a:p>
            <a:pPr algn="l" indent="0" marL="0">
              <a:lnSpc>
                <a:spcPct val="120000"/>
              </a:lnSpc>
              <a:buNone/>
            </a:pPr>
            <a:r>
              <a:rPr lang="en-US" sz="900" dirty="0">
                <a:solidFill>
                  <a:srgbClr val="8C929C"/>
                </a:solidFill>
                <a:latin typeface="Arial" pitchFamily="34" charset="0"/>
                <a:ea typeface="Arial" pitchFamily="34" charset="-122"/>
                <a:cs typeface="Arial" pitchFamily="34" charset="-120"/>
              </a:rPr>
              <a:t>/family</a:t>
            </a:r>
            <a:endParaRPr lang="en-US" sz="900" dirty="0"/>
          </a:p>
        </p:txBody>
      </p:sp>
      <p:pic>
        <p:nvPicPr>
          <p:cNvPr id="10" name="image-1209" descr="Screenshot: A parent who has never seen the system can still help.">    </p:cNvPr>
          <p:cNvPicPr>
            <a:picLocks noChangeAspect="1"/>
          </p:cNvPicPr>
          <p:nvPr/>
        </p:nvPicPr>
        <p:blipFill>
          <a:blip r:embed="rId1"/>
          <a:stretch>
            <a:fillRect/>
          </a:stretch>
        </p:blipFill>
        <p:spPr>
          <a:xfrm>
            <a:off x="6172200" y="1857421"/>
            <a:ext cx="5333970" cy="3333720"/>
          </a:xfrm>
          <a:prstGeom prst="rect">
            <a:avLst/>
          </a:prstGeom>
        </p:spPr>
      </p:pic>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F2B48A"/>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1210"/>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OUR PROMISE</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Free for the students who need it most</a:t>
            </a:r>
            <a:endParaRPr lang="en-US" sz="3600" dirty="0"/>
          </a:p>
        </p:txBody>
      </p:sp>
      <p:sp>
        <p:nvSpPr>
          <p:cNvPr id="4" name="text-1212"/>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Test prices for everyone else, not final. Sponsor codes from schools and nonprofits help cover the cost.</a:t>
            </a:r>
            <a:endParaRPr lang="en-US" sz="1575" dirty="0"/>
          </a:p>
        </p:txBody>
      </p:sp>
      <p:sp>
        <p:nvSpPr>
          <p:cNvPr id="5" name="rect-1213"/>
          <p:cNvSpPr/>
          <p:nvPr/>
        </p:nvSpPr>
        <p:spPr>
          <a:xfrm>
            <a:off x="609630" y="1885950"/>
            <a:ext cx="10972800" cy="1866930"/>
          </a:xfrm>
          <a:prstGeom prst="roundRect">
            <a:avLst>
              <a:gd name="adj" fmla="val 10202"/>
            </a:avLst>
          </a:prstGeom>
          <a:solidFill>
            <a:srgbClr val="FDF1E8"/>
          </a:solidFill>
          <a:ln w="14351">
            <a:solidFill>
              <a:srgbClr val="F2C9A8"/>
            </a:solidFill>
            <a:prstDash val="solid"/>
          </a:ln>
          <a:effectLst>
            <a:outerShdw sx="100000" sy="100000" kx="0" ky="0" algn="bl" rotWithShape="0" blurRad="127000" dist="25400" dir="5400000">
              <a:srgbClr val="14202F">
                <a:alpha val="8000"/>
              </a:srgbClr>
            </a:outerShdw>
          </a:effectLst>
        </p:spPr>
      </p:sp>
      <p:sp>
        <p:nvSpPr>
          <p:cNvPr id="6" name="text-1214"/>
          <p:cNvSpPr txBox="1"/>
          <p:nvPr/>
        </p:nvSpPr>
        <p:spPr>
          <a:xfrm>
            <a:off x="952530" y="2152680"/>
            <a:ext cx="571500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9A4A12"/>
                </a:solidFill>
                <a:latin typeface="Arial" pitchFamily="34" charset="0"/>
                <a:ea typeface="Arial" pitchFamily="34" charset="-122"/>
                <a:cs typeface="Arial" pitchFamily="34" charset="-120"/>
              </a:rPr>
              <a:t>FIRST-GENERATION AND LOW-INCOME STUDENTS</a:t>
            </a:r>
            <a:endParaRPr lang="en-US" sz="1013" dirty="0"/>
          </a:p>
        </p:txBody>
      </p:sp>
      <p:sp>
        <p:nvSpPr>
          <p:cNvPr id="7" name="text-1215"/>
          <p:cNvSpPr txBox="1"/>
          <p:nvPr/>
        </p:nvSpPr>
        <p:spPr>
          <a:xfrm>
            <a:off x="952530" y="2419320"/>
            <a:ext cx="2476470" cy="914400"/>
          </a:xfrm>
          <a:prstGeom prst="rect">
            <a:avLst/>
          </a:prstGeom>
          <a:noFill/>
          <a:ln/>
        </p:spPr>
        <p:txBody>
          <a:bodyPr wrap="square" lIns="0" tIns="0" rIns="0" bIns="0" rtlCol="0" anchor="t"/>
          <a:lstStyle/>
          <a:p>
            <a:pPr algn="l" indent="0" marL="0">
              <a:lnSpc>
                <a:spcPct val="110000"/>
              </a:lnSpc>
              <a:buNone/>
            </a:pPr>
            <a:r>
              <a:rPr lang="en-US" sz="6300" b="1" spc="-189" kern="0" dirty="0">
                <a:solidFill>
                  <a:srgbClr val="B5532A"/>
                </a:solidFill>
                <a:latin typeface="Arial" pitchFamily="34" charset="0"/>
                <a:ea typeface="Arial" pitchFamily="34" charset="-122"/>
                <a:cs typeface="Arial" pitchFamily="34" charset="-120"/>
              </a:rPr>
              <a:t>Free</a:t>
            </a:r>
            <a:endParaRPr lang="en-US" sz="6300" dirty="0"/>
          </a:p>
        </p:txBody>
      </p:sp>
      <p:sp>
        <p:nvSpPr>
          <p:cNvPr id="8" name="text-1216"/>
          <p:cNvSpPr txBox="1"/>
          <p:nvPr/>
        </p:nvSpPr>
        <p:spPr>
          <a:xfrm>
            <a:off x="3752880" y="2495580"/>
            <a:ext cx="7429500" cy="1047720"/>
          </a:xfrm>
          <a:prstGeom prst="rect">
            <a:avLst/>
          </a:prstGeom>
          <a:noFill/>
          <a:ln/>
        </p:spPr>
        <p:txBody>
          <a:bodyPr wrap="square" lIns="0" tIns="0" rIns="0" bIns="0" rtlCol="0" anchor="t"/>
          <a:lstStyle/>
          <a:p>
            <a:pPr algn="l" indent="0" marL="0">
              <a:lnSpc>
                <a:spcPct val="142000"/>
              </a:lnSpc>
              <a:buNone/>
            </a:pPr>
            <a:r>
              <a:rPr lang="en-US" sz="1875" dirty="0">
                <a:solidFill>
                  <a:srgbClr val="14202F"/>
                </a:solidFill>
                <a:latin typeface="Arial" pitchFamily="34" charset="0"/>
                <a:ea typeface="Arial" pitchFamily="34" charset="-122"/>
                <a:cs typeface="Arial" pitchFamily="34" charset="-120"/>
              </a:rPr>
              <a:t>Everything in the Family plan, at no cost. The students with the least help at home should never be the ones priced out.</a:t>
            </a:r>
            <a:endParaRPr lang="en-US" sz="1875" dirty="0"/>
          </a:p>
        </p:txBody>
      </p:sp>
      <p:sp>
        <p:nvSpPr>
          <p:cNvPr id="9" name="text-1217"/>
          <p:cNvSpPr txBox="1"/>
          <p:nvPr/>
        </p:nvSpPr>
        <p:spPr>
          <a:xfrm>
            <a:off x="609630" y="3924330"/>
            <a:ext cx="5715000" cy="171450"/>
          </a:xfrm>
          <a:prstGeom prst="rect">
            <a:avLst/>
          </a:prstGeom>
          <a:noFill/>
          <a:ln/>
        </p:spPr>
        <p:txBody>
          <a:bodyPr wrap="square" lIns="0" tIns="0" rIns="0" bIns="0" rtlCol="0" anchor="t"/>
          <a:lstStyle/>
          <a:p>
            <a:pPr algn="l" indent="0" marL="0">
              <a:lnSpc>
                <a:spcPct val="120000"/>
              </a:lnSpc>
              <a:buNone/>
            </a:pPr>
            <a:r>
              <a:rPr lang="en-US" sz="975" b="1" spc="117" kern="0" dirty="0">
                <a:solidFill>
                  <a:srgbClr val="636B78"/>
                </a:solidFill>
                <a:latin typeface="Arial" pitchFamily="34" charset="0"/>
                <a:ea typeface="Arial" pitchFamily="34" charset="-122"/>
                <a:cs typeface="Arial" pitchFamily="34" charset="-120"/>
              </a:rPr>
              <a:t>FOR EVERYONE ELSE</a:t>
            </a:r>
            <a:endParaRPr lang="en-US" sz="975" dirty="0"/>
          </a:p>
        </p:txBody>
      </p:sp>
      <p:sp>
        <p:nvSpPr>
          <p:cNvPr id="10" name="rect-1218"/>
          <p:cNvSpPr/>
          <p:nvPr/>
        </p:nvSpPr>
        <p:spPr>
          <a:xfrm>
            <a:off x="609630" y="4190970"/>
            <a:ext cx="3505170" cy="2019270"/>
          </a:xfrm>
          <a:prstGeom prst="roundRect">
            <a:avLst>
              <a:gd name="adj" fmla="val 7549"/>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text-1219"/>
          <p:cNvSpPr txBox="1"/>
          <p:nvPr/>
        </p:nvSpPr>
        <p:spPr>
          <a:xfrm>
            <a:off x="857250" y="4419570"/>
            <a:ext cx="3009930" cy="247620"/>
          </a:xfrm>
          <a:prstGeom prst="rect">
            <a:avLst/>
          </a:prstGeom>
          <a:noFill/>
          <a:ln/>
        </p:spPr>
        <p:txBody>
          <a:bodyPr wrap="square" lIns="0" tIns="0" rIns="0" bIns="0" rtlCol="0" anchor="t"/>
          <a:lstStyle/>
          <a:p>
            <a:pPr algn="l" indent="0" marL="0">
              <a:lnSpc>
                <a:spcPct val="120000"/>
              </a:lnSpc>
              <a:buNone/>
            </a:pPr>
            <a:r>
              <a:rPr lang="en-US" sz="1500" b="1" dirty="0">
                <a:solidFill>
                  <a:srgbClr val="14202F"/>
                </a:solidFill>
                <a:latin typeface="Arial" pitchFamily="34" charset="0"/>
                <a:ea typeface="Arial" pitchFamily="34" charset="-122"/>
                <a:cs typeface="Arial" pitchFamily="34" charset="-120"/>
              </a:rPr>
              <a:t>Free</a:t>
            </a:r>
            <a:endParaRPr lang="en-US" sz="1500" dirty="0"/>
          </a:p>
        </p:txBody>
      </p:sp>
      <p:sp>
        <p:nvSpPr>
          <p:cNvPr id="12" name="text-1220"/>
          <p:cNvSpPr txBox="1"/>
          <p:nvPr/>
        </p:nvSpPr>
        <p:spPr>
          <a:xfrm>
            <a:off x="857250" y="4762470"/>
            <a:ext cx="3009930" cy="438180"/>
          </a:xfrm>
          <a:prstGeom prst="rect">
            <a:avLst/>
          </a:prstGeom>
          <a:noFill/>
          <a:ln/>
        </p:spPr>
        <p:txBody>
          <a:bodyPr wrap="square" lIns="0" tIns="0" rIns="0" bIns="0" rtlCol="0" anchor="t"/>
          <a:lstStyle/>
          <a:p>
            <a:pPr algn="l" indent="0" marL="0">
              <a:lnSpc>
                <a:spcPct val="115000"/>
              </a:lnSpc>
              <a:buNone/>
            </a:pPr>
            <a:r>
              <a:rPr lang="en-US" sz="2700" b="1" spc="-54" kern="0" dirty="0">
                <a:solidFill>
                  <a:srgbClr val="14202F"/>
                </a:solidFill>
                <a:latin typeface="Arial" pitchFamily="34" charset="0"/>
                <a:ea typeface="Arial" pitchFamily="34" charset="-122"/>
                <a:cs typeface="Arial" pitchFamily="34" charset="-120"/>
              </a:rPr>
              <a:t>$0</a:t>
            </a:r>
            <a:endParaRPr lang="en-US" sz="2700" dirty="0"/>
          </a:p>
        </p:txBody>
      </p:sp>
      <p:sp>
        <p:nvSpPr>
          <p:cNvPr id="13" name="text-1221"/>
          <p:cNvSpPr txBox="1"/>
          <p:nvPr/>
        </p:nvSpPr>
        <p:spPr>
          <a:xfrm>
            <a:off x="857250" y="5295930"/>
            <a:ext cx="3009930" cy="76197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Matches, board, calendar, Story Bank, 20 crew requests a month</a:t>
            </a:r>
            <a:endParaRPr lang="en-US" sz="1350" dirty="0"/>
          </a:p>
        </p:txBody>
      </p:sp>
      <p:sp>
        <p:nvSpPr>
          <p:cNvPr id="14" name="rect-1222"/>
          <p:cNvSpPr/>
          <p:nvPr/>
        </p:nvSpPr>
        <p:spPr>
          <a:xfrm>
            <a:off x="4343400" y="4190970"/>
            <a:ext cx="3505170" cy="2019270"/>
          </a:xfrm>
          <a:prstGeom prst="roundRect">
            <a:avLst>
              <a:gd name="adj" fmla="val 7549"/>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5" name="text-1223"/>
          <p:cNvSpPr txBox="1"/>
          <p:nvPr/>
        </p:nvSpPr>
        <p:spPr>
          <a:xfrm>
            <a:off x="4591020" y="4419570"/>
            <a:ext cx="3009930" cy="247620"/>
          </a:xfrm>
          <a:prstGeom prst="rect">
            <a:avLst/>
          </a:prstGeom>
          <a:noFill/>
          <a:ln/>
        </p:spPr>
        <p:txBody>
          <a:bodyPr wrap="square" lIns="0" tIns="0" rIns="0" bIns="0" rtlCol="0" anchor="t"/>
          <a:lstStyle/>
          <a:p>
            <a:pPr algn="l" indent="0" marL="0">
              <a:lnSpc>
                <a:spcPct val="120000"/>
              </a:lnSpc>
              <a:buNone/>
            </a:pPr>
            <a:r>
              <a:rPr lang="en-US" sz="1500" b="1" dirty="0">
                <a:solidFill>
                  <a:srgbClr val="14202F"/>
                </a:solidFill>
                <a:latin typeface="Arial" pitchFamily="34" charset="0"/>
                <a:ea typeface="Arial" pitchFamily="34" charset="-122"/>
                <a:cs typeface="Arial" pitchFamily="34" charset="-120"/>
              </a:rPr>
              <a:t>Family plan</a:t>
            </a:r>
            <a:endParaRPr lang="en-US" sz="1500" dirty="0"/>
          </a:p>
        </p:txBody>
      </p:sp>
      <p:sp>
        <p:nvSpPr>
          <p:cNvPr id="16" name="text-1224"/>
          <p:cNvSpPr txBox="1"/>
          <p:nvPr/>
        </p:nvSpPr>
        <p:spPr>
          <a:xfrm>
            <a:off x="4591020" y="4762470"/>
            <a:ext cx="3009930" cy="438180"/>
          </a:xfrm>
          <a:prstGeom prst="rect">
            <a:avLst/>
          </a:prstGeom>
          <a:noFill/>
          <a:ln/>
        </p:spPr>
        <p:txBody>
          <a:bodyPr wrap="square" lIns="0" tIns="0" rIns="0" bIns="0" rtlCol="0" anchor="t"/>
          <a:lstStyle/>
          <a:p>
            <a:pPr algn="l" indent="0" marL="0">
              <a:lnSpc>
                <a:spcPct val="115000"/>
              </a:lnSpc>
              <a:buNone/>
            </a:pPr>
            <a:r>
              <a:rPr lang="en-US" sz="2700" b="1" spc="-54" kern="0" dirty="0">
                <a:solidFill>
                  <a:srgbClr val="14202F"/>
                </a:solidFill>
                <a:latin typeface="Arial" pitchFamily="34" charset="0"/>
                <a:ea typeface="Arial" pitchFamily="34" charset="-122"/>
                <a:cs typeface="Arial" pitchFamily="34" charset="-120"/>
              </a:rPr>
              <a:t>$12 / month</a:t>
            </a:r>
            <a:endParaRPr lang="en-US" sz="2700" dirty="0"/>
          </a:p>
        </p:txBody>
      </p:sp>
      <p:sp>
        <p:nvSpPr>
          <p:cNvPr id="17" name="text-1225"/>
          <p:cNvSpPr txBox="1"/>
          <p:nvPr/>
        </p:nvSpPr>
        <p:spPr>
          <a:xfrm>
            <a:off x="4591020" y="5295930"/>
            <a:ext cx="3009930" cy="76197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1 student and up to 2 parents, 300 crew requests a month</a:t>
            </a:r>
            <a:endParaRPr lang="en-US" sz="1350" dirty="0"/>
          </a:p>
        </p:txBody>
      </p:sp>
      <p:sp>
        <p:nvSpPr>
          <p:cNvPr id="18" name="rect-1226"/>
          <p:cNvSpPr/>
          <p:nvPr/>
        </p:nvSpPr>
        <p:spPr>
          <a:xfrm>
            <a:off x="8077170" y="4190970"/>
            <a:ext cx="3505170" cy="2019270"/>
          </a:xfrm>
          <a:prstGeom prst="roundRect">
            <a:avLst>
              <a:gd name="adj" fmla="val 7549"/>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9" name="text-1227"/>
          <p:cNvSpPr txBox="1"/>
          <p:nvPr/>
        </p:nvSpPr>
        <p:spPr>
          <a:xfrm>
            <a:off x="8324880" y="4419570"/>
            <a:ext cx="3009930" cy="247620"/>
          </a:xfrm>
          <a:prstGeom prst="rect">
            <a:avLst/>
          </a:prstGeom>
          <a:noFill/>
          <a:ln/>
        </p:spPr>
        <p:txBody>
          <a:bodyPr wrap="square" lIns="0" tIns="0" rIns="0" bIns="0" rtlCol="0" anchor="t"/>
          <a:lstStyle/>
          <a:p>
            <a:pPr algn="l" indent="0" marL="0">
              <a:lnSpc>
                <a:spcPct val="120000"/>
              </a:lnSpc>
              <a:buNone/>
            </a:pPr>
            <a:r>
              <a:rPr lang="en-US" sz="1500" b="1" dirty="0">
                <a:solidFill>
                  <a:srgbClr val="14202F"/>
                </a:solidFill>
                <a:latin typeface="Arial" pitchFamily="34" charset="0"/>
                <a:ea typeface="Arial" pitchFamily="34" charset="-122"/>
                <a:cs typeface="Arial" pitchFamily="34" charset="-120"/>
              </a:rPr>
              <a:t>Season pass</a:t>
            </a:r>
            <a:endParaRPr lang="en-US" sz="1500" dirty="0"/>
          </a:p>
        </p:txBody>
      </p:sp>
      <p:sp>
        <p:nvSpPr>
          <p:cNvPr id="20" name="text-1228"/>
          <p:cNvSpPr txBox="1"/>
          <p:nvPr/>
        </p:nvSpPr>
        <p:spPr>
          <a:xfrm>
            <a:off x="8324880" y="4762470"/>
            <a:ext cx="3009930" cy="438180"/>
          </a:xfrm>
          <a:prstGeom prst="rect">
            <a:avLst/>
          </a:prstGeom>
          <a:noFill/>
          <a:ln/>
        </p:spPr>
        <p:txBody>
          <a:bodyPr wrap="square" lIns="0" tIns="0" rIns="0" bIns="0" rtlCol="0" anchor="t"/>
          <a:lstStyle/>
          <a:p>
            <a:pPr algn="l" indent="0" marL="0">
              <a:lnSpc>
                <a:spcPct val="115000"/>
              </a:lnSpc>
              <a:buNone/>
            </a:pPr>
            <a:r>
              <a:rPr lang="en-US" sz="2700" b="1" spc="-54" kern="0" dirty="0">
                <a:solidFill>
                  <a:srgbClr val="14202F"/>
                </a:solidFill>
                <a:latin typeface="Arial" pitchFamily="34" charset="0"/>
                <a:ea typeface="Arial" pitchFamily="34" charset="-122"/>
                <a:cs typeface="Arial" pitchFamily="34" charset="-120"/>
              </a:rPr>
              <a:t>$79 once</a:t>
            </a:r>
            <a:endParaRPr lang="en-US" sz="2700" dirty="0"/>
          </a:p>
        </p:txBody>
      </p:sp>
      <p:sp>
        <p:nvSpPr>
          <p:cNvPr id="21" name="text-1229"/>
          <p:cNvSpPr txBox="1"/>
          <p:nvPr/>
        </p:nvSpPr>
        <p:spPr>
          <a:xfrm>
            <a:off x="8324880" y="5295930"/>
            <a:ext cx="3009930" cy="761970"/>
          </a:xfrm>
          <a:prstGeom prst="rect">
            <a:avLst/>
          </a:prstGeom>
          <a:noFill/>
          <a:ln/>
        </p:spPr>
        <p:txBody>
          <a:bodyPr wrap="square" lIns="0" tIns="0" rIns="0" bIns="0" rtlCol="0" anchor="t"/>
          <a:lstStyle/>
          <a:p>
            <a:pPr algn="l" indent="0" marL="0">
              <a:lnSpc>
                <a:spcPct val="142000"/>
              </a:lnSpc>
              <a:buNone/>
            </a:pPr>
            <a:r>
              <a:rPr lang="en-US" sz="1350" dirty="0">
                <a:solidFill>
                  <a:srgbClr val="3B4555"/>
                </a:solidFill>
                <a:latin typeface="Arial" pitchFamily="34" charset="0"/>
                <a:ea typeface="Arial" pitchFamily="34" charset="-122"/>
                <a:cs typeface="Arial" pitchFamily="34" charset="-120"/>
              </a:rPr>
              <a:t>August through May, same as the Family plan</a:t>
            </a:r>
            <a:endParaRPr lang="en-US" sz="1350"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1230"/>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BUILT AND VERIFIED</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Tested like it matters</a:t>
            </a:r>
            <a:endParaRPr lang="en-US" sz="3600" dirty="0"/>
          </a:p>
        </p:txBody>
      </p:sp>
      <p:sp>
        <p:nvSpPr>
          <p:cNvPr id="4" name="text-1232"/>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Verified on October 9, 2026, against the running app with fictional data.</a:t>
            </a:r>
            <a:endParaRPr lang="en-US" sz="1575" dirty="0"/>
          </a:p>
        </p:txBody>
      </p:sp>
      <p:sp>
        <p:nvSpPr>
          <p:cNvPr id="5" name="rect-1233"/>
          <p:cNvSpPr/>
          <p:nvPr/>
        </p:nvSpPr>
        <p:spPr>
          <a:xfrm>
            <a:off x="609630" y="188595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text-1234"/>
          <p:cNvSpPr txBox="1"/>
          <p:nvPr/>
        </p:nvSpPr>
        <p:spPr>
          <a:xfrm>
            <a:off x="876270" y="211455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2,020</a:t>
            </a:r>
            <a:endParaRPr lang="en-US" sz="4800" dirty="0"/>
          </a:p>
        </p:txBody>
      </p:sp>
      <p:sp>
        <p:nvSpPr>
          <p:cNvPr id="7" name="text-1235"/>
          <p:cNvSpPr txBox="1"/>
          <p:nvPr/>
        </p:nvSpPr>
        <p:spPr>
          <a:xfrm>
            <a:off x="876270" y="291465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automated tests passing across 12 packages</a:t>
            </a:r>
            <a:endParaRPr lang="en-US" sz="1388" dirty="0"/>
          </a:p>
        </p:txBody>
      </p:sp>
      <p:sp>
        <p:nvSpPr>
          <p:cNvPr id="8" name="rect-1236"/>
          <p:cNvSpPr/>
          <p:nvPr/>
        </p:nvSpPr>
        <p:spPr>
          <a:xfrm>
            <a:off x="4343400" y="188595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9" name="text-1237"/>
          <p:cNvSpPr txBox="1"/>
          <p:nvPr/>
        </p:nvSpPr>
        <p:spPr>
          <a:xfrm>
            <a:off x="4610130" y="211455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23</a:t>
            </a:r>
            <a:endParaRPr lang="en-US" sz="4800" dirty="0"/>
          </a:p>
        </p:txBody>
      </p:sp>
      <p:sp>
        <p:nvSpPr>
          <p:cNvPr id="10" name="text-1238"/>
          <p:cNvSpPr txBox="1"/>
          <p:nvPr/>
        </p:nvSpPr>
        <p:spPr>
          <a:xfrm>
            <a:off x="4610130" y="291465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browser flows passing in Chromium, end to end</a:t>
            </a:r>
            <a:endParaRPr lang="en-US" sz="1388" dirty="0"/>
          </a:p>
        </p:txBody>
      </p:sp>
      <p:sp>
        <p:nvSpPr>
          <p:cNvPr id="11" name="rect-1239"/>
          <p:cNvSpPr/>
          <p:nvPr/>
        </p:nvSpPr>
        <p:spPr>
          <a:xfrm>
            <a:off x="8077170" y="188595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2" name="text-1240"/>
          <p:cNvSpPr txBox="1"/>
          <p:nvPr/>
        </p:nvSpPr>
        <p:spPr>
          <a:xfrm>
            <a:off x="8343900" y="211455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49</a:t>
            </a:r>
            <a:endParaRPr lang="en-US" sz="4800" dirty="0"/>
          </a:p>
        </p:txBody>
      </p:sp>
      <p:sp>
        <p:nvSpPr>
          <p:cNvPr id="13" name="text-1241"/>
          <p:cNvSpPr txBox="1"/>
          <p:nvPr/>
        </p:nvSpPr>
        <p:spPr>
          <a:xfrm>
            <a:off x="8343900" y="291465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live click-through flows as student, parent, admin, and visitor</a:t>
            </a:r>
            <a:endParaRPr lang="en-US" sz="1388" dirty="0"/>
          </a:p>
        </p:txBody>
      </p:sp>
      <p:sp>
        <p:nvSpPr>
          <p:cNvPr id="14" name="rect-1242"/>
          <p:cNvSpPr/>
          <p:nvPr/>
        </p:nvSpPr>
        <p:spPr>
          <a:xfrm>
            <a:off x="609630" y="388620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5" name="text-1243"/>
          <p:cNvSpPr txBox="1"/>
          <p:nvPr/>
        </p:nvSpPr>
        <p:spPr>
          <a:xfrm>
            <a:off x="876270" y="411480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19</a:t>
            </a:r>
            <a:endParaRPr lang="en-US" sz="4800" dirty="0"/>
          </a:p>
        </p:txBody>
      </p:sp>
      <p:sp>
        <p:nvSpPr>
          <p:cNvPr id="16" name="text-1244"/>
          <p:cNvSpPr txBox="1"/>
          <p:nvPr/>
        </p:nvSpPr>
        <p:spPr>
          <a:xfrm>
            <a:off x="876270" y="491490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design mockups compared screen by screen</a:t>
            </a:r>
            <a:endParaRPr lang="en-US" sz="1388" dirty="0"/>
          </a:p>
        </p:txBody>
      </p:sp>
      <p:sp>
        <p:nvSpPr>
          <p:cNvPr id="17" name="rect-1245"/>
          <p:cNvSpPr/>
          <p:nvPr/>
        </p:nvSpPr>
        <p:spPr>
          <a:xfrm>
            <a:off x="4343400" y="388620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8" name="text-1246"/>
          <p:cNvSpPr txBox="1"/>
          <p:nvPr/>
        </p:nvSpPr>
        <p:spPr>
          <a:xfrm>
            <a:off x="4610130" y="411480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152</a:t>
            </a:r>
            <a:endParaRPr lang="en-US" sz="4800" dirty="0"/>
          </a:p>
        </p:txBody>
      </p:sp>
      <p:sp>
        <p:nvSpPr>
          <p:cNvPr id="19" name="text-1247"/>
          <p:cNvSpPr txBox="1"/>
          <p:nvPr/>
        </p:nvSpPr>
        <p:spPr>
          <a:xfrm>
            <a:off x="4610130" y="491490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page checks: 38 pages at 4 screen widths</a:t>
            </a:r>
            <a:endParaRPr lang="en-US" sz="1388" dirty="0"/>
          </a:p>
        </p:txBody>
      </p:sp>
      <p:sp>
        <p:nvSpPr>
          <p:cNvPr id="20" name="rect-1248"/>
          <p:cNvSpPr/>
          <p:nvPr/>
        </p:nvSpPr>
        <p:spPr>
          <a:xfrm>
            <a:off x="8077170" y="3886200"/>
            <a:ext cx="3505170" cy="1771650"/>
          </a:xfrm>
          <a:prstGeom prst="roundRect">
            <a:avLst>
              <a:gd name="adj" fmla="val 860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text-1249"/>
          <p:cNvSpPr txBox="1"/>
          <p:nvPr/>
        </p:nvSpPr>
        <p:spPr>
          <a:xfrm>
            <a:off x="8343900" y="4114800"/>
            <a:ext cx="2971800" cy="742950"/>
          </a:xfrm>
          <a:prstGeom prst="rect">
            <a:avLst/>
          </a:prstGeom>
          <a:noFill/>
          <a:ln/>
        </p:spPr>
        <p:txBody>
          <a:bodyPr wrap="square" lIns="0" tIns="0" rIns="0" bIns="0" rtlCol="0" anchor="t"/>
          <a:lstStyle/>
          <a:p>
            <a:pPr algn="l" indent="0" marL="0">
              <a:lnSpc>
                <a:spcPct val="110000"/>
              </a:lnSpc>
              <a:buNone/>
            </a:pPr>
            <a:r>
              <a:rPr lang="en-US" sz="4800" b="1" spc="-144" kern="0" dirty="0">
                <a:solidFill>
                  <a:srgbClr val="1E3A5F"/>
                </a:solidFill>
                <a:latin typeface="Arial" pitchFamily="34" charset="0"/>
                <a:ea typeface="Arial" pitchFamily="34" charset="-122"/>
                <a:cs typeface="Arial" pitchFamily="34" charset="-120"/>
              </a:rPr>
              <a:t>0</a:t>
            </a:r>
            <a:endParaRPr lang="en-US" sz="4800" dirty="0"/>
          </a:p>
        </p:txBody>
      </p:sp>
      <p:sp>
        <p:nvSpPr>
          <p:cNvPr id="22" name="text-1250"/>
          <p:cNvSpPr txBox="1"/>
          <p:nvPr/>
        </p:nvSpPr>
        <p:spPr>
          <a:xfrm>
            <a:off x="8343900" y="4914900"/>
            <a:ext cx="2971800" cy="571500"/>
          </a:xfrm>
          <a:prstGeom prst="rect">
            <a:avLst/>
          </a:prstGeom>
          <a:noFill/>
          <a:ln/>
        </p:spPr>
        <p:txBody>
          <a:bodyPr wrap="square" lIns="0" tIns="0" rIns="0" bIns="0" rtlCol="0" anchor="t"/>
          <a:lstStyle/>
          <a:p>
            <a:pPr algn="l" indent="0" marL="0">
              <a:lnSpc>
                <a:spcPct val="140000"/>
              </a:lnSpc>
              <a:buNone/>
            </a:pPr>
            <a:r>
              <a:rPr lang="en-US" sz="1388" dirty="0">
                <a:solidFill>
                  <a:srgbClr val="3B4555"/>
                </a:solidFill>
                <a:latin typeface="Arial" pitchFamily="34" charset="0"/>
                <a:ea typeface="Arial" pitchFamily="34" charset="-122"/>
                <a:cs typeface="Arial" pitchFamily="34" charset="-120"/>
              </a:rPr>
              <a:t>lint or type errors across 14 workspace tasks</a:t>
            </a:r>
            <a:endParaRPr lang="en-US" sz="1388" dirty="0"/>
          </a:p>
        </p:txBody>
      </p:sp>
      <p:sp>
        <p:nvSpPr>
          <p:cNvPr id="23" name="text-1251"/>
          <p:cNvSpPr txBox="1"/>
          <p:nvPr/>
        </p:nvSpPr>
        <p:spPr>
          <a:xfrm>
            <a:off x="609630" y="6000750"/>
            <a:ext cx="10972800" cy="228600"/>
          </a:xfrm>
          <a:prstGeom prst="rect">
            <a:avLst/>
          </a:prstGeom>
          <a:noFill/>
          <a:ln/>
        </p:spPr>
        <p:txBody>
          <a:bodyPr wrap="square" lIns="0" tIns="0" rIns="0" bIns="0" rtlCol="0" anchor="t"/>
          <a:lstStyle/>
          <a:p>
            <a:pPr algn="l" indent="0" marL="0">
              <a:lnSpc>
                <a:spcPct val="120000"/>
              </a:lnSpc>
              <a:buNone/>
            </a:pPr>
            <a:r>
              <a:rPr lang="en-US" sz="1275" dirty="0">
                <a:solidFill>
                  <a:srgbClr val="636B78"/>
                </a:solidFill>
                <a:latin typeface="Arial" pitchFamily="34" charset="0"/>
                <a:ea typeface="Arial" pitchFamily="34" charset="-122"/>
                <a:cs typeface="Arial" pitchFamily="34" charset="-120"/>
              </a:rPr>
              <a:t>Next.js 15 · PostgreSQL 16 · pg-boss worker · Claude (claude-opus-5-5) · Chrome extension</a:t>
            </a:r>
            <a:endParaRPr lang="en-US" sz="1275"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1252"/>
          <p:cNvSpPr txBox="1"/>
          <p:nvPr/>
        </p:nvSpPr>
        <p:spPr>
          <a:xfrm>
            <a:off x="609630" y="457200"/>
            <a:ext cx="9525030" cy="190470"/>
          </a:xfrm>
          <a:prstGeom prst="rect">
            <a:avLst/>
          </a:prstGeom>
          <a:noFill/>
          <a:ln/>
        </p:spPr>
        <p:txBody>
          <a:bodyPr wrap="square" lIns="0" tIns="0" rIns="0" bIns="0" rtlCol="0" anchor="t"/>
          <a:lstStyle/>
          <a:p>
            <a:pPr algn="l" indent="0" marL="0">
              <a:lnSpc>
                <a:spcPct val="120000"/>
              </a:lnSpc>
              <a:buNone/>
            </a:pPr>
            <a:r>
              <a:rPr lang="en-US" sz="1013" b="1" spc="122" kern="0" dirty="0">
                <a:solidFill>
                  <a:srgbClr val="636B78"/>
                </a:solidFill>
                <a:latin typeface="Arial" pitchFamily="34" charset="0"/>
                <a:ea typeface="Arial" pitchFamily="34" charset="-122"/>
                <a:cs typeface="Arial" pitchFamily="34" charset="-120"/>
              </a:rPr>
              <a:t>BEFORE LAUNCH</a:t>
            </a:r>
            <a:endParaRPr lang="en-US" sz="1013" dirty="0"/>
          </a:p>
        </p:txBody>
      </p:sp>
      <p:sp>
        <p:nvSpPr>
          <p:cNvPr id="3" name="Text 0"/>
          <p:cNvSpPr/>
          <p:nvPr>
            <p:ph idx="100" type="title" hasCustomPrompt="1"/>
          </p:nvPr>
        </p:nvSpPr>
        <p:spPr>
          <a:xfrm>
            <a:off x="609630" y="685800"/>
            <a:ext cx="10972800" cy="590520"/>
          </a:xfrm>
          <a:prstGeom prst="rect">
            <a:avLst/>
          </a:prstGeom>
          <a:noFill/>
          <a:ln/>
        </p:spPr>
        <p:txBody>
          <a:bodyPr wrap="square" lIns="0" tIns="0" rIns="0" bIns="0" rtlCol="0" anchor="t"/>
          <a:lstStyle/>
          <a:p>
            <a:pPr algn="l" indent="0" marL="0">
              <a:buNone/>
            </a:pPr>
            <a:r>
              <a:rPr lang="en-US" sz="3600" b="1" dirty="0">
                <a:solidFill>
                  <a:srgbClr val="14202F"/>
                </a:solidFill>
                <a:latin typeface="Arial" pitchFamily="34" charset="0"/>
                <a:ea typeface="Arial" pitchFamily="34" charset="-122"/>
                <a:cs typeface="Arial" pitchFamily="34" charset="-120"/>
              </a:rPr>
              <a:t>What's left before launch</a:t>
            </a:r>
            <a:endParaRPr lang="en-US" sz="3600" dirty="0"/>
          </a:p>
        </p:txBody>
      </p:sp>
      <p:sp>
        <p:nvSpPr>
          <p:cNvPr id="4" name="text-1254"/>
          <p:cNvSpPr txBox="1"/>
          <p:nvPr/>
        </p:nvSpPr>
        <p:spPr>
          <a:xfrm>
            <a:off x="609630" y="1314450"/>
            <a:ext cx="10972800" cy="285750"/>
          </a:xfrm>
          <a:prstGeom prst="rect">
            <a:avLst/>
          </a:prstGeom>
          <a:noFill/>
          <a:ln/>
        </p:spPr>
        <p:txBody>
          <a:bodyPr wrap="square" lIns="0" tIns="0" rIns="0" bIns="0" rtlCol="0" anchor="t"/>
          <a:lstStyle/>
          <a:p>
            <a:pPr algn="l" indent="0" marL="0">
              <a:lnSpc>
                <a:spcPct val="135000"/>
              </a:lnSpc>
              <a:buNone/>
            </a:pPr>
            <a:r>
              <a:rPr lang="en-US" sz="1575" dirty="0">
                <a:solidFill>
                  <a:srgbClr val="636B78"/>
                </a:solidFill>
                <a:latin typeface="Arial" pitchFamily="34" charset="0"/>
                <a:ea typeface="Arial" pitchFamily="34" charset="-122"/>
                <a:cs typeface="Arial" pitchFamily="34" charset="-120"/>
              </a:rPr>
              <a:t>The product is built. These steps need live accounts or a decision.</a:t>
            </a:r>
            <a:endParaRPr lang="en-US" sz="1575" dirty="0"/>
          </a:p>
        </p:txBody>
      </p:sp>
      <p:sp>
        <p:nvSpPr>
          <p:cNvPr id="5" name="rect-1255"/>
          <p:cNvSpPr/>
          <p:nvPr/>
        </p:nvSpPr>
        <p:spPr>
          <a:xfrm>
            <a:off x="609630" y="190497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6" name="oval-1256"/>
          <p:cNvSpPr/>
          <p:nvPr/>
        </p:nvSpPr>
        <p:spPr>
          <a:xfrm>
            <a:off x="857250" y="2152680"/>
            <a:ext cx="323880" cy="323880"/>
          </a:xfrm>
          <a:prstGeom prst="ellipse">
            <a:avLst/>
          </a:prstGeom>
          <a:solidFill>
            <a:srgbClr val="E9EEF5"/>
          </a:solidFill>
          <a:ln/>
        </p:spPr>
      </p:sp>
      <p:sp>
        <p:nvSpPr>
          <p:cNvPr id="7" name="text-1257"/>
          <p:cNvSpPr txBox="1"/>
          <p:nvPr/>
        </p:nvSpPr>
        <p:spPr>
          <a:xfrm>
            <a:off x="85725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1</a:t>
            </a:r>
            <a:endParaRPr lang="en-US" sz="1125" dirty="0"/>
          </a:p>
        </p:txBody>
      </p:sp>
      <p:sp>
        <p:nvSpPr>
          <p:cNvPr id="8" name="text-1258"/>
          <p:cNvSpPr txBox="1"/>
          <p:nvPr/>
        </p:nvSpPr>
        <p:spPr>
          <a:xfrm>
            <a:off x="85725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Live AI safety evals</a:t>
            </a:r>
            <a:endParaRPr lang="en-US" sz="1650" dirty="0"/>
          </a:p>
        </p:txBody>
      </p:sp>
      <p:sp>
        <p:nvSpPr>
          <p:cNvPr id="9" name="text-1259"/>
          <p:cNvSpPr txBox="1"/>
          <p:nvPr/>
        </p:nvSpPr>
        <p:spPr>
          <a:xfrm>
            <a:off x="857250" y="298606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Run the evaluation suite against Claude with a real API key.</a:t>
            </a:r>
            <a:endParaRPr lang="en-US" sz="1388" dirty="0"/>
          </a:p>
        </p:txBody>
      </p:sp>
      <p:sp>
        <p:nvSpPr>
          <p:cNvPr id="10" name="rect-1260"/>
          <p:cNvSpPr/>
          <p:nvPr/>
        </p:nvSpPr>
        <p:spPr>
          <a:xfrm>
            <a:off x="4343400" y="190497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1" name="oval-1261"/>
          <p:cNvSpPr/>
          <p:nvPr/>
        </p:nvSpPr>
        <p:spPr>
          <a:xfrm>
            <a:off x="4591020" y="2152680"/>
            <a:ext cx="323880" cy="323880"/>
          </a:xfrm>
          <a:prstGeom prst="ellipse">
            <a:avLst/>
          </a:prstGeom>
          <a:solidFill>
            <a:srgbClr val="E9EEF5"/>
          </a:solidFill>
          <a:ln/>
        </p:spPr>
      </p:sp>
      <p:sp>
        <p:nvSpPr>
          <p:cNvPr id="12" name="text-1262"/>
          <p:cNvSpPr txBox="1"/>
          <p:nvPr/>
        </p:nvSpPr>
        <p:spPr>
          <a:xfrm>
            <a:off x="459102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2</a:t>
            </a:r>
            <a:endParaRPr lang="en-US" sz="1125" dirty="0"/>
          </a:p>
        </p:txBody>
      </p:sp>
      <p:sp>
        <p:nvSpPr>
          <p:cNvPr id="13" name="text-1263"/>
          <p:cNvSpPr txBox="1"/>
          <p:nvPr/>
        </p:nvSpPr>
        <p:spPr>
          <a:xfrm>
            <a:off x="459102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Payments</a:t>
            </a:r>
            <a:endParaRPr lang="en-US" sz="1650" dirty="0"/>
          </a:p>
        </p:txBody>
      </p:sp>
      <p:sp>
        <p:nvSpPr>
          <p:cNvPr id="14" name="text-1264"/>
          <p:cNvSpPr txBox="1"/>
          <p:nvPr/>
        </p:nvSpPr>
        <p:spPr>
          <a:xfrm>
            <a:off x="4591020" y="298606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Stripe sandbox checkout and webhook delivery.</a:t>
            </a:r>
            <a:endParaRPr lang="en-US" sz="1388" dirty="0"/>
          </a:p>
        </p:txBody>
      </p:sp>
      <p:sp>
        <p:nvSpPr>
          <p:cNvPr id="15" name="rect-1265"/>
          <p:cNvSpPr/>
          <p:nvPr/>
        </p:nvSpPr>
        <p:spPr>
          <a:xfrm>
            <a:off x="8077170" y="1904970"/>
            <a:ext cx="3505170" cy="1981230"/>
          </a:xfrm>
          <a:prstGeom prst="roundRect">
            <a:avLst>
              <a:gd name="adj" fmla="val 7694"/>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16" name="oval-1266"/>
          <p:cNvSpPr/>
          <p:nvPr/>
        </p:nvSpPr>
        <p:spPr>
          <a:xfrm>
            <a:off x="8324880" y="2152680"/>
            <a:ext cx="323880" cy="323880"/>
          </a:xfrm>
          <a:prstGeom prst="ellipse">
            <a:avLst/>
          </a:prstGeom>
          <a:solidFill>
            <a:srgbClr val="E9EEF5"/>
          </a:solidFill>
          <a:ln/>
        </p:spPr>
      </p:sp>
      <p:sp>
        <p:nvSpPr>
          <p:cNvPr id="17" name="text-1267"/>
          <p:cNvSpPr txBox="1"/>
          <p:nvPr/>
        </p:nvSpPr>
        <p:spPr>
          <a:xfrm>
            <a:off x="8324880" y="2219340"/>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3</a:t>
            </a:r>
            <a:endParaRPr lang="en-US" sz="1125" dirty="0"/>
          </a:p>
        </p:txBody>
      </p:sp>
      <p:sp>
        <p:nvSpPr>
          <p:cNvPr id="18" name="text-1268"/>
          <p:cNvSpPr txBox="1"/>
          <p:nvPr/>
        </p:nvSpPr>
        <p:spPr>
          <a:xfrm>
            <a:off x="8324880" y="262890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Email and texts</a:t>
            </a:r>
            <a:endParaRPr lang="en-US" sz="1650" dirty="0"/>
          </a:p>
        </p:txBody>
      </p:sp>
      <p:sp>
        <p:nvSpPr>
          <p:cNvPr id="19" name="text-1269"/>
          <p:cNvSpPr txBox="1"/>
          <p:nvPr/>
        </p:nvSpPr>
        <p:spPr>
          <a:xfrm>
            <a:off x="8324880" y="2986065"/>
            <a:ext cx="3009930" cy="7286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Resend delivery and Twilio SMS with provider accounts.</a:t>
            </a:r>
            <a:endParaRPr lang="en-US" sz="1388" dirty="0"/>
          </a:p>
        </p:txBody>
      </p:sp>
      <p:sp>
        <p:nvSpPr>
          <p:cNvPr id="20" name="rect-1270"/>
          <p:cNvSpPr/>
          <p:nvPr/>
        </p:nvSpPr>
        <p:spPr>
          <a:xfrm>
            <a:off x="609630" y="411480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1" name="oval-1271"/>
          <p:cNvSpPr/>
          <p:nvPr/>
        </p:nvSpPr>
        <p:spPr>
          <a:xfrm>
            <a:off x="857250" y="4362420"/>
            <a:ext cx="323880" cy="323880"/>
          </a:xfrm>
          <a:prstGeom prst="ellipse">
            <a:avLst/>
          </a:prstGeom>
          <a:solidFill>
            <a:srgbClr val="E9EEF5"/>
          </a:solidFill>
          <a:ln/>
        </p:spPr>
      </p:sp>
      <p:sp>
        <p:nvSpPr>
          <p:cNvPr id="22" name="text-1272"/>
          <p:cNvSpPr txBox="1"/>
          <p:nvPr/>
        </p:nvSpPr>
        <p:spPr>
          <a:xfrm>
            <a:off x="857250" y="44291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4</a:t>
            </a:r>
            <a:endParaRPr lang="en-US" sz="1125" dirty="0"/>
          </a:p>
        </p:txBody>
      </p:sp>
      <p:sp>
        <p:nvSpPr>
          <p:cNvPr id="23" name="text-1273"/>
          <p:cNvSpPr txBox="1"/>
          <p:nvPr/>
        </p:nvSpPr>
        <p:spPr>
          <a:xfrm>
            <a:off x="857250" y="48387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Deployment</a:t>
            </a:r>
            <a:endParaRPr lang="en-US" sz="1650" dirty="0"/>
          </a:p>
        </p:txBody>
      </p:sp>
      <p:sp>
        <p:nvSpPr>
          <p:cNvPr id="24" name="text-1274"/>
          <p:cNvSpPr txBox="1"/>
          <p:nvPr/>
        </p:nvSpPr>
        <p:spPr>
          <a:xfrm>
            <a:off x="857250" y="5195895"/>
            <a:ext cx="3009930" cy="9572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Production hosting, streaming through the proxy, and live portal checks.</a:t>
            </a:r>
            <a:endParaRPr lang="en-US" sz="1388" dirty="0"/>
          </a:p>
        </p:txBody>
      </p:sp>
      <p:sp>
        <p:nvSpPr>
          <p:cNvPr id="25" name="rect-1275"/>
          <p:cNvSpPr/>
          <p:nvPr/>
        </p:nvSpPr>
        <p:spPr>
          <a:xfrm>
            <a:off x="4343400" y="4114800"/>
            <a:ext cx="3505170" cy="2209830"/>
          </a:xfrm>
          <a:prstGeom prst="roundRect">
            <a:avLst>
              <a:gd name="adj" fmla="val 6898"/>
            </a:avLst>
          </a:prstGeom>
          <a:solidFill>
            <a:srgbClr val="FFFFFF"/>
          </a:solidFill>
          <a:ln w="9525">
            <a:solidFill>
              <a:srgbClr val="E5E1D7"/>
            </a:solidFill>
            <a:prstDash val="solid"/>
          </a:ln>
          <a:effectLst>
            <a:outerShdw sx="100000" sy="100000" kx="0" ky="0" algn="bl" rotWithShape="0" blurRad="127000" dist="25400" dir="5400000">
              <a:srgbClr val="14202F">
                <a:alpha val="8000"/>
              </a:srgbClr>
            </a:outerShdw>
          </a:effectLst>
        </p:spPr>
      </p:sp>
      <p:sp>
        <p:nvSpPr>
          <p:cNvPr id="26" name="oval-1276"/>
          <p:cNvSpPr/>
          <p:nvPr/>
        </p:nvSpPr>
        <p:spPr>
          <a:xfrm>
            <a:off x="4591020" y="4362420"/>
            <a:ext cx="323880" cy="323880"/>
          </a:xfrm>
          <a:prstGeom prst="ellipse">
            <a:avLst/>
          </a:prstGeom>
          <a:solidFill>
            <a:srgbClr val="E9EEF5"/>
          </a:solidFill>
          <a:ln/>
        </p:spPr>
      </p:sp>
      <p:sp>
        <p:nvSpPr>
          <p:cNvPr id="27" name="text-1277"/>
          <p:cNvSpPr txBox="1"/>
          <p:nvPr/>
        </p:nvSpPr>
        <p:spPr>
          <a:xfrm>
            <a:off x="4591020" y="4429171"/>
            <a:ext cx="323880" cy="190470"/>
          </a:xfrm>
          <a:prstGeom prst="rect">
            <a:avLst/>
          </a:prstGeom>
          <a:noFill/>
          <a:ln/>
        </p:spPr>
        <p:txBody>
          <a:bodyPr wrap="square" lIns="0" tIns="0" rIns="0" bIns="0" rtlCol="0" anchor="t"/>
          <a:lstStyle/>
          <a:p>
            <a:pPr algn="ctr" indent="0" marL="0">
              <a:lnSpc>
                <a:spcPct val="120000"/>
              </a:lnSpc>
              <a:buNone/>
            </a:pPr>
            <a:r>
              <a:rPr lang="en-US" sz="1125" b="1" dirty="0">
                <a:solidFill>
                  <a:srgbClr val="1E3A5F"/>
                </a:solidFill>
                <a:latin typeface="Arial" pitchFamily="34" charset="0"/>
                <a:ea typeface="Arial" pitchFamily="34" charset="-122"/>
                <a:cs typeface="Arial" pitchFamily="34" charset="-120"/>
              </a:rPr>
              <a:t>5</a:t>
            </a:r>
            <a:endParaRPr lang="en-US" sz="1125" dirty="0"/>
          </a:p>
        </p:txBody>
      </p:sp>
      <p:sp>
        <p:nvSpPr>
          <p:cNvPr id="28" name="text-1278"/>
          <p:cNvSpPr txBox="1"/>
          <p:nvPr/>
        </p:nvSpPr>
        <p:spPr>
          <a:xfrm>
            <a:off x="4591020" y="4838730"/>
            <a:ext cx="3009930" cy="300015"/>
          </a:xfrm>
          <a:prstGeom prst="rect">
            <a:avLst/>
          </a:prstGeom>
          <a:noFill/>
          <a:ln/>
        </p:spPr>
        <p:txBody>
          <a:bodyPr wrap="square" lIns="0" tIns="0" rIns="0" bIns="0" rtlCol="0" anchor="t"/>
          <a:lstStyle/>
          <a:p>
            <a:pPr algn="l" indent="0" marL="0">
              <a:lnSpc>
                <a:spcPct val="125000"/>
              </a:lnSpc>
              <a:buNone/>
            </a:pPr>
            <a:r>
              <a:rPr lang="en-US" sz="1650" b="1" dirty="0">
                <a:solidFill>
                  <a:srgbClr val="14202F"/>
                </a:solidFill>
                <a:latin typeface="Arial" pitchFamily="34" charset="0"/>
                <a:ea typeface="Arial" pitchFamily="34" charset="-122"/>
                <a:cs typeface="Arial" pitchFamily="34" charset="-120"/>
              </a:rPr>
              <a:t>Free access</a:t>
            </a:r>
            <a:endParaRPr lang="en-US" sz="1650" dirty="0"/>
          </a:p>
        </p:txBody>
      </p:sp>
      <p:sp>
        <p:nvSpPr>
          <p:cNvPr id="29" name="text-1279"/>
          <p:cNvSpPr txBox="1"/>
          <p:nvPr/>
        </p:nvSpPr>
        <p:spPr>
          <a:xfrm>
            <a:off x="4591020" y="5195895"/>
            <a:ext cx="3009930" cy="957285"/>
          </a:xfrm>
          <a:prstGeom prst="rect">
            <a:avLst/>
          </a:prstGeom>
          <a:noFill/>
          <a:ln/>
        </p:spPr>
        <p:txBody>
          <a:bodyPr wrap="square" lIns="0" tIns="0" rIns="0" bIns="0" rtlCol="0" anchor="t"/>
          <a:lstStyle/>
          <a:p>
            <a:pPr algn="l" indent="0" marL="0">
              <a:lnSpc>
                <a:spcPct val="142000"/>
              </a:lnSpc>
              <a:buNone/>
            </a:pPr>
            <a:r>
              <a:rPr lang="en-US" sz="1388" dirty="0">
                <a:solidFill>
                  <a:srgbClr val="3B4555"/>
                </a:solidFill>
                <a:latin typeface="Arial" pitchFamily="34" charset="0"/>
                <a:ea typeface="Arial" pitchFamily="34" charset="-122"/>
                <a:cs typeface="Arial" pitchFamily="34" charset="-120"/>
              </a:rPr>
              <a:t>Decide how first-generation and low-income students qualify, and build it into billing.</a:t>
            </a:r>
            <a:endParaRPr lang="en-US" sz="1388"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8C929C"/>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1280"/>
          <p:cNvSpPr txBox="1"/>
          <p:nvPr/>
        </p:nvSpPr>
        <p:spPr>
          <a:xfrm>
            <a:off x="609630" y="1866930"/>
            <a:ext cx="5715000" cy="190470"/>
          </a:xfrm>
          <a:prstGeom prst="rect">
            <a:avLst/>
          </a:prstGeom>
          <a:noFill/>
          <a:ln/>
        </p:spPr>
        <p:txBody>
          <a:bodyPr wrap="square" lIns="0" tIns="0" rIns="0" bIns="0" rtlCol="0" anchor="t"/>
          <a:lstStyle/>
          <a:p>
            <a:pPr algn="l" indent="0" marL="0">
              <a:lnSpc>
                <a:spcPct val="120000"/>
              </a:lnSpc>
              <a:buNone/>
            </a:pPr>
            <a:r>
              <a:rPr lang="en-US" sz="1013" b="1" spc="142" kern="0" dirty="0">
                <a:solidFill>
                  <a:srgbClr val="F2B48A"/>
                </a:solidFill>
                <a:latin typeface="Arial" pitchFamily="34" charset="0"/>
                <a:ea typeface="Arial" pitchFamily="34" charset="-122"/>
                <a:cs typeface="Arial" pitchFamily="34" charset="-120"/>
              </a:rPr>
              <a:t>SCHOLARCREW</a:t>
            </a:r>
            <a:endParaRPr lang="en-US" sz="1013" dirty="0"/>
          </a:p>
        </p:txBody>
      </p:sp>
      <p:sp>
        <p:nvSpPr>
          <p:cNvPr id="3" name="Text 0"/>
          <p:cNvSpPr/>
          <p:nvPr>
            <p:ph idx="100" type="title" hasCustomPrompt="1"/>
          </p:nvPr>
        </p:nvSpPr>
        <p:spPr>
          <a:xfrm>
            <a:off x="609630" y="2057400"/>
            <a:ext cx="10972800" cy="1352580"/>
          </a:xfrm>
          <a:prstGeom prst="rect">
            <a:avLst/>
          </a:prstGeom>
          <a:noFill/>
          <a:ln/>
        </p:spPr>
        <p:txBody>
          <a:bodyPr wrap="square" lIns="0" tIns="0" rIns="0" bIns="0" rtlCol="0" anchor="t"/>
          <a:lstStyle/>
          <a:p>
            <a:pPr algn="l" indent="0" marL="0">
              <a:buNone/>
            </a:pPr>
            <a:r>
              <a:rPr lang="en-US" sz="9000" spc="-180" kern="0" dirty="0">
                <a:solidFill>
                  <a:srgbClr val="FFFFFF"/>
                </a:solidFill>
                <a:latin typeface="Georgia" pitchFamily="34" charset="0"/>
                <a:ea typeface="Georgia" pitchFamily="34" charset="-122"/>
                <a:cs typeface="Georgia" pitchFamily="34" charset="-120"/>
              </a:rPr>
              <a:t>Gracias.</a:t>
            </a:r>
            <a:endParaRPr lang="en-US" sz="9000" dirty="0"/>
          </a:p>
        </p:txBody>
      </p:sp>
      <p:sp>
        <p:nvSpPr>
          <p:cNvPr id="4" name="text-1282"/>
          <p:cNvSpPr txBox="1"/>
          <p:nvPr/>
        </p:nvSpPr>
        <p:spPr>
          <a:xfrm>
            <a:off x="609630" y="3543300"/>
            <a:ext cx="10096530" cy="685800"/>
          </a:xfrm>
          <a:prstGeom prst="rect">
            <a:avLst/>
          </a:prstGeom>
          <a:noFill/>
          <a:ln/>
        </p:spPr>
        <p:txBody>
          <a:bodyPr wrap="square" lIns="0" tIns="0" rIns="0" bIns="0" rtlCol="0" anchor="t"/>
          <a:lstStyle/>
          <a:p>
            <a:pPr algn="l" indent="0" marL="0">
              <a:lnSpc>
                <a:spcPct val="135000"/>
              </a:lnSpc>
              <a:buNone/>
            </a:pPr>
            <a:r>
              <a:rPr lang="en-US" sz="1950" dirty="0">
                <a:solidFill>
                  <a:srgbClr val="F6E3D3"/>
                </a:solidFill>
                <a:latin typeface="Arial" pitchFamily="34" charset="0"/>
                <a:ea typeface="Arial" pitchFamily="34" charset="-122"/>
                <a:cs typeface="Arial" pitchFamily="34" charset="-120"/>
              </a:rPr>
              <a:t>For my mom, and for every family figuring out college for the first time.</a:t>
            </a:r>
            <a:endParaRPr lang="en-US" sz="1950" dirty="0"/>
          </a:p>
        </p:txBody>
      </p:sp>
      <p:sp>
        <p:nvSpPr>
          <p:cNvPr id="5" name="rect-1283"/>
          <p:cNvSpPr/>
          <p:nvPr/>
        </p:nvSpPr>
        <p:spPr>
          <a:xfrm>
            <a:off x="609630" y="4552980"/>
            <a:ext cx="1676370" cy="495330"/>
          </a:xfrm>
          <a:prstGeom prst="roundRect">
            <a:avLst>
              <a:gd name="adj" fmla="val 49991"/>
            </a:avLst>
          </a:prstGeom>
          <a:solidFill>
            <a:srgbClr val="FFFFFF"/>
          </a:solidFill>
          <a:ln/>
        </p:spPr>
      </p:sp>
      <p:sp>
        <p:nvSpPr>
          <p:cNvPr id="6" name="text-1284"/>
          <p:cNvSpPr txBox="1"/>
          <p:nvPr/>
        </p:nvSpPr>
        <p:spPr>
          <a:xfrm>
            <a:off x="609630" y="4695810"/>
            <a:ext cx="1676370" cy="228600"/>
          </a:xfrm>
          <a:prstGeom prst="rect">
            <a:avLst/>
          </a:prstGeom>
          <a:noFill/>
          <a:ln/>
        </p:spPr>
        <p:txBody>
          <a:bodyPr wrap="square" lIns="0" tIns="0" rIns="0" bIns="0" rtlCol="0" anchor="t"/>
          <a:lstStyle/>
          <a:p>
            <a:pPr algn="ctr" indent="0" marL="0">
              <a:lnSpc>
                <a:spcPct val="120000"/>
              </a:lnSpc>
              <a:buNone/>
            </a:pPr>
            <a:r>
              <a:rPr lang="en-US" sz="1388" b="1" dirty="0">
                <a:solidFill>
                  <a:srgbClr val="1E3A5F"/>
                </a:solidFill>
                <a:latin typeface="Arial" pitchFamily="34" charset="0"/>
                <a:ea typeface="Arial" pitchFamily="34" charset="-122"/>
                <a:cs typeface="Arial" pitchFamily="34" charset="-120"/>
              </a:rPr>
              <a:t>Start free  →</a:t>
            </a:r>
            <a:endParaRPr lang="en-US" sz="1388" dirty="0"/>
          </a:p>
        </p:txBody>
      </p:sp>
      <p:sp>
        <p:nvSpPr>
          <p:cNvPr id="7" name="oval-1285"/>
          <p:cNvSpPr/>
          <p:nvPr/>
        </p:nvSpPr>
        <p:spPr>
          <a:xfrm>
            <a:off x="609630" y="5562570"/>
            <a:ext cx="133320" cy="133320"/>
          </a:xfrm>
          <a:prstGeom prst="ellipse">
            <a:avLst/>
          </a:prstGeom>
          <a:solidFill>
            <a:srgbClr val="2A78D6"/>
          </a:solidFill>
          <a:ln/>
        </p:spPr>
      </p:sp>
      <p:sp>
        <p:nvSpPr>
          <p:cNvPr id="8" name="oval-1286"/>
          <p:cNvSpPr/>
          <p:nvPr/>
        </p:nvSpPr>
        <p:spPr>
          <a:xfrm>
            <a:off x="857250" y="5562570"/>
            <a:ext cx="133320" cy="133320"/>
          </a:xfrm>
          <a:prstGeom prst="ellipse">
            <a:avLst/>
          </a:prstGeom>
          <a:solidFill>
            <a:srgbClr val="EB6834"/>
          </a:solidFill>
          <a:ln/>
        </p:spPr>
      </p:sp>
      <p:sp>
        <p:nvSpPr>
          <p:cNvPr id="9" name="oval-1287"/>
          <p:cNvSpPr/>
          <p:nvPr/>
        </p:nvSpPr>
        <p:spPr>
          <a:xfrm>
            <a:off x="1104870" y="5562570"/>
            <a:ext cx="133320" cy="133320"/>
          </a:xfrm>
          <a:prstGeom prst="ellipse">
            <a:avLst/>
          </a:prstGeom>
          <a:solidFill>
            <a:srgbClr val="1BAF7A"/>
          </a:solidFill>
          <a:ln/>
        </p:spPr>
      </p:sp>
      <p:sp>
        <p:nvSpPr>
          <p:cNvPr id="10" name="oval-1288"/>
          <p:cNvSpPr/>
          <p:nvPr/>
        </p:nvSpPr>
        <p:spPr>
          <a:xfrm>
            <a:off x="1352580" y="5562570"/>
            <a:ext cx="133320" cy="133320"/>
          </a:xfrm>
          <a:prstGeom prst="ellipse">
            <a:avLst/>
          </a:prstGeom>
          <a:solidFill>
            <a:srgbClr val="EDA100"/>
          </a:solidFill>
          <a:ln/>
        </p:spPr>
      </p:sp>
      <p:sp>
        <p:nvSpPr>
          <p:cNvPr id="11" name="oval-1289"/>
          <p:cNvSpPr/>
          <p:nvPr/>
        </p:nvSpPr>
        <p:spPr>
          <a:xfrm>
            <a:off x="1600200" y="5562570"/>
            <a:ext cx="133320" cy="133320"/>
          </a:xfrm>
          <a:prstGeom prst="ellipse">
            <a:avLst/>
          </a:prstGeom>
          <a:solidFill>
            <a:srgbClr val="E87BA4"/>
          </a:solidFill>
          <a:ln/>
        </p:spPr>
      </p:sp>
      <p:sp>
        <p:nvSpPr>
          <p:cNvPr id="12" name="oval-1290"/>
          <p:cNvSpPr/>
          <p:nvPr/>
        </p:nvSpPr>
        <p:spPr>
          <a:xfrm>
            <a:off x="1847820" y="5562570"/>
            <a:ext cx="133320" cy="133320"/>
          </a:xfrm>
          <a:prstGeom prst="ellipse">
            <a:avLst/>
          </a:prstGeom>
          <a:solidFill>
            <a:srgbClr val="008300"/>
          </a:solidFill>
          <a:ln/>
        </p:spPr>
      </p:sp>
      <p:sp>
        <p:nvSpPr>
          <p:cNvPr id="13" name="oval-1291"/>
          <p:cNvSpPr/>
          <p:nvPr/>
        </p:nvSpPr>
        <p:spPr>
          <a:xfrm>
            <a:off x="2095530" y="5562570"/>
            <a:ext cx="133320" cy="133320"/>
          </a:xfrm>
          <a:prstGeom prst="ellipse">
            <a:avLst/>
          </a:prstGeom>
          <a:solidFill>
            <a:srgbClr val="4A3AA7"/>
          </a:solidFill>
          <a:ln/>
        </p:spPr>
      </p:sp>
      <p:sp>
        <p:nvSpPr>
          <p:cNvPr id="14" name="oval-1292"/>
          <p:cNvSpPr/>
          <p:nvPr/>
        </p:nvSpPr>
        <p:spPr>
          <a:xfrm>
            <a:off x="2343150" y="5562570"/>
            <a:ext cx="133320" cy="133320"/>
          </a:xfrm>
          <a:prstGeom prst="ellipse">
            <a:avLst/>
          </a:prstGeom>
          <a:solidFill>
            <a:srgbClr val="E34948"/>
          </a:solidFill>
          <a:ln/>
        </p:spPr>
      </p:sp>
      <p:sp>
        <p:nvSpPr>
          <p:cNvPr id="15" name="text-1293"/>
          <p:cNvSpPr txBox="1"/>
          <p:nvPr/>
        </p:nvSpPr>
        <p:spPr>
          <a:xfrm>
            <a:off x="609630" y="6096030"/>
            <a:ext cx="10972800" cy="209580"/>
          </a:xfrm>
          <a:prstGeom prst="rect">
            <a:avLst/>
          </a:prstGeom>
          <a:noFill/>
          <a:ln/>
        </p:spPr>
        <p:txBody>
          <a:bodyPr wrap="square" lIns="0" tIns="0" rIns="0" bIns="0" rtlCol="0" anchor="t"/>
          <a:lstStyle/>
          <a:p>
            <a:pPr algn="l" indent="0" marL="0">
              <a:lnSpc>
                <a:spcPct val="120000"/>
              </a:lnSpc>
              <a:buNone/>
            </a:pPr>
            <a:r>
              <a:rPr lang="en-US" sz="1013" dirty="0">
                <a:solidFill>
                  <a:srgbClr val="F6E3D3"/>
                </a:solidFill>
                <a:latin typeface="Arial" pitchFamily="34" charset="0"/>
                <a:ea typeface="Arial" pitchFamily="34" charset="-122"/>
                <a:cs typeface="Arial" pitchFamily="34" charset="-120"/>
              </a:rPr>
              <a:t>ScholarCrew is a working name. All people, schools, scholarships, amounts, and prices shown are fictional sample data.</a:t>
            </a:r>
            <a:endParaRPr lang="en-US" sz="1013" dirty="0"/>
          </a:p>
        </p:txBody>
      </p:sp>
      <p:sp>
        <p:nvSpPr>
          <p:cNvPr id="25" name="Slide Number Placeholder 0"/>
          <p:cNvSpPr>
            <a:spLocks noGrp="1"/>
          </p:cNvSpPr>
          <p:nvPr>
            <p:ph type="sldNum" sz="quarter" idx="4294967295"/>
          </p:nvPr>
        </p:nvSpPr>
        <p:spPr>
          <a:xfrm>
            <a:off x="10477470" y="209580"/>
            <a:ext cx="1104870" cy="190470"/>
          </a:xfrm>
          <a:prstGeom prst="rect">
            <a:avLst/>
          </a:prstGeom>
          <a:extLst>
            <a:ext uri="{C572A759-6A51-4108-AA02-DFA0A04FC94B}">
              <ma14:wrappingTextBoxFlag xmlns:ma14="http://schemas.microsoft.com/office/mac/drawingml/2011/main" val="0"/>
            </a:ext>
          </a:extLst>
        </p:spPr>
        <p:txBody>
          <a:bodyPr/>
          <a:lstStyle>
            <a:lvl1pPr>
              <a:defRPr sz="1000">
                <a:solidFill>
                  <a:srgbClr val="9FB0C6"/>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theme/theme1.xml><?xml version="1.0" encoding="utf-8"?>
<a:theme xmlns:a="http://schemas.openxmlformats.org/drawingml/2006/main" name="ScholarCrew">
  <a:themeElements>
    <a:clrScheme name="ScholarCrew">
      <a:dk1>
        <a:srgbClr val="14202F"/>
      </a:dk1>
      <a:lt1>
        <a:srgbClr val="FFFFFF"/>
      </a:lt1>
      <a:dk2>
        <a:srgbClr val="1E3A5F"/>
      </a:dk2>
      <a:lt2>
        <a:srgbClr val="F4F2EC"/>
      </a:lt2>
      <a:accent1>
        <a:srgbClr val="1E3A5F"/>
      </a:accent1>
      <a:accent2>
        <a:srgbClr val="2A78D6"/>
      </a:accent2>
      <a:accent3>
        <a:srgbClr val="EB6834"/>
      </a:accent3>
      <a:accent4>
        <a:srgbClr val="1BAF7A"/>
      </a:accent4>
      <a:accent5>
        <a:srgbClr val="EDA100"/>
      </a:accent5>
      <a:accent6>
        <a:srgbClr val="4A3AA7"/>
      </a:accent6>
      <a:hlink>
        <a:srgbClr val="2A78D6"/>
      </a:hlink>
      <a:folHlink>
        <a:srgbClr val="4A3AA7"/>
      </a:folHlink>
    </a:clrScheme>
    <a:fontScheme name="Scholar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ScholarCrew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ScholarCrew Walkthrough</dc:title>
  <dc:subject>Our story, the AI crew, every workflow, and our promise to first-generation students</dc:subject>
  <dc:creator>ScholarCrew</dc:creator>
  <cp:lastModifiedBy>ScholarCrew</cp:lastModifiedBy>
  <cp:revision>1</cp:revision>
  <dcterms:created xsi:type="dcterms:W3CDTF">2026-10-10T19:06:08Z</dcterms:created>
  <dcterms:modified xsi:type="dcterms:W3CDTF">2026-10-10T19:06:08Z</dcterms:modified>
</cp:coreProperties>
</file>